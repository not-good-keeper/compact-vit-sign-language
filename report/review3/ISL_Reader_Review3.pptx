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3d41283-e83f-77fe-d944-99671607d0c9}">
          <p14:sldIdLst>
            <p14:sldId id="256"/>
          </p14:sldIdLst>
        </p14:section>
        <p14:section name="Problem and data" id="{5daa93e6-6661-85e6-3f9d-d169d5345ac7}">
          <p14:sldIdLst>
            <p14:sldId id="257"/>
            <p14:sldId id="258"/>
            <p14:sldId id="259"/>
          </p14:sldIdLst>
        </p14:section>
        <p14:section name="Architecture and algorithms" id="{ea11f66e-7b07-6a33-f604-3d4cfdd5cd43}">
          <p14:sldIdLst>
            <p14:sldId id="260"/>
            <p14:sldId id="261"/>
            <p14:sldId id="262"/>
            <p14:sldId id="263"/>
          </p14:sldIdLst>
        </p14:section>
        <p14:section name="Comparisons" id="{70660d5e-cf98-b07b-ec19-92130c64f10b}">
          <p14:sldIdLst>
            <p14:sldId id="264"/>
            <p14:sldId id="265"/>
            <p14:sldId id="266"/>
            <p14:sldId id="267"/>
            <p14:sldId id="268"/>
            <p14:sldId id="269"/>
            <p14:sldId id="270"/>
          </p14:sldIdLst>
        </p14:section>
        <p14:section name="Integration" id="{4ab49c13-f83f-cea9-60eb-3eae7850d005}">
          <p14:sldIdLst>
            <p14:sldId id="271"/>
            <p14:sldId id="272"/>
          </p14:sldIdLst>
        </p14:section>
        <p14:section name="Close" id="{f59051ec-9c5c-c6ac-2c2a-61f317343449}">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Same recipe, two splits (50 words)</a:t>
            </a:r>
          </a:p>
        </c:rich>
      </c:tx>
      <c:layout/>
      <c:overlay val="0"/>
    </c:title>
    <c:autoTitleDeleted val="0"/>
    <c:plotArea>
      <c:layout/>
      <c:barChart>
        <c:barDir val="col"/>
        <c:grouping val="clustered"/>
        <c:varyColors val="0"/>
        <c:ser>
          <c:idx val="0"/>
          <c:order val="0"/>
          <c:tx>
            <c:strRef>
              <c:f>Sheet1!$B$1</c:f>
              <c:strCache>
                <c:ptCount val="1"/>
                <c:pt idx="0">
                  <c:v>Top-1 accuracy (%)</c:v>
                </c:pt>
              </c:strCache>
            </c:strRef>
          </c:tx>
          <c:spPr>
            <a:solidFill>
              <a:srgbClr val="C065B0"/>
            </a:solidFill>
            <a:effectLst/>
          </c:spPr>
          <c:invertIfNegative val="0"/>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dPt>
            <c:idx val="0"/>
            <c:invertIfNegative val="0"/>
            <c:bubble3D val="0"/>
            <c:spPr>
              <a:solidFill>
                <a:srgbClr val="C065B0"/>
              </a:solidFill>
              <a:effectLst/>
            </c:spPr>
          </c:dPt>
          <c:dPt>
            <c:idx val="1"/>
            <c:invertIfNegative val="0"/>
            <c:bubble3D val="0"/>
            <c:spPr>
              <a:solidFill>
                <a:srgbClr val="2E9E6E"/>
              </a:solidFill>
              <a:effectLst/>
            </c:spPr>
          </c:dPt>
          <c:cat>
            <c:multiLvlStrRef>
              <c:f>Sheet1!$A$2:$A$3</c:f>
              <c:multiLvlStrCache>
                <c:ptCount val="2"/>
                <c:lvl>
                  <c:pt idx="0">
                    <c:v>Random video split</c:v>
                  </c:pt>
                  <c:pt idx="1">
                    <c:v>Held-out sessions</c:v>
                  </c:pt>
                </c:lvl>
              </c:multiLvlStrCache>
            </c:multiLvlStrRef>
          </c:cat>
          <c:val>
            <c:numRef>
              <c:f>Sheet1!$B$2:$B$3</c:f>
              <c:numCache>
                <c:formatCode>General</c:formatCode>
                <c:ptCount val="2"/>
                <c:pt idx="0">
                  <c:v>98.5</c:v>
                </c:pt>
                <c:pt idx="1">
                  <c:v>70.13</c:v>
                </c:pt>
              </c:numCache>
            </c:numRef>
          </c:val>
        </c:ser>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Top-1 on 472 held-out clips, mean of 3 seeds</a:t>
            </a:r>
          </a:p>
        </c:rich>
      </c:tx>
      <c:layout/>
      <c:overlay val="0"/>
    </c:title>
    <c:autoTitleDeleted val="0"/>
    <c:plotArea>
      <c:layout/>
      <c:barChart>
        <c:barDir val="col"/>
        <c:grouping val="clustered"/>
        <c:varyColors val="0"/>
        <c:ser>
          <c:idx val="0"/>
          <c:order val="0"/>
          <c:tx>
            <c:strRef>
              <c:f>Sheet1!$B$1</c:f>
              <c:strCache>
                <c:ptCount val="1"/>
                <c:pt idx="0">
                  <c:v>Top-1 (%)</c:v>
                </c:pt>
              </c:strCache>
            </c:strRef>
          </c:tx>
          <c:spPr>
            <a:solidFill>
              <a:srgbClr val="A3AAB8"/>
            </a:solidFill>
            <a:effectLst/>
          </c:spPr>
          <c:invertIfNegative val="0"/>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dPt>
            <c:idx val="0"/>
            <c:invertIfNegative val="0"/>
            <c:bubble3D val="0"/>
            <c:spPr>
              <a:solidFill>
                <a:srgbClr val="A3AAB8"/>
              </a:solidFill>
              <a:effectLst/>
            </c:spPr>
          </c:dPt>
          <c:dPt>
            <c:idx val="1"/>
            <c:invertIfNegative val="0"/>
            <c:bubble3D val="0"/>
            <c:spPr>
              <a:solidFill>
                <a:srgbClr val="5B7BD6"/>
              </a:solidFill>
              <a:effectLst/>
            </c:spPr>
          </c:dPt>
          <c:dPt>
            <c:idx val="2"/>
            <c:invertIfNegative val="0"/>
            <c:bubble3D val="0"/>
            <c:spPr>
              <a:solidFill>
                <a:srgbClr val="C065B0"/>
              </a:solidFill>
              <a:effectLst/>
            </c:spPr>
          </c:dPt>
          <c:dPt>
            <c:idx val="3"/>
            <c:invertIfNegative val="0"/>
            <c:bubble3D val="0"/>
            <c:spPr>
              <a:solidFill>
                <a:srgbClr val="2E9E6E"/>
              </a:solidFill>
              <a:effectLst/>
            </c:spPr>
          </c:dPt>
          <c:cat>
            <c:multiLvlStrRef>
              <c:f>Sheet1!$A$2:$A$5</c:f>
              <c:multiLvlStrCache>
                <c:ptCount val="4"/>
                <c:lvl>
                  <c:pt idx="0">
                    <c:v>Pixel-only FP32 (14.55 MB)</c:v>
                  </c:pt>
                  <c:pt idx="1">
                    <c:v>+ landmarks FP32 (14.9 MB)</c:v>
                  </c:pt>
                  <c:pt idx="2">
                    <c:v>+ landmarks, 4-bit post-training (~2 MB)</c:v>
                  </c:pt>
                  <c:pt idx="3">
                    <c:v>+ landmarks, 4-bit QAT (shipped) (1.97 MiB)</c:v>
                  </c:pt>
                </c:lvl>
              </c:multiLvlStrCache>
            </c:multiLvlStrRef>
          </c:cat>
          <c:val>
            <c:numRef>
              <c:f>Sheet1!$B$2:$B$5</c:f>
              <c:numCache>
                <c:formatCode>General</c:formatCode>
                <c:ptCount val="4"/>
                <c:pt idx="0">
                  <c:v>73.658</c:v>
                </c:pt>
                <c:pt idx="1">
                  <c:v>86.511</c:v>
                </c:pt>
                <c:pt idx="2">
                  <c:v>83.404</c:v>
                </c:pt>
                <c:pt idx="3">
                  <c:v>85.946</c:v>
                </c:pt>
              </c:numCache>
            </c:numRef>
          </c:val>
        </c:ser>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Shipped 4-bit model, frozen (clean 1080p: 85.9 %)</a:t>
            </a:r>
          </a:p>
        </c:rich>
      </c:tx>
      <c:layout/>
      <c:overlay val="0"/>
    </c:title>
    <c:autoTitleDeleted val="0"/>
    <c:plotArea>
      <c:layout/>
      <c:barChart>
        <c:barDir val="col"/>
        <c:grouping val="clustered"/>
        <c:varyColors val="0"/>
        <c:ser>
          <c:idx val="0"/>
          <c:order val="0"/>
          <c:tx>
            <c:strRef>
              <c:f>Sheet1!$B$1</c:f>
              <c:strCache>
                <c:ptCount val="1"/>
                <c:pt idx="0">
                  <c:v>Bicubic (no GAN)</c:v>
                </c:pt>
              </c:strCache>
            </c:strRef>
          </c:tx>
          <c:spPr>
            <a:solidFill>
              <a:srgbClr val="A3AAB8"/>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Sheet1!$B$2:$B$4</c:f>
              <c:numCache>
                <c:formatCode>General</c:formatCode>
                <c:ptCount val="3"/>
                <c:pt idx="0">
                  <c:v>81.215</c:v>
                </c:pt>
                <c:pt idx="1">
                  <c:v>75.989</c:v>
                </c:pt>
                <c:pt idx="2">
                  <c:v>61.017</c:v>
                </c:pt>
              </c:numCache>
            </c:numRef>
          </c:val>
        </c:ser>
        <c:ser>
          <c:idx val="1"/>
          <c:order val="1"/>
          <c:tx>
            <c:strRef>
              <c:f>Sheet1!$C$1</c:f>
              <c:strCache>
                <c:ptCount val="1"/>
                <c:pt idx="0">
                  <c:v>SR-L1 (no GAN)</c:v>
                </c:pt>
              </c:strCache>
            </c:strRef>
          </c:tx>
          <c:spPr>
            <a:solidFill>
              <a:srgbClr val="5B7BD6"/>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Sheet1!$C$2:$C$4</c:f>
              <c:numCache>
                <c:formatCode>General</c:formatCode>
                <c:ptCount val="3"/>
                <c:pt idx="0">
                  <c:v>83.545</c:v>
                </c:pt>
                <c:pt idx="1">
                  <c:v>80.862</c:v>
                </c:pt>
                <c:pt idx="2">
                  <c:v>75.989</c:v>
                </c:pt>
              </c:numCache>
            </c:numRef>
          </c:val>
        </c:ser>
        <c:ser>
          <c:idx val="2"/>
          <c:order val="2"/>
          <c:tx>
            <c:strRef>
              <c:f>Sheet1!$D$1</c:f>
              <c:strCache>
                <c:ptCount val="1"/>
                <c:pt idx="0">
                  <c:v>v3 without the GAN</c:v>
                </c:pt>
              </c:strCache>
            </c:strRef>
          </c:tx>
          <c:spPr>
            <a:solidFill>
              <a:srgbClr val="8E5BB5"/>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Sheet1!$D$2:$D$4</c:f>
              <c:numCache>
                <c:formatCode>General</c:formatCode>
                <c:ptCount val="3"/>
                <c:pt idx="0">
                  <c:v>83.828</c:v>
                </c:pt>
                <c:pt idx="1">
                  <c:v>79.237</c:v>
                </c:pt>
                <c:pt idx="2">
                  <c:v>75.636</c:v>
                </c:pt>
              </c:numCache>
            </c:numRef>
          </c:val>
        </c:ser>
        <c:ser>
          <c:idx val="3"/>
          <c:order val="3"/>
          <c:tx>
            <c:strRef>
              <c:f>Sheet1!$E$1</c:f>
              <c:strCache>
                <c:ptCount val="1"/>
                <c:pt idx="0">
                  <c:v>SR-GAN v1</c:v>
                </c:pt>
              </c:strCache>
            </c:strRef>
          </c:tx>
          <c:spPr>
            <a:solidFill>
              <a:srgbClr val="C065B0"/>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Sheet1!$E$2:$E$4</c:f>
              <c:numCache>
                <c:formatCode>General</c:formatCode>
                <c:ptCount val="3"/>
                <c:pt idx="0">
                  <c:v>84.322</c:v>
                </c:pt>
                <c:pt idx="1">
                  <c:v>81.78</c:v>
                </c:pt>
                <c:pt idx="2">
                  <c:v>75.353</c:v>
                </c:pt>
              </c:numCache>
            </c:numRef>
          </c:val>
        </c:ser>
        <c:ser>
          <c:idx val="4"/>
          <c:order val="4"/>
          <c:tx>
            <c:strRef>
              <c:f>Sheet1!$F$1</c:f>
              <c:strCache>
                <c:ptCount val="1"/>
                <c:pt idx="0">
                  <c:v>SR-GAN v2</c:v>
                </c:pt>
              </c:strCache>
            </c:strRef>
          </c:tx>
          <c:spPr>
            <a:solidFill>
              <a:srgbClr val="2E9E6E"/>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Sheet1!$F$2:$F$4</c:f>
              <c:numCache>
                <c:formatCode>General</c:formatCode>
                <c:ptCount val="3"/>
                <c:pt idx="0">
                  <c:v>83.121</c:v>
                </c:pt>
                <c:pt idx="1">
                  <c:v>82.345</c:v>
                </c:pt>
                <c:pt idx="2">
                  <c:v>75.494</c:v>
                </c:pt>
              </c:numCache>
            </c:numRef>
          </c:val>
        </c:ser>
        <c:ser>
          <c:idx val="5"/>
          <c:order val="5"/>
          <c:tx>
            <c:strRef>
              <c:f>Sheet1!$G$1</c:f>
              <c:strCache>
                <c:ptCount val="1"/>
                <c:pt idx="0">
                  <c:v>SR-GAN v3</c:v>
                </c:pt>
              </c:strCache>
            </c:strRef>
          </c:tx>
          <c:spPr>
            <a:solidFill>
              <a:srgbClr val="1E7A5A"/>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Sheet1!$G$2:$G$4</c:f>
              <c:numCache>
                <c:formatCode>General</c:formatCode>
                <c:ptCount val="3"/>
                <c:pt idx="0">
                  <c:v>84.04</c:v>
                </c:pt>
                <c:pt idx="1">
                  <c:v>81.638</c:v>
                </c:pt>
                <c:pt idx="2">
                  <c:v>75.424</c:v>
                </c:pt>
              </c:numCache>
            </c:numRef>
          </c:val>
        </c:ser>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90"/>
          <c:min val="5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180p + JPEG 40, frozen 4-bit (clean 85.9 %)</a:t>
            </a:r>
          </a:p>
        </c:rich>
      </c:tx>
      <c:layout/>
      <c:overlay val="0"/>
    </c:title>
    <c:autoTitleDeleted val="0"/>
    <c:plotArea>
      <c:layout/>
      <c:barChart>
        <c:barDir val="col"/>
        <c:grouping val="clustered"/>
        <c:varyColors val="0"/>
        <c:ser>
          <c:idx val="0"/>
          <c:order val="0"/>
          <c:tx>
            <c:strRef>
              <c:f>Sheet1!$B$1</c:f>
              <c:strCache>
                <c:ptCount val="1"/>
                <c:pt idx="0">
                  <c:v>Bicubic</c:v>
                </c:pt>
              </c:strCache>
            </c:strRef>
          </c:tx>
          <c:spPr>
            <a:solidFill>
              <a:srgbClr val="A3AAB8"/>
            </a:solidFill>
            <a:effectLst/>
          </c:spPr>
          <c:invertIfNegative val="0"/>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Both degraded</c:v>
                  </c:pt>
                  <c:pt idx="1">
                    <c:v>Landmarks degraded (pixels clean)</c:v>
                  </c:pt>
                  <c:pt idx="2">
                    <c:v>Pixels degraded (landmarks clean)</c:v>
                  </c:pt>
                </c:lvl>
              </c:multiLvlStrCache>
            </c:multiLvlStrRef>
          </c:cat>
          <c:val>
            <c:numRef>
              <c:f>Sheet1!$B$2:$B$4</c:f>
              <c:numCache>
                <c:formatCode>General</c:formatCode>
                <c:ptCount val="3"/>
                <c:pt idx="0">
                  <c:v>61.017</c:v>
                </c:pt>
                <c:pt idx="1">
                  <c:v>73.729</c:v>
                </c:pt>
                <c:pt idx="2">
                  <c:v>78.955</c:v>
                </c:pt>
              </c:numCache>
            </c:numRef>
          </c:val>
        </c:ser>
        <c:ser>
          <c:idx val="1"/>
          <c:order val="1"/>
          <c:tx>
            <c:strRef>
              <c:f>Sheet1!$C$1</c:f>
              <c:strCache>
                <c:ptCount val="1"/>
                <c:pt idx="0">
                  <c:v>SR-GAN v2</c:v>
                </c:pt>
              </c:strCache>
            </c:strRef>
          </c:tx>
          <c:spPr>
            <a:solidFill>
              <a:srgbClr val="2E9E6E"/>
            </a:solidFill>
            <a:effectLst/>
          </c:spPr>
          <c:invertIfNegative val="0"/>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Both degraded</c:v>
                  </c:pt>
                  <c:pt idx="1">
                    <c:v>Landmarks degraded (pixels clean)</c:v>
                  </c:pt>
                  <c:pt idx="2">
                    <c:v>Pixels degraded (landmarks clean)</c:v>
                  </c:pt>
                </c:lvl>
              </c:multiLvlStrCache>
            </c:multiLvlStrRef>
          </c:cat>
          <c:val>
            <c:numRef>
              <c:f>Sheet1!$C$2:$C$4</c:f>
              <c:numCache>
                <c:formatCode>General</c:formatCode>
                <c:ptCount val="3"/>
                <c:pt idx="0">
                  <c:v>75.494</c:v>
                </c:pt>
                <c:pt idx="1">
                  <c:v>78.249</c:v>
                </c:pt>
                <c:pt idx="2">
                  <c:v>83.051</c:v>
                </c:pt>
              </c:numCache>
            </c:numRef>
          </c:val>
        </c:ser>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90"/>
          <c:min val="5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Validation: hand frames found (%), clean video 88.3</a:t>
            </a:r>
          </a:p>
        </c:rich>
      </c:tx>
      <c:layout/>
      <c:overlay val="0"/>
    </c:title>
    <c:autoTitleDeleted val="0"/>
    <c:plotArea>
      <c:layout/>
      <c:barChart>
        <c:barDir val="col"/>
        <c:grouping val="clustered"/>
        <c:varyColors val="0"/>
        <c:ser>
          <c:idx val="0"/>
          <c:order val="0"/>
          <c:tx>
            <c:strRef>
              <c:f>Sheet1!$B$1</c:f>
              <c:strCache>
                <c:ptCount val="1"/>
                <c:pt idx="0">
                  <c:v>180p</c:v>
                </c:pt>
              </c:strCache>
            </c:strRef>
          </c:tx>
          <c:spPr>
            <a:solidFill>
              <a:srgbClr val="2E9E6E"/>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Bicubic</c:v>
                  </c:pt>
                  <c:pt idx="1">
                    <c:v>SR-L1</c:v>
                  </c:pt>
                  <c:pt idx="2">
                    <c:v>SR-GAN v2</c:v>
                  </c:pt>
                  <c:pt idx="3">
                    <c:v>v3 base (L1)</c:v>
                  </c:pt>
                  <c:pt idx="4">
                    <c:v>v3 GAN, no hand loss</c:v>
                  </c:pt>
                  <c:pt idx="5">
                    <c:v>SR-GAN v3</c:v>
                  </c:pt>
                  <c:pt idx="6">
                    <c:v>v3 without the GAN</c:v>
                  </c:pt>
                </c:lvl>
              </c:multiLvlStrCache>
            </c:multiLvlStrRef>
          </c:cat>
          <c:val>
            <c:numRef>
              <c:f>Sheet1!$B$2:$B$8</c:f>
              <c:numCache>
                <c:formatCode>General</c:formatCode>
                <c:ptCount val="7"/>
                <c:pt idx="0">
                  <c:v>43.32</c:v>
                </c:pt>
                <c:pt idx="1">
                  <c:v>64.586</c:v>
                </c:pt>
                <c:pt idx="2">
                  <c:v>63.289</c:v>
                </c:pt>
                <c:pt idx="3">
                  <c:v>69.188</c:v>
                </c:pt>
                <c:pt idx="4">
                  <c:v>71.672</c:v>
                </c:pt>
                <c:pt idx="5">
                  <c:v>73.344</c:v>
                </c:pt>
                <c:pt idx="6">
                  <c:v>60.742</c:v>
                </c:pt>
              </c:numCache>
            </c:numRef>
          </c:val>
        </c:ser>
        <c:ser>
          <c:idx val="1"/>
          <c:order val="1"/>
          <c:tx>
            <c:strRef>
              <c:f>Sheet1!$C$1</c:f>
              <c:strCache>
                <c:ptCount val="1"/>
                <c:pt idx="0">
                  <c:v>240p</c:v>
                </c:pt>
              </c:strCache>
            </c:strRef>
          </c:tx>
          <c:spPr>
            <a:solidFill>
              <a:srgbClr val="9BD3BB"/>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Bicubic</c:v>
                  </c:pt>
                  <c:pt idx="1">
                    <c:v>SR-L1</c:v>
                  </c:pt>
                  <c:pt idx="2">
                    <c:v>SR-GAN v2</c:v>
                  </c:pt>
                  <c:pt idx="3">
                    <c:v>v3 base (L1)</c:v>
                  </c:pt>
                  <c:pt idx="4">
                    <c:v>v3 GAN, no hand loss</c:v>
                  </c:pt>
                  <c:pt idx="5">
                    <c:v>SR-GAN v3</c:v>
                  </c:pt>
                  <c:pt idx="6">
                    <c:v>v3 without the GAN</c:v>
                  </c:pt>
                </c:lvl>
              </c:multiLvlStrCache>
            </c:multiLvlStrRef>
          </c:cat>
          <c:val>
            <c:numRef>
              <c:f>Sheet1!$C$2:$C$8</c:f>
              <c:numCache>
                <c:formatCode>General</c:formatCode>
                <c:ptCount val="7"/>
                <c:pt idx="0">
                  <c:v>64.336</c:v>
                </c:pt>
                <c:pt idx="1">
                  <c:v>78.773</c:v>
                </c:pt>
                <c:pt idx="2">
                  <c:v>78.281</c:v>
                </c:pt>
                <c:pt idx="3">
                  <c:v>80.805</c:v>
                </c:pt>
                <c:pt idx="4">
                  <c:v>83.188</c:v>
                </c:pt>
                <c:pt idx="5">
                  <c:v>84.047</c:v>
                </c:pt>
                <c:pt idx="6">
                  <c:v>79.758</c:v>
                </c:pt>
              </c:numCache>
            </c:numRef>
          </c:val>
        </c:ser>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95"/>
          <c:min val="3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ISL Reader recognises isolated Indian Sign Language words from short clips. This review covers the whole system: the classifier, the super-resolution GAN placed in front of the hand detector, and the web interface that connects them. On the right is the live app reading a held-out clip of 'Hello' at 97 %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three targets: a model of about 2 MB, at least 75 % top-1 on recording sessions held out from training, and a working app. Four things make this hard: two-handed signs, little labelled data, low-resolution video from a wearable camera, and evaluation practice that leaks sessions between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 is the labelled corpus: 4,257 usable clips of 262 words, recorded at 1080p in one studio. It has no signer labels, so we rebuilt 13 recording sessions from the camera's clip numbers. 2,845 clips train the model and 1,010 clips from held-out sessions test it; 472 of those belong to the 50 deployed words and appear in every result. iSign supplies 18,000 unlabelled clips (17,896 pass a detection filter) for pretraining, and CISLR is a second corpus for a transfer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 was recorded as back-to-back takes. A random split puts near-identical takes on both sides, so the same recipe scores 98.5 % on a random split and about 70 % on unseen sessions. Every result after this slide uses unseen sessions, three seeds and paired McNemar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posts a clip to the Python server. The server decodes 32 frames, upscales low-resolution video with bicubic or a GAN generator, runs MediaPipe Holistic, cuts three crops and extracts hand landmarks, and scores six views with the classifier. The reply carries the top five words and a record of how each crop was found. Any trained checkpoint and either front end can be loaded at start-up, and answers are restricted to the 50 deployed words exactly as in the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input pipeline, shown with real frames from a held-out clip. Of everything we tried, the landmark features gave the largest gain: the detector was already computing them, and passing them to the model raised accuracy from 73.7 to 86.5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spatial ViT reads each crop separately with shared weights. Each crop's token is then tagged with its stream, frame, box position, a reliability flag and the landmark features, and a temporal transformer attends across all 48 crop tokens. Width 192 and three heads match DeiT-Tiny, so its pretrained weights load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starts with masked image modelling on unlabelled iSign video, continues with supervised training for a fixed 1,000 epochs, keeping the final weights, and ends with 300 epochs of quantisation-aware training. Rounding after training cost 3.1 points; with the rounding inside the training loop the loss was 0.6, at a seventh of the file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landmarks are the largest step, from 73.7 to 86.5 percent. Rounding to 4 bits after training drops that to 83.4; quantisation-aware training keeps 85.9 at 1.97 MiB, 10.9 points above the 75 percent target. Answering from all 262 words, the same model scores 72.0, which is why the app restricts its answers to the 50 deployed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put the GAN where it could make a measurable difference. The pipeline's only upscaling step is the resize to 720p before hand detection, and low-resolution wearable video would pass through it. The no-GAN controls matter most here: the same network trained without the adversarial loss separates what learned upscaling achieves from what the GAN adds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follows Real-ESRGAN. The generator is a compact VGG-style network that works at low resolution and ends in a pixel shuffle, with an upsampled copy of the input added back. The discriminator is a U-Net with spectral normalisation that scores every pixel. Training patches come only from training sessions and are degraded twice by random blur, resizing, noise and JPEG. The losses are L1, VGG perceptual and adversarial; version 3 adds a hand-landmark loss computed by a network trained to imitate MediaPipe.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answered a question raised by the one before. Version 1 is the planned GAN. Its discriminator ended clearly ahead, so version 2 trained the same generator longer with a fresh discriminator; it was no better. Our diagnostics then put the remaining error in the hand landmarks, so version 3 added a loss that compares hand joints read from the generated and original images. Against their no-GAN controls the three GANs passed our test in only two of nine comparisons, both at 240p.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shipped 4-bit model every learned upscaler beat bicubic at every level, by 14 to 15 points at 180p, and the gain survives fine-tuning the classifier. The 32-bit models gained nothing at 360p. The bars within each group are close: at 180p all five learned upscalers sit within a point of each other, with or without a GAN. The paired tests on the previous slide say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the remaining loss we kept one input clean and degraded the other. With clean pixels and degraded landmarks the model scores 78.2; with degraded pixels and clean landmarks it scores 83.1. After super-resolution, then, most of the problem is where the detector places the joints. Tuning the detector finds more hands, but places more of them wrongly, and accuracy barely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loss sits in the landmarks, version 3 trains the generator against a differentiable stand-in for the hand detector. On validation sessions it did what it was built to do at the detection level, and on the test set it found the most hands, but classification did not improve. One explanation we have not tested is that the frozen classifier learned from clean-video landmarks; fine-tuning it on version 3's output would check that. Without the discriminator, the hand loss also left a dot-grid artifact in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is a single web page served by the recognition server. These are live screenshots: Capture reading a held-out clip, the Not-sure shortlist for a look-alike word, and a sentence built from accepted words. Corrections are logged as labelled examples, and Enrolment records new signers into the folder the training pipeline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at three levels. Playwright drove Chromium through every screen at two widths. Held-out clips went through the live server end to end. A consistency test checked that the app's classification code gives the same answer as the offline evaluation for the same clip and model; it agreed on all 8 clips, including the 2 the model gets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one studio, sessions inferred rather than labelled, no cross-corpus transfer yet, synthetic degradation, only version 1 of the GAN pre-registered, latency measured on a desktop CPU, and isolated words only. Thank you; we can run the live demo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216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6400800" cy="14630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640080" y="2971800"/>
            <a:ext cx="6309360" cy="1371600"/>
          </a:xfrm>
          <a:prstGeom prst="rect">
            <a:avLst/>
          </a:prstGeom>
          <a:noFill/>
          <a:ln/>
        </p:spPr>
        <p:txBody>
          <a:bodyPr wrap="square" rtlCol="0"/>
          <a:lstStyle>
            <a:lvl1pPr indent="0" marL="0">
              <a:buNone/>
              <a:defRPr lang="en-US" sz="1800" dirty="0">
                <a:solidFill>
                  <a:srgbClr val="C9CFD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46520"/>
            <a:ext cx="10424160" cy="274320"/>
          </a:xfrm>
          <a:prstGeom prst="rect">
            <a:avLst/>
          </a:prstGeom>
          <a:noFill/>
          <a:ln/>
        </p:spPr>
        <p:txBody>
          <a:bodyPr wrap="square" lIns="0" tIns="0" rIns="0" bIns="0" rtlCol="0" anchor="ctr"/>
          <a:lstStyle/>
          <a:p>
            <a:pPr indent="0" marL="0">
              <a:buNone/>
            </a:pPr>
            <a:r>
              <a:rPr lang="en-US" sz="900" dirty="0">
                <a:solidFill>
                  <a:srgbClr val="8A93A3"/>
                </a:solidFill>
              </a:rPr>
              <a:t>ISL Reader · Review 3 · Team 3: Yalamanchi Kushal (CB.SC.U4CSE23766) · Nethi Kushala Kumar (CB.SC.U4CSE23735) · Dhruseek Rishi Menon (CB.SC.U4CSE23716)</a:t>
            </a:r>
            <a:endParaRPr lang="en-US" sz="9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640080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ISL Reader</a:t>
            </a:r>
            <a:endParaRPr lang="en-US" sz="4800" dirty="0"/>
          </a:p>
        </p:txBody>
      </p:sp>
      <p:sp>
        <p:nvSpPr>
          <p:cNvPr id="3" name="Text 0"/>
          <p:cNvSpPr/>
          <p:nvPr>
            <p:ph idx="101" type="body" hasCustomPrompt="1"/>
          </p:nvPr>
        </p:nvSpPr>
        <p:spPr>
          <a:xfrm>
            <a:off x="640080" y="2971800"/>
            <a:ext cx="6309360" cy="1371600"/>
          </a:xfrm>
          <a:prstGeom prst="rect">
            <a:avLst/>
          </a:prstGeom>
          <a:noFill/>
          <a:ln/>
        </p:spPr>
        <p:txBody>
          <a:bodyPr wrap="square" lIns="0" tIns="0" rIns="0" bIns="0" rtlCol="0" anchor="t"/>
          <a:lstStyle/>
          <a:p>
            <a:pPr indent="0" marL="0">
              <a:buNone/>
            </a:pPr>
            <a:r>
              <a:rPr lang="en-US" sz="1800" dirty="0">
                <a:solidFill>
                  <a:srgbClr val="C9CFDA"/>
                </a:solidFill>
              </a:rPr>
              <a:t>A 2 MB Vision Transformer, a super-resolution GAN front end and an integrated interface for Indian Sign Language</a:t>
            </a:r>
            <a:endParaRPr lang="en-US" sz="1800" dirty="0"/>
          </a:p>
        </p:txBody>
      </p:sp>
      <p:sp>
        <p:nvSpPr>
          <p:cNvPr id="4" name="Text 2"/>
          <p:cNvSpPr txBox="1"/>
          <p:nvPr/>
        </p:nvSpPr>
        <p:spPr>
          <a:xfrm>
            <a:off x="640080" y="4434840"/>
            <a:ext cx="6309360" cy="1600200"/>
          </a:xfrm>
          <a:prstGeom prst="rect">
            <a:avLst/>
          </a:prstGeom>
          <a:noFill/>
          <a:ln/>
        </p:spPr>
        <p:txBody>
          <a:bodyPr wrap="square" lIns="0" tIns="0" rIns="0" bIns="0" rtlCol="0" anchor="ctr"/>
          <a:lstStyle/>
          <a:p>
            <a:pPr indent="0" marL="0">
              <a:spcAft>
                <a:spcPts val="200"/>
              </a:spcAft>
              <a:buNone/>
            </a:pPr>
            <a:r>
              <a:rPr lang="en-US" sz="1400" b="1" dirty="0">
                <a:solidFill>
                  <a:srgbClr val="E5E9F0"/>
                </a:solidFill>
              </a:rPr>
              <a:t>Team 3</a:t>
            </a:r>
            <a:endParaRPr lang="en-US" sz="1400" dirty="0"/>
          </a:p>
          <a:p>
            <a:pPr indent="0" marL="0">
              <a:spcAft>
                <a:spcPts val="200"/>
              </a:spcAft>
              <a:buNone/>
            </a:pPr>
            <a:r>
              <a:rPr lang="en-US" sz="1400" dirty="0">
                <a:solidFill>
                  <a:srgbClr val="9AA3B2"/>
                </a:solidFill>
              </a:rPr>
              <a:t>Yalamanchi Kushal · CB.SC.U4CSE23766</a:t>
            </a:r>
            <a:endParaRPr lang="en-US" sz="1400" dirty="0"/>
          </a:p>
          <a:p>
            <a:pPr indent="0" marL="0">
              <a:spcAft>
                <a:spcPts val="200"/>
              </a:spcAft>
              <a:buNone/>
            </a:pPr>
            <a:r>
              <a:rPr lang="en-US" sz="1400" dirty="0">
                <a:solidFill>
                  <a:srgbClr val="9AA3B2"/>
                </a:solidFill>
              </a:rPr>
              <a:t>Nethi Kushala Kumar · CB.SC.U4CSE23735</a:t>
            </a:r>
            <a:endParaRPr lang="en-US" sz="1400" dirty="0"/>
          </a:p>
          <a:p>
            <a:pPr indent="0" marL="0">
              <a:spcAft>
                <a:spcPts val="200"/>
              </a:spcAft>
              <a:buNone/>
            </a:pPr>
            <a:r>
              <a:rPr lang="en-US" sz="1400" dirty="0">
                <a:solidFill>
                  <a:srgbClr val="9AA3B2"/>
                </a:solidFill>
              </a:rPr>
              <a:t>Dhruseek Rishi Menon · CB.SC.U4CSE23716</a:t>
            </a:r>
            <a:endParaRPr lang="en-US" sz="1400" dirty="0"/>
          </a:p>
          <a:p>
            <a:pPr indent="0" marL="0">
              <a:spcAft>
                <a:spcPts val="200"/>
              </a:spcAft>
              <a:buNone/>
            </a:pPr>
            <a:r>
              <a:rPr lang="en-US" sz="1400" dirty="0">
                <a:solidFill>
                  <a:srgbClr val="9AA3B2"/>
                </a:solidFill>
              </a:rPr>
              <a:t>Guide: Dr. T. Bagyammal · 23CSE473 NNDL · Review 3</a:t>
            </a:r>
            <a:endParaRPr lang="en-US" sz="1400" dirty="0"/>
          </a:p>
        </p:txBody>
      </p:sp>
      <p:pic>
        <p:nvPicPr>
          <p:cNvPr id="5" name="ui_capture_crop.png" descr="The ISL Reader capture screen reading a held-out clip">    </p:cNvPr>
          <p:cNvPicPr>
            <a:picLocks noChangeAspect="1"/>
          </p:cNvPicPr>
          <p:nvPr/>
        </p:nvPicPr>
        <p:blipFill>
          <a:blip r:embed="rId1"/>
          <a:stretch>
            <a:fillRect/>
          </a:stretch>
        </p:blipFill>
        <p:spPr>
          <a:xfrm>
            <a:off x="7223760" y="2448306"/>
            <a:ext cx="4526280" cy="19613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set out to build</a:t>
            </a:r>
            <a:endParaRPr lang="en-US" sz="3000" dirty="0"/>
          </a:p>
        </p:txBody>
      </p:sp>
      <p:sp>
        <p:nvSpPr>
          <p:cNvPr id="3" name="card A model of about 2 MB"/>
          <p:cNvSpPr/>
          <p:nvPr/>
        </p:nvSpPr>
        <p:spPr>
          <a:xfrm>
            <a:off x="548640" y="1325880"/>
            <a:ext cx="3611880" cy="1645920"/>
          </a:xfrm>
          <a:prstGeom prst="roundRect">
            <a:avLst>
              <a:gd name="adj" fmla="val 5556"/>
            </a:avLst>
          </a:prstGeom>
          <a:solidFill>
            <a:schemeClr val="bg2"/>
          </a:solidFill>
          <a:ln w="12700">
            <a:solidFill>
              <a:schemeClr val="bg2"/>
            </a:solidFill>
            <a:prstDash val="solid"/>
          </a:ln>
        </p:spPr>
      </p:sp>
      <p:sp>
        <p:nvSpPr>
          <p:cNvPr id="4" name="dot A model of about 2 MB"/>
          <p:cNvSpPr/>
          <p:nvPr/>
        </p:nvSpPr>
        <p:spPr>
          <a:xfrm>
            <a:off x="749808" y="1545336"/>
            <a:ext cx="201168" cy="201168"/>
          </a:xfrm>
          <a:prstGeom prst="ellipse">
            <a:avLst/>
          </a:prstGeom>
          <a:solidFill>
            <a:schemeClr val="accent1"/>
          </a:solidFill>
          <a:ln w="12700">
            <a:solidFill>
              <a:schemeClr val="accent1"/>
            </a:solidFill>
            <a:prstDash val="solid"/>
          </a:ln>
        </p:spPr>
      </p:sp>
      <p:sp>
        <p:nvSpPr>
          <p:cNvPr id="5" name="Text 3"/>
          <p:cNvSpPr txBox="1"/>
          <p:nvPr/>
        </p:nvSpPr>
        <p:spPr>
          <a:xfrm>
            <a:off x="1060704" y="143560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A model of about 2 MB</a:t>
            </a:r>
            <a:endParaRPr lang="en-US" sz="1600" dirty="0"/>
          </a:p>
        </p:txBody>
      </p:sp>
      <p:sp>
        <p:nvSpPr>
          <p:cNvPr id="6" name="Text 4"/>
          <p:cNvSpPr txBox="1"/>
          <p:nvPr/>
        </p:nvSpPr>
        <p:spPr>
          <a:xfrm>
            <a:off x="768096" y="1929384"/>
            <a:ext cx="3191256" cy="9144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It has to run on smart glasses, so the classifier must fit in roughly two megabytes.</a:t>
            </a:r>
            <a:endParaRPr lang="en-US" sz="1400" dirty="0"/>
          </a:p>
        </p:txBody>
      </p:sp>
      <p:sp>
        <p:nvSpPr>
          <p:cNvPr id="7" name="card ≥ 75 % on unseen people"/>
          <p:cNvSpPr/>
          <p:nvPr/>
        </p:nvSpPr>
        <p:spPr>
          <a:xfrm>
            <a:off x="4288536" y="1325880"/>
            <a:ext cx="3611880" cy="1645920"/>
          </a:xfrm>
          <a:prstGeom prst="roundRect">
            <a:avLst>
              <a:gd name="adj" fmla="val 5556"/>
            </a:avLst>
          </a:prstGeom>
          <a:solidFill>
            <a:schemeClr val="bg2"/>
          </a:solidFill>
          <a:ln w="12700">
            <a:solidFill>
              <a:schemeClr val="bg2"/>
            </a:solidFill>
            <a:prstDash val="solid"/>
          </a:ln>
        </p:spPr>
      </p:sp>
      <p:sp>
        <p:nvSpPr>
          <p:cNvPr id="8" name="dot ≥ 75 % on unseen people"/>
          <p:cNvSpPr/>
          <p:nvPr/>
        </p:nvSpPr>
        <p:spPr>
          <a:xfrm>
            <a:off x="4489704" y="1545336"/>
            <a:ext cx="201168" cy="201168"/>
          </a:xfrm>
          <a:prstGeom prst="ellipse">
            <a:avLst/>
          </a:prstGeom>
          <a:solidFill>
            <a:schemeClr val="accent3"/>
          </a:solidFill>
          <a:ln w="12700">
            <a:solidFill>
              <a:schemeClr val="accent3"/>
            </a:solidFill>
            <a:prstDash val="solid"/>
          </a:ln>
        </p:spPr>
      </p:sp>
      <p:sp>
        <p:nvSpPr>
          <p:cNvPr id="9" name="Text 7"/>
          <p:cNvSpPr txBox="1"/>
          <p:nvPr/>
        </p:nvSpPr>
        <p:spPr>
          <a:xfrm>
            <a:off x="4800600" y="143560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 75 % on unseen people</a:t>
            </a:r>
            <a:endParaRPr lang="en-US" sz="1600" dirty="0"/>
          </a:p>
        </p:txBody>
      </p:sp>
      <p:sp>
        <p:nvSpPr>
          <p:cNvPr id="10" name="Text 8"/>
          <p:cNvSpPr txBox="1"/>
          <p:nvPr/>
        </p:nvSpPr>
        <p:spPr>
          <a:xfrm>
            <a:off x="4507992" y="1929384"/>
            <a:ext cx="3191256" cy="9144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Scored only on recording sessions the model never saw, over the 50 deployed words.</a:t>
            </a:r>
            <a:endParaRPr lang="en-US" sz="1400" dirty="0"/>
          </a:p>
        </p:txBody>
      </p:sp>
      <p:sp>
        <p:nvSpPr>
          <p:cNvPr id="11" name="card A working app"/>
          <p:cNvSpPr/>
          <p:nvPr/>
        </p:nvSpPr>
        <p:spPr>
          <a:xfrm>
            <a:off x="8028432" y="1325880"/>
            <a:ext cx="3611880" cy="1645920"/>
          </a:xfrm>
          <a:prstGeom prst="roundRect">
            <a:avLst>
              <a:gd name="adj" fmla="val 5556"/>
            </a:avLst>
          </a:prstGeom>
          <a:solidFill>
            <a:schemeClr val="bg2"/>
          </a:solidFill>
          <a:ln w="12700">
            <a:solidFill>
              <a:schemeClr val="bg2"/>
            </a:solidFill>
            <a:prstDash val="solid"/>
          </a:ln>
        </p:spPr>
      </p:sp>
      <p:sp>
        <p:nvSpPr>
          <p:cNvPr id="12" name="dot A working app"/>
          <p:cNvSpPr/>
          <p:nvPr/>
        </p:nvSpPr>
        <p:spPr>
          <a:xfrm>
            <a:off x="8229600" y="1545336"/>
            <a:ext cx="201168" cy="201168"/>
          </a:xfrm>
          <a:prstGeom prst="ellipse">
            <a:avLst/>
          </a:prstGeom>
          <a:solidFill>
            <a:schemeClr val="accent2"/>
          </a:solidFill>
          <a:ln w="12700">
            <a:solidFill>
              <a:schemeClr val="accent2"/>
            </a:solidFill>
            <a:prstDash val="solid"/>
          </a:ln>
        </p:spPr>
      </p:sp>
      <p:sp>
        <p:nvSpPr>
          <p:cNvPr id="13" name="Text 11"/>
          <p:cNvSpPr txBox="1"/>
          <p:nvPr/>
        </p:nvSpPr>
        <p:spPr>
          <a:xfrm>
            <a:off x="8540496" y="143560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A working app</a:t>
            </a:r>
            <a:endParaRPr lang="en-US" sz="1600" dirty="0"/>
          </a:p>
        </p:txBody>
      </p:sp>
      <p:sp>
        <p:nvSpPr>
          <p:cNvPr id="14" name="Text 12"/>
          <p:cNvSpPr txBox="1"/>
          <p:nvPr/>
        </p:nvSpPr>
        <p:spPr>
          <a:xfrm>
            <a:off x="8247888" y="1929384"/>
            <a:ext cx="3191256" cy="9144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Camera or video in, word out, with a confidence check and a way to correct the answer.</a:t>
            </a:r>
            <a:endParaRPr lang="en-US" sz="1400" dirty="0"/>
          </a:p>
        </p:txBody>
      </p:sp>
      <p:sp>
        <p:nvSpPr>
          <p:cNvPr id="15" name="Text 13"/>
          <p:cNvSpPr txBox="1"/>
          <p:nvPr/>
        </p:nvSpPr>
        <p:spPr>
          <a:xfrm>
            <a:off x="548640" y="3337560"/>
            <a:ext cx="5486400" cy="411480"/>
          </a:xfrm>
          <a:prstGeom prst="rect">
            <a:avLst/>
          </a:prstGeom>
          <a:noFill/>
          <a:ln/>
        </p:spPr>
        <p:txBody>
          <a:bodyPr wrap="square" lIns="0" tIns="0" rIns="0" bIns="0" rtlCol="0" anchor="ctr"/>
          <a:lstStyle/>
          <a:p>
            <a:pPr indent="0" marL="0">
              <a:buNone/>
            </a:pPr>
            <a:r>
              <a:rPr lang="en-US" sz="1800" b="1" dirty="0">
                <a:solidFill>
                  <a:schemeClr val="tx1"/>
                </a:solidFill>
              </a:rPr>
              <a:t>Why it is hard</a:t>
            </a:r>
            <a:endParaRPr lang="en-US" sz="1800" dirty="0"/>
          </a:p>
        </p:txBody>
      </p:sp>
      <p:sp>
        <p:nvSpPr>
          <p:cNvPr id="16" name="Text 14"/>
          <p:cNvSpPr txBox="1"/>
          <p:nvPr/>
        </p:nvSpPr>
        <p:spPr>
          <a:xfrm>
            <a:off x="548640" y="3840480"/>
            <a:ext cx="11064240" cy="23774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Most signs use both hands, and handshape, motion and location together decide the word.</a:t>
            </a:r>
            <a:endParaRPr lang="en-US" sz="1800" dirty="0"/>
          </a:p>
          <a:p>
            <a:pPr marL="342900" indent="-342900">
              <a:spcAft>
                <a:spcPts val="800"/>
              </a:spcAft>
              <a:buSzPct val="100000"/>
              <a:buChar char="•"/>
            </a:pPr>
            <a:r>
              <a:rPr lang="en-US" sz="1800" dirty="0">
                <a:solidFill>
                  <a:schemeClr val="tx1"/>
                </a:solidFill>
              </a:rPr>
              <a:t>Labelled data is scarce: INCLUDE has about 15 clips per word.</a:t>
            </a:r>
            <a:endParaRPr lang="en-US" sz="1800" dirty="0"/>
          </a:p>
          <a:p>
            <a:pPr marL="342900" indent="-342900">
              <a:spcAft>
                <a:spcPts val="800"/>
              </a:spcAft>
              <a:buSzPct val="100000"/>
              <a:buChar char="•"/>
            </a:pPr>
            <a:r>
              <a:rPr lang="en-US" sz="1800" dirty="0">
                <a:solidFill>
                  <a:schemeClr val="tx1"/>
                </a:solidFill>
              </a:rPr>
              <a:t>A wearable camera sends smaller, more compressed video than the 1080p studio footage.</a:t>
            </a:r>
            <a:endParaRPr lang="en-US" sz="1800" dirty="0"/>
          </a:p>
          <a:p>
            <a:pPr marL="342900" indent="-342900">
              <a:spcAft>
                <a:spcPts val="800"/>
              </a:spcAft>
              <a:buSzPct val="100000"/>
              <a:buChar char="•"/>
            </a:pPr>
            <a:r>
              <a:rPr lang="en-US" sz="1800" dirty="0">
                <a:solidFill>
                  <a:schemeClr val="tx1"/>
                </a:solidFill>
              </a:rPr>
              <a:t>Random splits leak recording sessions, which inflates published accuracies.</a:t>
            </a:r>
            <a:endParaRPr lang="en-US" sz="18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Dataset details</a:t>
            </a:r>
            <a:endParaRPr lang="en-US" sz="3000" dirty="0"/>
          </a:p>
        </p:txBody>
      </p:sp>
      <p:sp>
        <p:nvSpPr>
          <p:cNvPr id="3" name="Text 1"/>
          <p:cNvSpPr txBox="1"/>
          <p:nvPr/>
        </p:nvSpPr>
        <p:spPr>
          <a:xfrm>
            <a:off x="548640" y="1234440"/>
            <a:ext cx="210312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4,257</a:t>
            </a:r>
            <a:endParaRPr lang="en-US" sz="4000" dirty="0"/>
          </a:p>
        </p:txBody>
      </p:sp>
      <p:sp>
        <p:nvSpPr>
          <p:cNvPr id="4" name="Text 2"/>
          <p:cNvSpPr txBox="1"/>
          <p:nvPr/>
        </p:nvSpPr>
        <p:spPr>
          <a:xfrm>
            <a:off x="548640" y="2011680"/>
            <a:ext cx="2103120" cy="457200"/>
          </a:xfrm>
          <a:prstGeom prst="rect">
            <a:avLst/>
          </a:prstGeom>
          <a:noFill/>
          <a:ln/>
        </p:spPr>
        <p:txBody>
          <a:bodyPr wrap="square" lIns="0" tIns="0" rIns="0" bIns="0" rtlCol="0" anchor="t"/>
          <a:lstStyle/>
          <a:p>
            <a:pPr indent="0" marL="0">
              <a:buNone/>
            </a:pPr>
            <a:r>
              <a:rPr lang="en-US" sz="1300" dirty="0">
                <a:solidFill>
                  <a:srgbClr val="5B6474"/>
                </a:solidFill>
              </a:rPr>
              <a:t>INCLUDE clips used</a:t>
            </a:r>
            <a:endParaRPr lang="en-US" sz="1300" dirty="0"/>
          </a:p>
        </p:txBody>
      </p:sp>
      <p:sp>
        <p:nvSpPr>
          <p:cNvPr id="5" name="Text 3"/>
          <p:cNvSpPr txBox="1"/>
          <p:nvPr/>
        </p:nvSpPr>
        <p:spPr>
          <a:xfrm>
            <a:off x="2697480" y="1234440"/>
            <a:ext cx="192024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262</a:t>
            </a:r>
            <a:endParaRPr lang="en-US" sz="4000" dirty="0"/>
          </a:p>
        </p:txBody>
      </p:sp>
      <p:sp>
        <p:nvSpPr>
          <p:cNvPr id="6" name="Text 4"/>
          <p:cNvSpPr txBox="1"/>
          <p:nvPr/>
        </p:nvSpPr>
        <p:spPr>
          <a:xfrm>
            <a:off x="2697480" y="2011680"/>
            <a:ext cx="1920240" cy="457200"/>
          </a:xfrm>
          <a:prstGeom prst="rect">
            <a:avLst/>
          </a:prstGeom>
          <a:noFill/>
          <a:ln/>
        </p:spPr>
        <p:txBody>
          <a:bodyPr wrap="square" lIns="0" tIns="0" rIns="0" bIns="0" rtlCol="0" anchor="t"/>
          <a:lstStyle/>
          <a:p>
            <a:pPr indent="0" marL="0">
              <a:buNone/>
            </a:pPr>
            <a:r>
              <a:rPr lang="en-US" sz="1300" dirty="0">
                <a:solidFill>
                  <a:srgbClr val="5B6474"/>
                </a:solidFill>
              </a:rPr>
              <a:t>words, 15 categories</a:t>
            </a:r>
            <a:endParaRPr lang="en-US" sz="1300" dirty="0"/>
          </a:p>
        </p:txBody>
      </p:sp>
      <p:sp>
        <p:nvSpPr>
          <p:cNvPr id="7" name="Text 5"/>
          <p:cNvSpPr txBox="1"/>
          <p:nvPr/>
        </p:nvSpPr>
        <p:spPr>
          <a:xfrm>
            <a:off x="4617720" y="1234440"/>
            <a:ext cx="219456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1080p</a:t>
            </a:r>
            <a:endParaRPr lang="en-US" sz="4000" dirty="0"/>
          </a:p>
        </p:txBody>
      </p:sp>
      <p:sp>
        <p:nvSpPr>
          <p:cNvPr id="8" name="Text 6"/>
          <p:cNvSpPr txBox="1"/>
          <p:nvPr/>
        </p:nvSpPr>
        <p:spPr>
          <a:xfrm>
            <a:off x="4617720" y="2011680"/>
            <a:ext cx="2194560" cy="457200"/>
          </a:xfrm>
          <a:prstGeom prst="rect">
            <a:avLst/>
          </a:prstGeom>
          <a:noFill/>
          <a:ln/>
        </p:spPr>
        <p:txBody>
          <a:bodyPr wrap="square" lIns="0" tIns="0" rIns="0" bIns="0" rtlCol="0" anchor="t"/>
          <a:lstStyle/>
          <a:p>
            <a:pPr indent="0" marL="0">
              <a:buNone/>
            </a:pPr>
            <a:r>
              <a:rPr lang="en-US" sz="1300" dirty="0">
                <a:solidFill>
                  <a:srgbClr val="5B6474"/>
                </a:solidFill>
              </a:rPr>
              <a:t>25 fps, one studio</a:t>
            </a:r>
            <a:endParaRPr lang="en-US" sz="1300" dirty="0"/>
          </a:p>
        </p:txBody>
      </p:sp>
      <p:sp>
        <p:nvSpPr>
          <p:cNvPr id="9" name="Text 7"/>
          <p:cNvSpPr txBox="1"/>
          <p:nvPr/>
        </p:nvSpPr>
        <p:spPr>
          <a:xfrm>
            <a:off x="6812280" y="1234440"/>
            <a:ext cx="1737360" cy="77724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13</a:t>
            </a:r>
            <a:endParaRPr lang="en-US" sz="4000" dirty="0"/>
          </a:p>
        </p:txBody>
      </p:sp>
      <p:sp>
        <p:nvSpPr>
          <p:cNvPr id="10" name="Text 8"/>
          <p:cNvSpPr txBox="1"/>
          <p:nvPr/>
        </p:nvSpPr>
        <p:spPr>
          <a:xfrm>
            <a:off x="6812280" y="2011680"/>
            <a:ext cx="1737360" cy="457200"/>
          </a:xfrm>
          <a:prstGeom prst="rect">
            <a:avLst/>
          </a:prstGeom>
          <a:noFill/>
          <a:ln/>
        </p:spPr>
        <p:txBody>
          <a:bodyPr wrap="square" lIns="0" tIns="0" rIns="0" bIns="0" rtlCol="0" anchor="t"/>
          <a:lstStyle/>
          <a:p>
            <a:pPr indent="0" marL="0">
              <a:buNone/>
            </a:pPr>
            <a:r>
              <a:rPr lang="en-US" sz="1300" dirty="0">
                <a:solidFill>
                  <a:srgbClr val="5B6474"/>
                </a:solidFill>
              </a:rPr>
              <a:t>recording sessions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8001000" cy="914400"/>
        </p:xfrm>
        <a:graphic>
          <a:graphicData uri="http://schemas.openxmlformats.org/drawingml/2006/table">
            <a:tbl>
              <a:tblPr/>
              <a:tblGrid>
                <a:gridCol w="2560320"/>
                <a:gridCol w="1143000"/>
                <a:gridCol w="42976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Split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Clips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Use</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Training sessions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2,845</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Classifier and GAN training</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Held-out test sessions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1,010</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472 of them = the 50 deployed words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Excluded</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402</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Words with &lt; 6 training clips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Validation sessions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888</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Choosing between GAN v3 arms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iSign (unlabelled)</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18,000</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Self-supervised pretraining; 17,896 kept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CISLR (300 x 300 px)</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609</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Cross-corpus test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bl>
          </a:graphicData>
        </a:graphic>
      </p:graphicFrame>
      <p:pic>
        <p:nvPicPr>
          <p:cNvPr id="12" name="frame 01_loud.jpg" descr="INCLUDE frame">    </p:cNvPr>
          <p:cNvPicPr>
            <a:picLocks noChangeAspect="1"/>
          </p:cNvPicPr>
          <p:nvPr/>
        </p:nvPicPr>
        <p:blipFill>
          <a:blip r:embed="rId1"/>
          <a:stretch>
            <a:fillRect/>
          </a:stretch>
        </p:blipFill>
        <p:spPr>
          <a:xfrm>
            <a:off x="8915400" y="1325880"/>
            <a:ext cx="1325880" cy="822960"/>
          </a:xfrm>
          <a:prstGeom prst="rect">
            <a:avLst/>
          </a:prstGeom>
        </p:spPr>
      </p:pic>
      <p:pic>
        <p:nvPicPr>
          <p:cNvPr id="13" name="frame 02_hat.jpg" descr="INCLUDE frame">    </p:cNvPr>
          <p:cNvPicPr>
            <a:picLocks noChangeAspect="1"/>
          </p:cNvPicPr>
          <p:nvPr/>
        </p:nvPicPr>
        <p:blipFill>
          <a:blip r:embed="rId2"/>
          <a:stretch>
            <a:fillRect/>
          </a:stretch>
        </p:blipFill>
        <p:spPr>
          <a:xfrm>
            <a:off x="10332720" y="1325880"/>
            <a:ext cx="1325880" cy="822960"/>
          </a:xfrm>
          <a:prstGeom prst="rect">
            <a:avLst/>
          </a:prstGeom>
        </p:spPr>
      </p:pic>
      <p:pic>
        <p:nvPicPr>
          <p:cNvPr id="14" name="frame 03_brown.jpg" descr="INCLUDE frame">    </p:cNvPr>
          <p:cNvPicPr>
            <a:picLocks noChangeAspect="1"/>
          </p:cNvPicPr>
          <p:nvPr/>
        </p:nvPicPr>
        <p:blipFill>
          <a:blip r:embed="rId3"/>
          <a:stretch>
            <a:fillRect/>
          </a:stretch>
        </p:blipFill>
        <p:spPr>
          <a:xfrm>
            <a:off x="8915400" y="2240280"/>
            <a:ext cx="1325880" cy="822960"/>
          </a:xfrm>
          <a:prstGeom prst="rect">
            <a:avLst/>
          </a:prstGeom>
        </p:spPr>
      </p:pic>
      <p:pic>
        <p:nvPicPr>
          <p:cNvPr id="15" name="frame 04_hello.jpg" descr="INCLUDE frame">    </p:cNvPr>
          <p:cNvPicPr>
            <a:picLocks noChangeAspect="1"/>
          </p:cNvPicPr>
          <p:nvPr/>
        </p:nvPicPr>
        <p:blipFill>
          <a:blip r:embed="rId4"/>
          <a:stretch>
            <a:fillRect/>
          </a:stretch>
        </p:blipFill>
        <p:spPr>
          <a:xfrm>
            <a:off x="10332720" y="2240280"/>
            <a:ext cx="1325880" cy="822960"/>
          </a:xfrm>
          <a:prstGeom prst="rect">
            <a:avLst/>
          </a:prstGeom>
        </p:spPr>
      </p:pic>
      <p:sp>
        <p:nvSpPr>
          <p:cNvPr id="16" name="Text 9"/>
          <p:cNvSpPr txBox="1"/>
          <p:nvPr/>
        </p:nvSpPr>
        <p:spPr>
          <a:xfrm>
            <a:off x="8915400" y="3200400"/>
            <a:ext cx="2743200" cy="457200"/>
          </a:xfrm>
          <a:prstGeom prst="rect">
            <a:avLst/>
          </a:prstGeom>
          <a:noFill/>
          <a:ln/>
        </p:spPr>
        <p:txBody>
          <a:bodyPr wrap="square" lIns="0" tIns="0" rIns="0" bIns="0" rtlCol="0" anchor="ctr"/>
          <a:lstStyle/>
          <a:p>
            <a:pPr indent="0" marL="0">
              <a:buNone/>
            </a:pPr>
            <a:r>
              <a:rPr lang="en-US" sz="1000" dirty="0">
                <a:solidFill>
                  <a:srgbClr val="6B7280"/>
                </a:solidFill>
              </a:rPr>
              <a:t>Frames from held-out INCLUDE clips (Sridhar et al., ACM MM 2020, CC-BY-4.0)</a:t>
            </a:r>
            <a:endParaRPr lang="en-US" sz="1000" dirty="0"/>
          </a:p>
        </p:txBody>
      </p:sp>
      <p:sp>
        <p:nvSpPr>
          <p:cNvPr id="17" name="Text 10"/>
          <p:cNvSpPr txBox="1"/>
          <p:nvPr/>
        </p:nvSpPr>
        <p:spPr>
          <a:xfrm>
            <a:off x="8915400" y="3840480"/>
            <a:ext cx="2743200" cy="2194560"/>
          </a:xfrm>
          <a:prstGeom prst="rect">
            <a:avLst/>
          </a:prstGeom>
          <a:noFill/>
          <a:ln/>
        </p:spPr>
        <p:txBody>
          <a:bodyPr wrap="square" lIns="0" tIns="0" rIns="0" bIns="0" rtlCol="0" anchor="t"/>
          <a:lstStyle/>
          <a:p>
            <a:pPr indent="0" marL="0">
              <a:buNone/>
            </a:pPr>
            <a:r>
              <a:rPr lang="en-US" sz="1300" dirty="0">
                <a:solidFill>
                  <a:schemeClr val="tx1"/>
                </a:solidFill>
              </a:rPr>
              <a:t>We train on all 262 words and answer from the 50 deployed ones. Each word has a fixed number of clips, so training on fewer words would only discard data.</a:t>
            </a:r>
            <a:endParaRPr lang="en-US" sz="13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Evaluation: hold out whole recording sessions</a:t>
            </a:r>
            <a:endParaRPr lang="en-US" sz="3000" dirty="0"/>
          </a:p>
        </p:txBody>
      </p:sp>
      <p:sp>
        <p:nvSpPr>
          <p:cNvPr id="3" name="card fig3_evaluation_split.png"/>
          <p:cNvSpPr/>
          <p:nvPr/>
        </p:nvSpPr>
        <p:spPr>
          <a:xfrm>
            <a:off x="548640" y="1234440"/>
            <a:ext cx="4937760" cy="4206240"/>
          </a:xfrm>
          <a:prstGeom prst="roundRect">
            <a:avLst>
              <a:gd name="adj" fmla="val 2609"/>
            </a:avLst>
          </a:prstGeom>
          <a:solidFill>
            <a:schemeClr val="bg2"/>
          </a:solidFill>
          <a:ln w="12700">
            <a:solidFill>
              <a:schemeClr val="bg2"/>
            </a:solidFill>
            <a:prstDash val="solid"/>
          </a:ln>
        </p:spPr>
      </p:sp>
      <p:pic>
        <p:nvPicPr>
          <p:cNvPr id="4" name="fig3_evaluation_split.png" descr="Building the session split">    </p:cNvPr>
          <p:cNvPicPr>
            <a:picLocks noChangeAspect="1"/>
          </p:cNvPicPr>
          <p:nvPr/>
        </p:nvPicPr>
        <p:blipFill>
          <a:blip r:embed="rId1"/>
          <a:stretch>
            <a:fillRect/>
          </a:stretch>
        </p:blipFill>
        <p:spPr>
          <a:xfrm>
            <a:off x="658368" y="1502664"/>
            <a:ext cx="4718304" cy="3669792"/>
          </a:xfrm>
          <a:prstGeom prst="rect">
            <a:avLst/>
          </a:prstGeom>
        </p:spPr>
      </p:pic>
      <p:graphicFrame>
        <p:nvGraphicFramePr>
          <p:cNvPr id="5" name="Chart 0" descr=""/>
          <p:cNvGraphicFramePr/>
          <p:nvPr/>
        </p:nvGraphicFramePr>
        <p:xfrm>
          <a:off x="5852160" y="1234440"/>
          <a:ext cx="5760720" cy="338328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852160" y="4754880"/>
            <a:ext cx="576072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Camera clip numbers run in sequence, and a large jump marks a new session.</a:t>
            </a:r>
            <a:endParaRPr lang="en-US" sz="1400" dirty="0"/>
          </a:p>
          <a:p>
            <a:pPr marL="342900" indent="-342900">
              <a:spcAft>
                <a:spcPts val="800"/>
              </a:spcAft>
              <a:buSzPct val="100000"/>
              <a:buChar char="•"/>
            </a:pPr>
            <a:r>
              <a:rPr lang="en-US" sz="1400" dirty="0">
                <a:solidFill>
                  <a:schemeClr val="tx1"/>
                </a:solidFill>
              </a:rPr>
              <a:t>Whole sessions are held out, and the split builder rejects any overlap.</a:t>
            </a:r>
            <a:endParaRPr lang="en-US" sz="1400" dirty="0"/>
          </a:p>
          <a:p>
            <a:pPr marL="342900" indent="-342900">
              <a:spcAft>
                <a:spcPts val="800"/>
              </a:spcAft>
              <a:buSzPct val="100000"/>
              <a:buChar char="•"/>
            </a:pPr>
            <a:r>
              <a:rPr lang="en-US" sz="1400" dirty="0">
                <a:solidFill>
                  <a:schemeClr val="tx1"/>
                </a:solidFill>
              </a:rPr>
              <a:t>The 28-point gap is what the model gains from having seen the same person and room.</a:t>
            </a:r>
            <a:endParaRPr lang="en-US" sz="14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System architecture of the integrated app</a:t>
            </a:r>
            <a:endParaRPr lang="en-US" sz="3000" dirty="0"/>
          </a:p>
        </p:txBody>
      </p:sp>
      <p:pic>
        <p:nvPicPr>
          <p:cNvPr id="3" name="d1.png" descr="Browser, server, front end and classifier">    </p:cNvPr>
          <p:cNvPicPr>
            <a:picLocks noChangeAspect="1"/>
          </p:cNvPicPr>
          <p:nvPr/>
        </p:nvPicPr>
        <p:blipFill>
          <a:blip r:embed="rId1"/>
          <a:stretch>
            <a:fillRect/>
          </a:stretch>
        </p:blipFill>
        <p:spPr>
          <a:xfrm>
            <a:off x="548640" y="1231134"/>
            <a:ext cx="11064240" cy="4990093"/>
          </a:xfrm>
          <a:prstGeom prst="rect">
            <a:avLst/>
          </a:prstGeom>
        </p:spPr>
      </p:pic>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From video to model inputs</a:t>
            </a:r>
            <a:endParaRPr lang="en-US" sz="3000" dirty="0"/>
          </a:p>
        </p:txBody>
      </p:sp>
      <p:sp>
        <p:nvSpPr>
          <p:cNvPr id="3" name="card fig0_how_it_works.png"/>
          <p:cNvSpPr/>
          <p:nvPr/>
        </p:nvSpPr>
        <p:spPr>
          <a:xfrm>
            <a:off x="548640" y="1188720"/>
            <a:ext cx="5852160" cy="5074920"/>
          </a:xfrm>
          <a:prstGeom prst="roundRect">
            <a:avLst>
              <a:gd name="adj" fmla="val 2162"/>
            </a:avLst>
          </a:prstGeom>
          <a:solidFill>
            <a:schemeClr val="bg2"/>
          </a:solidFill>
          <a:ln w="12700">
            <a:solidFill>
              <a:schemeClr val="bg2"/>
            </a:solidFill>
            <a:prstDash val="solid"/>
          </a:ln>
        </p:spPr>
      </p:sp>
      <p:pic>
        <p:nvPicPr>
          <p:cNvPr id="4" name="fig0_how_it_works.png" descr="How a sign becomes a word">    </p:cNvPr>
          <p:cNvPicPr>
            <a:picLocks noChangeAspect="1"/>
          </p:cNvPicPr>
          <p:nvPr/>
        </p:nvPicPr>
        <p:blipFill>
          <a:blip r:embed="rId1"/>
          <a:stretch>
            <a:fillRect/>
          </a:stretch>
        </p:blipFill>
        <p:spPr>
          <a:xfrm>
            <a:off x="658368" y="1468243"/>
            <a:ext cx="5632704" cy="4515875"/>
          </a:xfrm>
          <a:prstGeom prst="rect">
            <a:avLst/>
          </a:prstGeom>
        </p:spPr>
      </p:pic>
      <p:sp>
        <p:nvSpPr>
          <p:cNvPr id="5" name="Text 2"/>
          <p:cNvSpPr txBox="1"/>
          <p:nvPr/>
        </p:nvSpPr>
        <p:spPr>
          <a:xfrm>
            <a:off x="6720840" y="1325880"/>
            <a:ext cx="4892040" cy="48463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32 frames sampled uniformly and letterboxed to 1280 × 720.</a:t>
            </a:r>
            <a:endParaRPr lang="en-US" sz="1500" dirty="0"/>
          </a:p>
          <a:p>
            <a:pPr marL="342900" indent="-342900">
              <a:spcAft>
                <a:spcPts val="800"/>
              </a:spcAft>
              <a:buSzPct val="100000"/>
              <a:buChar char="•"/>
            </a:pPr>
            <a:r>
              <a:rPr lang="en-US" sz="1500" dirty="0">
                <a:solidFill>
                  <a:schemeClr val="tx1"/>
                </a:solidFill>
              </a:rPr>
              <a:t>MediaPipe Holistic finds the hands, face and pose. A missed hand gets a second search in an upscaled forearm region; failing that, the nearest box is reused and flagged.</a:t>
            </a:r>
            <a:endParaRPr lang="en-US" sz="1500" dirty="0"/>
          </a:p>
          <a:p>
            <a:pPr marL="342900" indent="-342900">
              <a:spcAft>
                <a:spcPts val="800"/>
              </a:spcAft>
              <a:buSzPct val="100000"/>
              <a:buChar char="•"/>
            </a:pPr>
            <a:r>
              <a:rPr lang="en-US" sz="1500" dirty="0">
                <a:solidFill>
                  <a:schemeClr val="tx1"/>
                </a:solidFill>
              </a:rPr>
              <a:t>Three 64 px crops per frame: left hand, right hand, face.</a:t>
            </a:r>
            <a:endParaRPr lang="en-US" sz="1500" dirty="0"/>
          </a:p>
          <a:p>
            <a:pPr marL="342900" indent="-342900">
              <a:spcAft>
                <a:spcPts val="800"/>
              </a:spcAft>
              <a:buSzPct val="100000"/>
              <a:buChar char="•"/>
            </a:pPr>
            <a:r>
              <a:rPr lang="en-US" sz="1500" dirty="0">
                <a:solidFill>
                  <a:schemeClr val="tx1"/>
                </a:solidFill>
              </a:rPr>
              <a:t>21 joints per hand: shape measured from the wrist, location measured from the shoulders.</a:t>
            </a:r>
            <a:endParaRPr lang="en-US" sz="1500" dirty="0"/>
          </a:p>
          <a:p>
            <a:pPr marL="342900" indent="-342900">
              <a:spcAft>
                <a:spcPts val="800"/>
              </a:spcAft>
              <a:buSzPct val="100000"/>
              <a:buChar char="•"/>
            </a:pPr>
            <a:r>
              <a:rPr lang="en-US" sz="1500" dirty="0">
                <a:solidFill>
                  <a:schemeClr val="tx1"/>
                </a:solidFill>
              </a:rPr>
              <a:t>Detectors are rebuilt for every video. Without that, repeated runs disagreed on 3–6 % of frames.</a:t>
            </a:r>
            <a:endParaRPr lang="en-US" sz="15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Classifier: ISL-ViT-Tiny</a:t>
            </a:r>
            <a:endParaRPr lang="en-US" sz="3000" dirty="0"/>
          </a:p>
        </p:txBody>
      </p:sp>
      <p:sp>
        <p:nvSpPr>
          <p:cNvPr id="3" name="card fig2_model_architecture.png"/>
          <p:cNvSpPr/>
          <p:nvPr/>
        </p:nvSpPr>
        <p:spPr>
          <a:xfrm>
            <a:off x="548640" y="1188720"/>
            <a:ext cx="4754880" cy="5074920"/>
          </a:xfrm>
          <a:prstGeom prst="roundRect">
            <a:avLst>
              <a:gd name="adj" fmla="val 2308"/>
            </a:avLst>
          </a:prstGeom>
          <a:solidFill>
            <a:schemeClr val="bg2"/>
          </a:solidFill>
          <a:ln w="12700">
            <a:solidFill>
              <a:schemeClr val="bg2"/>
            </a:solidFill>
            <a:prstDash val="solid"/>
          </a:ln>
        </p:spPr>
      </p:sp>
      <p:pic>
        <p:nvPicPr>
          <p:cNvPr id="4" name="fig2_model_architecture.png" descr="Model architecture">    </p:cNvPr>
          <p:cNvPicPr>
            <a:picLocks noChangeAspect="1"/>
          </p:cNvPicPr>
          <p:nvPr/>
        </p:nvPicPr>
        <p:blipFill>
          <a:blip r:embed="rId1"/>
          <a:stretch>
            <a:fillRect/>
          </a:stretch>
        </p:blipFill>
        <p:spPr>
          <a:xfrm>
            <a:off x="658368" y="1566454"/>
            <a:ext cx="4535424" cy="4319451"/>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23560" y="1280160"/>
          <a:ext cx="5989320" cy="914400"/>
        </p:xfrm>
        <a:graphic>
          <a:graphicData uri="http://schemas.openxmlformats.org/drawingml/2006/table">
            <a:tbl>
              <a:tblPr/>
              <a:tblGrid>
                <a:gridCol w="1737360"/>
                <a:gridCol w="425196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Component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Input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16 frames x 3 crops x 64 x 64, box geometry, detection flags, landmarks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Spatial stage</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4 blocks, width 192, 3 heads, shared over 48 crops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Temporal stage</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4 blocks over 48 crop tokens + class token</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262 words, restricted to the 50 deployed</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Parameters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3,894,214 (91 k for landmarks)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623560" y="4343400"/>
            <a:ext cx="5989320" cy="1737360"/>
          </a:xfrm>
          <a:prstGeom prst="rect">
            <a:avLst/>
          </a:prstGeom>
          <a:noFill/>
          <a:ln/>
        </p:spPr>
        <p:txBody>
          <a:bodyPr wrap="square" lIns="0" tIns="0" rIns="0" bIns="0" rtlCol="0" anchor="t"/>
          <a:lstStyle/>
          <a:p>
            <a:pPr indent="0" marL="0">
              <a:buNone/>
            </a:pPr>
            <a:r>
              <a:rPr lang="en-US" sz="1500" b="1" dirty="0">
                <a:solidFill>
                  <a:schemeClr val="tx1"/>
                </a:solidFill>
              </a:rPr>
              <a:t>Why factorised: </a:t>
            </a:r>
            <a:pPr indent="0" marL="0">
              <a:buNone/>
            </a:pPr>
            <a:r>
              <a:rPr lang="en-US" sz="1500" dirty="0">
                <a:solidFill>
                  <a:schemeClr val="tx1"/>
                </a:solidFill>
              </a:rPr>
              <a:t>attending over every patch at once would take 816 tokens. The model attends over 17 tokens inside each crop, then 49 across the clip. Box geometry restores the location that cropping throws away.</a:t>
            </a:r>
            <a:endParaRPr lang="en-US" sz="15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Training algorithm and compression</a:t>
            </a:r>
            <a:endParaRPr lang="en-US" sz="3000" dirty="0"/>
          </a:p>
        </p:txBody>
      </p:sp>
      <p:pic>
        <p:nvPicPr>
          <p:cNvPr id="3" name="fig4_training_pipeline.png" descr="Training pipeline">    </p:cNvPr>
          <p:cNvPicPr>
            <a:picLocks noChangeAspect="1"/>
          </p:cNvPicPr>
          <p:nvPr/>
        </p:nvPicPr>
        <p:blipFill>
          <a:blip r:embed="rId1"/>
          <a:stretch>
            <a:fillRect/>
          </a:stretch>
        </p:blipFill>
        <p:spPr>
          <a:xfrm>
            <a:off x="1538805" y="1097280"/>
            <a:ext cx="9083911" cy="2606040"/>
          </a:xfrm>
          <a:prstGeom prst="rect">
            <a:avLst/>
          </a:prstGeom>
        </p:spPr>
      </p:pic>
      <p:sp>
        <p:nvSpPr>
          <p:cNvPr id="4" name="card 1. Self-supervised pretraining"/>
          <p:cNvSpPr/>
          <p:nvPr/>
        </p:nvSpPr>
        <p:spPr>
          <a:xfrm>
            <a:off x="548640" y="3931920"/>
            <a:ext cx="3611880" cy="2240280"/>
          </a:xfrm>
          <a:prstGeom prst="roundRect">
            <a:avLst>
              <a:gd name="adj" fmla="val 4082"/>
            </a:avLst>
          </a:prstGeom>
          <a:solidFill>
            <a:schemeClr val="bg2"/>
          </a:solidFill>
          <a:ln w="12700">
            <a:solidFill>
              <a:schemeClr val="bg2"/>
            </a:solidFill>
            <a:prstDash val="solid"/>
          </a:ln>
        </p:spPr>
      </p:sp>
      <p:sp>
        <p:nvSpPr>
          <p:cNvPr id="5" name="dot 1. Self-supervised pretraining"/>
          <p:cNvSpPr/>
          <p:nvPr/>
        </p:nvSpPr>
        <p:spPr>
          <a:xfrm>
            <a:off x="749808" y="4151376"/>
            <a:ext cx="201168" cy="201168"/>
          </a:xfrm>
          <a:prstGeom prst="ellipse">
            <a:avLst/>
          </a:prstGeom>
          <a:solidFill>
            <a:schemeClr val="accent3"/>
          </a:solidFill>
          <a:ln w="12700">
            <a:solidFill>
              <a:schemeClr val="accent3"/>
            </a:solidFill>
            <a:prstDash val="solid"/>
          </a:ln>
        </p:spPr>
      </p:sp>
      <p:sp>
        <p:nvSpPr>
          <p:cNvPr id="6" name="Text 3"/>
          <p:cNvSpPr txBox="1"/>
          <p:nvPr/>
        </p:nvSpPr>
        <p:spPr>
          <a:xfrm>
            <a:off x="1060704" y="404164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1. Self-supervised pretraining</a:t>
            </a:r>
            <a:endParaRPr lang="en-US" sz="1600" dirty="0"/>
          </a:p>
        </p:txBody>
      </p:sp>
      <p:sp>
        <p:nvSpPr>
          <p:cNvPr id="7" name="Text 4"/>
          <p:cNvSpPr txBox="1"/>
          <p:nvPr/>
        </p:nvSpPr>
        <p:spPr>
          <a:xfrm>
            <a:off x="768096" y="4535424"/>
            <a:ext cx="3191256" cy="15087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Masked image modelling (SimMIM) on 17,896 of 18,000 unlabelled iSign clips: 75 % of patches are hidden and reconstructed.</a:t>
            </a:r>
            <a:endParaRPr lang="en-US" sz="1400" dirty="0"/>
          </a:p>
        </p:txBody>
      </p:sp>
      <p:sp>
        <p:nvSpPr>
          <p:cNvPr id="8" name="card 2. Supervised training"/>
          <p:cNvSpPr/>
          <p:nvPr/>
        </p:nvSpPr>
        <p:spPr>
          <a:xfrm>
            <a:off x="4288536" y="3931920"/>
            <a:ext cx="3611880" cy="2240280"/>
          </a:xfrm>
          <a:prstGeom prst="roundRect">
            <a:avLst>
              <a:gd name="adj" fmla="val 4082"/>
            </a:avLst>
          </a:prstGeom>
          <a:solidFill>
            <a:schemeClr val="bg2"/>
          </a:solidFill>
          <a:ln w="12700">
            <a:solidFill>
              <a:schemeClr val="bg2"/>
            </a:solidFill>
            <a:prstDash val="solid"/>
          </a:ln>
        </p:spPr>
      </p:sp>
      <p:sp>
        <p:nvSpPr>
          <p:cNvPr id="9" name="dot 2. Supervised training"/>
          <p:cNvSpPr/>
          <p:nvPr/>
        </p:nvSpPr>
        <p:spPr>
          <a:xfrm>
            <a:off x="4489704" y="4151376"/>
            <a:ext cx="201168" cy="201168"/>
          </a:xfrm>
          <a:prstGeom prst="ellipse">
            <a:avLst/>
          </a:prstGeom>
          <a:solidFill>
            <a:schemeClr val="accent1"/>
          </a:solidFill>
          <a:ln w="12700">
            <a:solidFill>
              <a:schemeClr val="accent1"/>
            </a:solidFill>
            <a:prstDash val="solid"/>
          </a:ln>
        </p:spPr>
      </p:sp>
      <p:sp>
        <p:nvSpPr>
          <p:cNvPr id="10" name="Text 7"/>
          <p:cNvSpPr txBox="1"/>
          <p:nvPr/>
        </p:nvSpPr>
        <p:spPr>
          <a:xfrm>
            <a:off x="4800600" y="404164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2. Supervised training</a:t>
            </a:r>
            <a:endParaRPr lang="en-US" sz="1600" dirty="0"/>
          </a:p>
        </p:txBody>
      </p:sp>
      <p:sp>
        <p:nvSpPr>
          <p:cNvPr id="11" name="Text 8"/>
          <p:cNvSpPr txBox="1"/>
          <p:nvPr/>
        </p:nvSpPr>
        <p:spPr>
          <a:xfrm>
            <a:off x="4507992" y="4535424"/>
            <a:ext cx="3191256" cy="15087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1,000 epochs on 2,845 clips with AdamW 5e-4, mixup, stream dropout, resolution jitter and EMA. We keep the final epoch, so nothing is selected on test.</a:t>
            </a:r>
            <a:endParaRPr lang="en-US" sz="1400" dirty="0"/>
          </a:p>
        </p:txBody>
      </p:sp>
      <p:sp>
        <p:nvSpPr>
          <p:cNvPr id="12" name="card 3. 4-bit quantisation-aware"/>
          <p:cNvSpPr/>
          <p:nvPr/>
        </p:nvSpPr>
        <p:spPr>
          <a:xfrm>
            <a:off x="8028432" y="3931920"/>
            <a:ext cx="3611880" cy="2240280"/>
          </a:xfrm>
          <a:prstGeom prst="roundRect">
            <a:avLst>
              <a:gd name="adj" fmla="val 4082"/>
            </a:avLst>
          </a:prstGeom>
          <a:solidFill>
            <a:schemeClr val="bg2"/>
          </a:solidFill>
          <a:ln w="12700">
            <a:solidFill>
              <a:schemeClr val="bg2"/>
            </a:solidFill>
            <a:prstDash val="solid"/>
          </a:ln>
        </p:spPr>
      </p:sp>
      <p:sp>
        <p:nvSpPr>
          <p:cNvPr id="13" name="dot 3. 4-bit quantisation-aware"/>
          <p:cNvSpPr/>
          <p:nvPr/>
        </p:nvSpPr>
        <p:spPr>
          <a:xfrm>
            <a:off x="8229600" y="4151376"/>
            <a:ext cx="201168" cy="201168"/>
          </a:xfrm>
          <a:prstGeom prst="ellipse">
            <a:avLst/>
          </a:prstGeom>
          <a:solidFill>
            <a:schemeClr val="accent2"/>
          </a:solidFill>
          <a:ln w="12700">
            <a:solidFill>
              <a:schemeClr val="accent2"/>
            </a:solidFill>
            <a:prstDash val="solid"/>
          </a:ln>
        </p:spPr>
      </p:sp>
      <p:sp>
        <p:nvSpPr>
          <p:cNvPr id="14" name="Text 11"/>
          <p:cNvSpPr txBox="1"/>
          <p:nvPr/>
        </p:nvSpPr>
        <p:spPr>
          <a:xfrm>
            <a:off x="8540496" y="404164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3. 4-bit quantisation-aware</a:t>
            </a:r>
            <a:endParaRPr lang="en-US" sz="1600" dirty="0"/>
          </a:p>
        </p:txBody>
      </p:sp>
      <p:sp>
        <p:nvSpPr>
          <p:cNvPr id="15" name="Text 12"/>
          <p:cNvSpPr txBox="1"/>
          <p:nvPr/>
        </p:nvSpPr>
        <p:spPr>
          <a:xfrm>
            <a:off x="8247888" y="4535424"/>
            <a:ext cx="3191256" cy="15087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4-bit weights in groups of 128 with 16-bit scales, a straight-through estimator, 300 epochs. Rounding after training lost 3.1 points; QAT lost 0.6.</a:t>
            </a:r>
            <a:endParaRPr lang="en-US" sz="14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Comparing the classifier variants</a:t>
            </a:r>
            <a:endParaRPr lang="en-US" sz="3000" dirty="0"/>
          </a:p>
        </p:txBody>
      </p:sp>
      <p:graphicFrame>
        <p:nvGraphicFramePr>
          <p:cNvPr id="3" name="Chart 0" descr=""/>
          <p:cNvGraphicFramePr/>
          <p:nvPr/>
        </p:nvGraphicFramePr>
        <p:xfrm>
          <a:off x="548640" y="1188720"/>
          <a:ext cx="6949440" cy="4983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63840" y="1325880"/>
            <a:ext cx="374904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85.9 %</a:t>
            </a:r>
            <a:endParaRPr lang="en-US" sz="4000" dirty="0"/>
          </a:p>
        </p:txBody>
      </p:sp>
      <p:sp>
        <p:nvSpPr>
          <p:cNvPr id="5" name="Text 2"/>
          <p:cNvSpPr txBox="1"/>
          <p:nvPr/>
        </p:nvSpPr>
        <p:spPr>
          <a:xfrm>
            <a:off x="7863840" y="2103120"/>
            <a:ext cx="3749040" cy="457200"/>
          </a:xfrm>
          <a:prstGeom prst="rect">
            <a:avLst/>
          </a:prstGeom>
          <a:noFill/>
          <a:ln/>
        </p:spPr>
        <p:txBody>
          <a:bodyPr wrap="square" lIns="0" tIns="0" rIns="0" bIns="0" rtlCol="0" anchor="t"/>
          <a:lstStyle/>
          <a:p>
            <a:pPr indent="0" marL="0">
              <a:buNone/>
            </a:pPr>
            <a:r>
              <a:rPr lang="en-US" sz="1300" dirty="0">
                <a:solidFill>
                  <a:srgbClr val="5B6474"/>
                </a:solidFill>
              </a:rPr>
              <a:t>top-1, shipped 4-bit model (seeds 84.5 / 87.5 / 85.8)</a:t>
            </a:r>
            <a:endParaRPr lang="en-US" sz="1300" dirty="0"/>
          </a:p>
        </p:txBody>
      </p:sp>
      <p:sp>
        <p:nvSpPr>
          <p:cNvPr id="6" name="Text 3"/>
          <p:cNvSpPr txBox="1"/>
          <p:nvPr/>
        </p:nvSpPr>
        <p:spPr>
          <a:xfrm>
            <a:off x="7863840" y="2697480"/>
            <a:ext cx="374904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96.4 %</a:t>
            </a:r>
            <a:endParaRPr lang="en-US" sz="4000" dirty="0"/>
          </a:p>
        </p:txBody>
      </p:sp>
      <p:sp>
        <p:nvSpPr>
          <p:cNvPr id="7" name="Text 4"/>
          <p:cNvSpPr txBox="1"/>
          <p:nvPr/>
        </p:nvSpPr>
        <p:spPr>
          <a:xfrm>
            <a:off x="7863840" y="3474720"/>
            <a:ext cx="3749040" cy="457200"/>
          </a:xfrm>
          <a:prstGeom prst="rect">
            <a:avLst/>
          </a:prstGeom>
          <a:noFill/>
          <a:ln/>
        </p:spPr>
        <p:txBody>
          <a:bodyPr wrap="square" lIns="0" tIns="0" rIns="0" bIns="0" rtlCol="0" anchor="t"/>
          <a:lstStyle/>
          <a:p>
            <a:pPr indent="0" marL="0">
              <a:buNone/>
            </a:pPr>
            <a:r>
              <a:rPr lang="en-US" sz="1300" dirty="0">
                <a:solidFill>
                  <a:srgbClr val="5B6474"/>
                </a:solidFill>
              </a:rPr>
              <a:t>top-5: the right word is usually in the shortlist</a:t>
            </a:r>
            <a:endParaRPr lang="en-US" sz="1300" dirty="0"/>
          </a:p>
        </p:txBody>
      </p:sp>
      <p:sp>
        <p:nvSpPr>
          <p:cNvPr id="8" name="Text 5"/>
          <p:cNvSpPr txBox="1"/>
          <p:nvPr/>
        </p:nvSpPr>
        <p:spPr>
          <a:xfrm>
            <a:off x="7863840" y="4069080"/>
            <a:ext cx="374904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1.97 MiB</a:t>
            </a:r>
            <a:endParaRPr lang="en-US" sz="4000" dirty="0"/>
          </a:p>
        </p:txBody>
      </p:sp>
      <p:sp>
        <p:nvSpPr>
          <p:cNvPr id="9" name="Text 6"/>
          <p:cNvSpPr txBox="1"/>
          <p:nvPr/>
        </p:nvSpPr>
        <p:spPr>
          <a:xfrm>
            <a:off x="7863840" y="4846320"/>
            <a:ext cx="3749040" cy="457200"/>
          </a:xfrm>
          <a:prstGeom prst="rect">
            <a:avLst/>
          </a:prstGeom>
          <a:noFill/>
          <a:ln/>
        </p:spPr>
        <p:txBody>
          <a:bodyPr wrap="square" lIns="0" tIns="0" rIns="0" bIns="0" rtlCol="0" anchor="t"/>
          <a:lstStyle/>
          <a:p>
            <a:pPr indent="0" marL="0">
              <a:buNone/>
            </a:pPr>
            <a:r>
              <a:rPr lang="en-US" sz="1300" dirty="0">
                <a:solidFill>
                  <a:srgbClr val="5B6474"/>
                </a:solidFill>
              </a:rPr>
              <a:t>3.89 M parameters, 4-bit</a:t>
            </a:r>
            <a:endParaRPr lang="en-US" sz="1300" dirty="0"/>
          </a:p>
        </p:txBody>
      </p:sp>
      <p:sp>
        <p:nvSpPr>
          <p:cNvPr id="10" name="Text 7"/>
          <p:cNvSpPr txBox="1"/>
          <p:nvPr/>
        </p:nvSpPr>
        <p:spPr>
          <a:xfrm>
            <a:off x="7863840" y="5440680"/>
            <a:ext cx="3749040" cy="777240"/>
          </a:xfrm>
          <a:prstGeom prst="rect">
            <a:avLst/>
          </a:prstGeom>
          <a:noFill/>
          <a:ln/>
        </p:spPr>
        <p:txBody>
          <a:bodyPr wrap="square" lIns="0" tIns="0" rIns="0" bIns="0" rtlCol="0" anchor="ctr"/>
          <a:lstStyle/>
          <a:p>
            <a:pPr indent="0" marL="0">
              <a:buNone/>
            </a:pPr>
            <a:r>
              <a:rPr lang="en-US" sz="1200" dirty="0">
                <a:solidFill>
                  <a:srgbClr val="4B5563"/>
                </a:solidFill>
              </a:rPr>
              <a:t>Answering from all 262 words instead of the 50 gives 72.0 %, so the app restricts its answers the same way the evaluation does.</a:t>
            </a:r>
            <a:endParaRPr lang="en-US" sz="12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a GAN can help: low-resolution video</a:t>
            </a:r>
            <a:endParaRPr lang="en-US" sz="3000" dirty="0"/>
          </a:p>
        </p:txBody>
      </p:sp>
      <p:sp>
        <p:nvSpPr>
          <p:cNvPr id="3" name="step Camera video"/>
          <p:cNvSpPr/>
          <p:nvPr/>
        </p:nvSpPr>
        <p:spPr>
          <a:xfrm>
            <a:off x="548640" y="1325880"/>
            <a:ext cx="1920240" cy="822960"/>
          </a:xfrm>
          <a:prstGeom prst="roundRect">
            <a:avLst>
              <a:gd name="adj" fmla="val 11111"/>
            </a:avLst>
          </a:prstGeom>
          <a:solidFill>
            <a:schemeClr val="bg2"/>
          </a:solidFill>
          <a:ln w="12700">
            <a:solidFill>
              <a:srgbClr val="C9CFDA"/>
            </a:solidFill>
            <a:prstDash val="solid"/>
          </a:ln>
        </p:spPr>
      </p:sp>
      <p:sp>
        <p:nvSpPr>
          <p:cNvPr id="4" name="Text 2"/>
          <p:cNvSpPr txBox="1"/>
          <p:nvPr/>
        </p:nvSpPr>
        <p:spPr>
          <a:xfrm>
            <a:off x="548640" y="1325880"/>
            <a:ext cx="1920240" cy="822960"/>
          </a:xfrm>
          <a:prstGeom prst="rect">
            <a:avLst/>
          </a:prstGeom>
          <a:noFill/>
          <a:ln/>
        </p:spPr>
        <p:txBody>
          <a:bodyPr wrap="square" lIns="0" tIns="0" rIns="0" bIns="0" rtlCol="0" anchor="ctr"/>
          <a:lstStyle/>
          <a:p>
            <a:pPr algn="ctr" indent="0" marL="0">
              <a:buNone/>
            </a:pPr>
            <a:r>
              <a:rPr lang="en-US" sz="1400" b="1" dirty="0">
                <a:solidFill>
                  <a:schemeClr val="tx1"/>
                </a:solidFill>
              </a:rPr>
              <a:t>Camera video</a:t>
            </a:r>
            <a:endParaRPr lang="en-US" sz="1400" dirty="0"/>
          </a:p>
        </p:txBody>
      </p:sp>
      <p:sp>
        <p:nvSpPr>
          <p:cNvPr id="5" name="arrow 0"/>
          <p:cNvSpPr/>
          <p:nvPr/>
        </p:nvSpPr>
        <p:spPr>
          <a:xfrm>
            <a:off x="2487168" y="1737360"/>
            <a:ext cx="310896" cy="0"/>
          </a:xfrm>
          <a:prstGeom prst="line">
            <a:avLst/>
          </a:prstGeom>
          <a:noFill/>
          <a:ln w="19050">
            <a:solidFill>
              <a:srgbClr val="6B7280"/>
            </a:solidFill>
            <a:prstDash val="solid"/>
            <a:tailEnd type="triangle"/>
          </a:ln>
        </p:spPr>
      </p:sp>
      <p:sp>
        <p:nvSpPr>
          <p:cNvPr id="6" name="step Below 720p?"/>
          <p:cNvSpPr/>
          <p:nvPr/>
        </p:nvSpPr>
        <p:spPr>
          <a:xfrm>
            <a:off x="2816352" y="1325880"/>
            <a:ext cx="1920240" cy="822960"/>
          </a:xfrm>
          <a:prstGeom prst="roundRect">
            <a:avLst>
              <a:gd name="adj" fmla="val 11111"/>
            </a:avLst>
          </a:prstGeom>
          <a:solidFill>
            <a:schemeClr val="bg2"/>
          </a:solidFill>
          <a:ln w="12700">
            <a:solidFill>
              <a:srgbClr val="C9CFDA"/>
            </a:solidFill>
            <a:prstDash val="solid"/>
          </a:ln>
        </p:spPr>
      </p:sp>
      <p:sp>
        <p:nvSpPr>
          <p:cNvPr id="7" name="Text 5"/>
          <p:cNvSpPr txBox="1"/>
          <p:nvPr/>
        </p:nvSpPr>
        <p:spPr>
          <a:xfrm>
            <a:off x="2816352" y="1325880"/>
            <a:ext cx="1920240" cy="822960"/>
          </a:xfrm>
          <a:prstGeom prst="rect">
            <a:avLst/>
          </a:prstGeom>
          <a:noFill/>
          <a:ln/>
        </p:spPr>
        <p:txBody>
          <a:bodyPr wrap="square" lIns="0" tIns="0" rIns="0" bIns="0" rtlCol="0" anchor="ctr"/>
          <a:lstStyle/>
          <a:p>
            <a:pPr algn="ctr" indent="0" marL="0">
              <a:buNone/>
            </a:pPr>
            <a:r>
              <a:rPr lang="en-US" sz="1400" b="1" dirty="0">
                <a:solidFill>
                  <a:schemeClr val="tx1"/>
                </a:solidFill>
              </a:rPr>
              <a:t>Below 720p?</a:t>
            </a:r>
            <a:endParaRPr lang="en-US" sz="1400" dirty="0"/>
          </a:p>
        </p:txBody>
      </p:sp>
      <p:sp>
        <p:nvSpPr>
          <p:cNvPr id="8" name="arrow 1"/>
          <p:cNvSpPr/>
          <p:nvPr/>
        </p:nvSpPr>
        <p:spPr>
          <a:xfrm>
            <a:off x="4754880" y="1737360"/>
            <a:ext cx="310896" cy="0"/>
          </a:xfrm>
          <a:prstGeom prst="line">
            <a:avLst/>
          </a:prstGeom>
          <a:noFill/>
          <a:ln w="19050">
            <a:solidFill>
              <a:srgbClr val="6B7280"/>
            </a:solidFill>
            <a:prstDash val="solid"/>
            <a:tailEnd type="triangle"/>
          </a:ln>
        </p:spPr>
      </p:sp>
      <p:sp>
        <p:nvSpPr>
          <p:cNvPr id="9" name="step Bicubic  |  SR-GAN"/>
          <p:cNvSpPr/>
          <p:nvPr/>
        </p:nvSpPr>
        <p:spPr>
          <a:xfrm>
            <a:off x="5084064" y="1325880"/>
            <a:ext cx="1920240" cy="822960"/>
          </a:xfrm>
          <a:prstGeom prst="roundRect">
            <a:avLst>
              <a:gd name="adj" fmla="val 11111"/>
            </a:avLst>
          </a:prstGeom>
          <a:solidFill>
            <a:schemeClr val="accent1"/>
          </a:solidFill>
          <a:ln w="12700">
            <a:solidFill>
              <a:srgbClr val="2E9E6E"/>
            </a:solidFill>
            <a:prstDash val="solid"/>
          </a:ln>
        </p:spPr>
      </p:sp>
      <p:sp>
        <p:nvSpPr>
          <p:cNvPr id="10" name="Text 8"/>
          <p:cNvSpPr txBox="1"/>
          <p:nvPr/>
        </p:nvSpPr>
        <p:spPr>
          <a:xfrm>
            <a:off x="5084064" y="1325880"/>
            <a:ext cx="1920240" cy="822960"/>
          </a:xfrm>
          <a:prstGeom prst="rect">
            <a:avLst/>
          </a:prstGeom>
          <a:noFill/>
          <a:ln/>
        </p:spPr>
        <p:txBody>
          <a:bodyPr wrap="square" lIns="0" tIns="0" rIns="0" bIns="0" rtlCol="0" anchor="ctr"/>
          <a:lstStyle/>
          <a:p>
            <a:pPr algn="ctr" indent="0" marL="0">
              <a:buNone/>
            </a:pPr>
            <a:r>
              <a:rPr lang="en-US" sz="1400" b="1" dirty="0">
                <a:solidFill>
                  <a:schemeClr val="bg1"/>
                </a:solidFill>
              </a:rPr>
              <a:t>Bicubic  |  SR-GAN</a:t>
            </a:r>
            <a:endParaRPr lang="en-US" sz="1400" dirty="0"/>
          </a:p>
        </p:txBody>
      </p:sp>
      <p:sp>
        <p:nvSpPr>
          <p:cNvPr id="11" name="arrow 2"/>
          <p:cNvSpPr/>
          <p:nvPr/>
        </p:nvSpPr>
        <p:spPr>
          <a:xfrm>
            <a:off x="7022592" y="1737360"/>
            <a:ext cx="310896" cy="0"/>
          </a:xfrm>
          <a:prstGeom prst="line">
            <a:avLst/>
          </a:prstGeom>
          <a:noFill/>
          <a:ln w="19050">
            <a:solidFill>
              <a:srgbClr val="6B7280"/>
            </a:solidFill>
            <a:prstDash val="solid"/>
            <a:tailEnd type="triangle"/>
          </a:ln>
        </p:spPr>
      </p:sp>
      <p:sp>
        <p:nvSpPr>
          <p:cNvPr id="12" name="step MediaPipe hands"/>
          <p:cNvSpPr/>
          <p:nvPr/>
        </p:nvSpPr>
        <p:spPr>
          <a:xfrm>
            <a:off x="7351776" y="1325880"/>
            <a:ext cx="1920240" cy="822960"/>
          </a:xfrm>
          <a:prstGeom prst="roundRect">
            <a:avLst>
              <a:gd name="adj" fmla="val 11111"/>
            </a:avLst>
          </a:prstGeom>
          <a:solidFill>
            <a:schemeClr val="bg2"/>
          </a:solidFill>
          <a:ln w="12700">
            <a:solidFill>
              <a:srgbClr val="C9CFDA"/>
            </a:solidFill>
            <a:prstDash val="solid"/>
          </a:ln>
        </p:spPr>
      </p:sp>
      <p:sp>
        <p:nvSpPr>
          <p:cNvPr id="13" name="Text 11"/>
          <p:cNvSpPr txBox="1"/>
          <p:nvPr/>
        </p:nvSpPr>
        <p:spPr>
          <a:xfrm>
            <a:off x="7351776" y="1325880"/>
            <a:ext cx="1920240" cy="822960"/>
          </a:xfrm>
          <a:prstGeom prst="rect">
            <a:avLst/>
          </a:prstGeom>
          <a:noFill/>
          <a:ln/>
        </p:spPr>
        <p:txBody>
          <a:bodyPr wrap="square" lIns="0" tIns="0" rIns="0" bIns="0" rtlCol="0" anchor="ctr"/>
          <a:lstStyle/>
          <a:p>
            <a:pPr algn="ctr" indent="0" marL="0">
              <a:buNone/>
            </a:pPr>
            <a:r>
              <a:rPr lang="en-US" sz="1400" b="1" dirty="0">
                <a:solidFill>
                  <a:schemeClr val="tx1"/>
                </a:solidFill>
              </a:rPr>
              <a:t>MediaPipe hands</a:t>
            </a:r>
            <a:endParaRPr lang="en-US" sz="1400" dirty="0"/>
          </a:p>
        </p:txBody>
      </p:sp>
      <p:sp>
        <p:nvSpPr>
          <p:cNvPr id="14" name="arrow 3"/>
          <p:cNvSpPr/>
          <p:nvPr/>
        </p:nvSpPr>
        <p:spPr>
          <a:xfrm>
            <a:off x="9290304" y="1737360"/>
            <a:ext cx="310896" cy="0"/>
          </a:xfrm>
          <a:prstGeom prst="line">
            <a:avLst/>
          </a:prstGeom>
          <a:noFill/>
          <a:ln w="19050">
            <a:solidFill>
              <a:srgbClr val="6B7280"/>
            </a:solidFill>
            <a:prstDash val="solid"/>
            <a:tailEnd type="triangle"/>
          </a:ln>
        </p:spPr>
      </p:sp>
      <p:sp>
        <p:nvSpPr>
          <p:cNvPr id="15" name="step ISL-ViT-Tiny"/>
          <p:cNvSpPr/>
          <p:nvPr/>
        </p:nvSpPr>
        <p:spPr>
          <a:xfrm>
            <a:off x="9619488" y="1325880"/>
            <a:ext cx="1920240" cy="822960"/>
          </a:xfrm>
          <a:prstGeom prst="roundRect">
            <a:avLst>
              <a:gd name="adj" fmla="val 11111"/>
            </a:avLst>
          </a:prstGeom>
          <a:solidFill>
            <a:schemeClr val="bg2"/>
          </a:solidFill>
          <a:ln w="12700">
            <a:solidFill>
              <a:srgbClr val="C9CFDA"/>
            </a:solidFill>
            <a:prstDash val="solid"/>
          </a:ln>
        </p:spPr>
      </p:sp>
      <p:sp>
        <p:nvSpPr>
          <p:cNvPr id="16" name="Text 14"/>
          <p:cNvSpPr txBox="1"/>
          <p:nvPr/>
        </p:nvSpPr>
        <p:spPr>
          <a:xfrm>
            <a:off x="9619488" y="1325880"/>
            <a:ext cx="1920240" cy="822960"/>
          </a:xfrm>
          <a:prstGeom prst="rect">
            <a:avLst/>
          </a:prstGeom>
          <a:noFill/>
          <a:ln/>
        </p:spPr>
        <p:txBody>
          <a:bodyPr wrap="square" lIns="0" tIns="0" rIns="0" bIns="0" rtlCol="0" anchor="ctr"/>
          <a:lstStyle/>
          <a:p>
            <a:pPr algn="ctr" indent="0" marL="0">
              <a:buNone/>
            </a:pPr>
            <a:r>
              <a:rPr lang="en-US" sz="1400" b="1" dirty="0">
                <a:solidFill>
                  <a:schemeClr val="tx1"/>
                </a:solidFill>
              </a:rPr>
              <a:t>ISL-ViT-Tiny</a:t>
            </a:r>
            <a:endParaRPr lang="en-US" sz="1400" dirty="0"/>
          </a:p>
        </p:txBody>
      </p:sp>
      <p:sp>
        <p:nvSpPr>
          <p:cNvPr id="17" name="card Why here"/>
          <p:cNvSpPr/>
          <p:nvPr/>
        </p:nvSpPr>
        <p:spPr>
          <a:xfrm>
            <a:off x="548640" y="2468880"/>
            <a:ext cx="5440680" cy="2148840"/>
          </a:xfrm>
          <a:prstGeom prst="roundRect">
            <a:avLst>
              <a:gd name="adj" fmla="val 4255"/>
            </a:avLst>
          </a:prstGeom>
          <a:solidFill>
            <a:schemeClr val="bg2"/>
          </a:solidFill>
          <a:ln w="12700">
            <a:solidFill>
              <a:schemeClr val="bg2"/>
            </a:solidFill>
            <a:prstDash val="solid"/>
          </a:ln>
        </p:spPr>
      </p:sp>
      <p:sp>
        <p:nvSpPr>
          <p:cNvPr id="18" name="dot Why here"/>
          <p:cNvSpPr/>
          <p:nvPr/>
        </p:nvSpPr>
        <p:spPr>
          <a:xfrm>
            <a:off x="749808" y="2688336"/>
            <a:ext cx="201168" cy="201168"/>
          </a:xfrm>
          <a:prstGeom prst="ellipse">
            <a:avLst/>
          </a:prstGeom>
          <a:solidFill>
            <a:schemeClr val="accent1"/>
          </a:solidFill>
          <a:ln w="12700">
            <a:solidFill>
              <a:schemeClr val="accent1"/>
            </a:solidFill>
            <a:prstDash val="solid"/>
          </a:ln>
        </p:spPr>
      </p:sp>
      <p:sp>
        <p:nvSpPr>
          <p:cNvPr id="19" name="Text 17"/>
          <p:cNvSpPr txBox="1"/>
          <p:nvPr/>
        </p:nvSpPr>
        <p:spPr>
          <a:xfrm>
            <a:off x="1060704" y="2578608"/>
            <a:ext cx="4754880" cy="420624"/>
          </a:xfrm>
          <a:prstGeom prst="rect">
            <a:avLst/>
          </a:prstGeom>
          <a:noFill/>
          <a:ln/>
        </p:spPr>
        <p:txBody>
          <a:bodyPr wrap="square" lIns="0" tIns="0" rIns="0" bIns="0" rtlCol="0" anchor="ctr"/>
          <a:lstStyle/>
          <a:p>
            <a:pPr indent="0" marL="0">
              <a:buNone/>
            </a:pPr>
            <a:r>
              <a:rPr lang="en-US" sz="1600" b="1" dirty="0">
                <a:solidFill>
                  <a:schemeClr val="tx1"/>
                </a:solidFill>
              </a:rPr>
              <a:t>Why here</a:t>
            </a:r>
            <a:endParaRPr lang="en-US" sz="1600" dirty="0"/>
          </a:p>
        </p:txBody>
      </p:sp>
      <p:sp>
        <p:nvSpPr>
          <p:cNvPr id="20" name="Text 18"/>
          <p:cNvSpPr txBox="1"/>
          <p:nvPr/>
        </p:nvSpPr>
        <p:spPr>
          <a:xfrm>
            <a:off x="768096" y="3072384"/>
            <a:ext cx="5020056" cy="14173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Every clip reaches the hand detector through one resize to 720p, which used bicubic. Small, compressed video from a wearable camera would pass through exactly this step. The GAN replaces only that resize, and 1080p video never reaches it, so clean results cannot change.</a:t>
            </a:r>
            <a:endParaRPr lang="en-US" sz="1400" dirty="0"/>
          </a:p>
        </p:txBody>
      </p:sp>
      <p:sp>
        <p:nvSpPr>
          <p:cNvPr id="21" name="card How we tested it"/>
          <p:cNvSpPr/>
          <p:nvPr/>
        </p:nvSpPr>
        <p:spPr>
          <a:xfrm>
            <a:off x="6172200" y="2468880"/>
            <a:ext cx="5440680" cy="2148840"/>
          </a:xfrm>
          <a:prstGeom prst="roundRect">
            <a:avLst>
              <a:gd name="adj" fmla="val 4255"/>
            </a:avLst>
          </a:prstGeom>
          <a:solidFill>
            <a:schemeClr val="bg2"/>
          </a:solidFill>
          <a:ln w="12700">
            <a:solidFill>
              <a:schemeClr val="bg2"/>
            </a:solidFill>
            <a:prstDash val="solid"/>
          </a:ln>
        </p:spPr>
      </p:sp>
      <p:sp>
        <p:nvSpPr>
          <p:cNvPr id="22" name="dot How we tested it"/>
          <p:cNvSpPr/>
          <p:nvPr/>
        </p:nvSpPr>
        <p:spPr>
          <a:xfrm>
            <a:off x="6373368" y="2688336"/>
            <a:ext cx="201168" cy="201168"/>
          </a:xfrm>
          <a:prstGeom prst="ellipse">
            <a:avLst/>
          </a:prstGeom>
          <a:solidFill>
            <a:schemeClr val="accent3"/>
          </a:solidFill>
          <a:ln w="12700">
            <a:solidFill>
              <a:schemeClr val="accent3"/>
            </a:solidFill>
            <a:prstDash val="solid"/>
          </a:ln>
        </p:spPr>
      </p:sp>
      <p:sp>
        <p:nvSpPr>
          <p:cNvPr id="23" name="Text 21"/>
          <p:cNvSpPr txBox="1"/>
          <p:nvPr/>
        </p:nvSpPr>
        <p:spPr>
          <a:xfrm>
            <a:off x="6684264" y="2578608"/>
            <a:ext cx="4754880" cy="420624"/>
          </a:xfrm>
          <a:prstGeom prst="rect">
            <a:avLst/>
          </a:prstGeom>
          <a:noFill/>
          <a:ln/>
        </p:spPr>
        <p:txBody>
          <a:bodyPr wrap="square" lIns="0" tIns="0" rIns="0" bIns="0" rtlCol="0" anchor="ctr"/>
          <a:lstStyle/>
          <a:p>
            <a:pPr indent="0" marL="0">
              <a:buNone/>
            </a:pPr>
            <a:r>
              <a:rPr lang="en-US" sz="1600" b="1" dirty="0">
                <a:solidFill>
                  <a:schemeClr val="tx1"/>
                </a:solidFill>
              </a:rPr>
              <a:t>How we tested it</a:t>
            </a:r>
            <a:endParaRPr lang="en-US" sz="1600" dirty="0"/>
          </a:p>
        </p:txBody>
      </p:sp>
      <p:sp>
        <p:nvSpPr>
          <p:cNvPr id="24" name="Text 22"/>
          <p:cNvSpPr txBox="1"/>
          <p:nvPr/>
        </p:nvSpPr>
        <p:spPr>
          <a:xfrm>
            <a:off x="6391656" y="3072384"/>
            <a:ext cx="5020056" cy="14173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472 test clips degraded to 360p, 240p and 180p with JPEG. Each GAN is compared with bicubic and with a no-GAN control: SR-L1 for v1 and v2, v3 without the GAN for v3. Frozen 4-bit and 32-bit models, plus models fine-tuned on 360p. Paired McNemar tests under a rule fixed in advance.</a:t>
            </a:r>
            <a:endParaRPr lang="en-US" sz="1400" dirty="0"/>
          </a:p>
        </p:txBody>
      </p:sp>
      <p:sp>
        <p:nvSpPr>
          <p:cNvPr id="25" name="Text 23"/>
          <p:cNvSpPr txBox="1"/>
          <p:nvPr/>
        </p:nvSpPr>
        <p:spPr>
          <a:xfrm>
            <a:off x="548640" y="4846320"/>
            <a:ext cx="265176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a:t>
            </a:r>
            <a:endParaRPr lang="en-US" sz="4000" dirty="0"/>
          </a:p>
        </p:txBody>
      </p:sp>
      <p:sp>
        <p:nvSpPr>
          <p:cNvPr id="26" name="Text 24"/>
          <p:cNvSpPr txBox="1"/>
          <p:nvPr/>
        </p:nvSpPr>
        <p:spPr>
          <a:xfrm>
            <a:off x="548640" y="5623560"/>
            <a:ext cx="2651760" cy="457200"/>
          </a:xfrm>
          <a:prstGeom prst="rect">
            <a:avLst/>
          </a:prstGeom>
          <a:noFill/>
          <a:ln/>
        </p:spPr>
        <p:txBody>
          <a:bodyPr wrap="square" lIns="0" tIns="0" rIns="0" bIns="0" rtlCol="0" anchor="t"/>
          <a:lstStyle/>
          <a:p>
            <a:pPr indent="0" marL="0">
              <a:buNone/>
            </a:pPr>
            <a:r>
              <a:rPr lang="en-US" sz="1300" dirty="0">
                <a:solidFill>
                  <a:srgbClr val="5B6474"/>
                </a:solidFill>
              </a:rPr>
              <a:t>levels: 360p, 240p, 180p, each with JPEG</a:t>
            </a:r>
            <a:endParaRPr lang="en-US" sz="1300" dirty="0"/>
          </a:p>
        </p:txBody>
      </p:sp>
      <p:sp>
        <p:nvSpPr>
          <p:cNvPr id="27" name="Text 25"/>
          <p:cNvSpPr txBox="1"/>
          <p:nvPr/>
        </p:nvSpPr>
        <p:spPr>
          <a:xfrm>
            <a:off x="3337560" y="4846320"/>
            <a:ext cx="265176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6</a:t>
            </a:r>
            <a:endParaRPr lang="en-US" sz="4000" dirty="0"/>
          </a:p>
        </p:txBody>
      </p:sp>
      <p:sp>
        <p:nvSpPr>
          <p:cNvPr id="28" name="Text 26"/>
          <p:cNvSpPr txBox="1"/>
          <p:nvPr/>
        </p:nvSpPr>
        <p:spPr>
          <a:xfrm>
            <a:off x="3337560" y="5623560"/>
            <a:ext cx="2651760" cy="457200"/>
          </a:xfrm>
          <a:prstGeom prst="rect">
            <a:avLst/>
          </a:prstGeom>
          <a:noFill/>
          <a:ln/>
        </p:spPr>
        <p:txBody>
          <a:bodyPr wrap="square" lIns="0" tIns="0" rIns="0" bIns="0" rtlCol="0" anchor="t"/>
          <a:lstStyle/>
          <a:p>
            <a:pPr indent="0" marL="0">
              <a:buNone/>
            </a:pPr>
            <a:r>
              <a:rPr lang="en-US" sz="1300" dirty="0">
                <a:solidFill>
                  <a:srgbClr val="5B6474"/>
                </a:solidFill>
              </a:rPr>
              <a:t>front ends: bicubic, SR-L1, SR-GAN v1, v2, two v3 arms</a:t>
            </a:r>
            <a:endParaRPr lang="en-US" sz="1300" dirty="0"/>
          </a:p>
        </p:txBody>
      </p:sp>
      <p:sp>
        <p:nvSpPr>
          <p:cNvPr id="29" name="Text 27"/>
          <p:cNvSpPr txBox="1"/>
          <p:nvPr/>
        </p:nvSpPr>
        <p:spPr>
          <a:xfrm>
            <a:off x="6126480" y="4846320"/>
            <a:ext cx="265176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472</a:t>
            </a:r>
            <a:endParaRPr lang="en-US" sz="4000" dirty="0"/>
          </a:p>
        </p:txBody>
      </p:sp>
      <p:sp>
        <p:nvSpPr>
          <p:cNvPr id="30" name="Text 28"/>
          <p:cNvSpPr txBox="1"/>
          <p:nvPr/>
        </p:nvSpPr>
        <p:spPr>
          <a:xfrm>
            <a:off x="6126480" y="5623560"/>
            <a:ext cx="2651760" cy="457200"/>
          </a:xfrm>
          <a:prstGeom prst="rect">
            <a:avLst/>
          </a:prstGeom>
          <a:noFill/>
          <a:ln/>
        </p:spPr>
        <p:txBody>
          <a:bodyPr wrap="square" lIns="0" tIns="0" rIns="0" bIns="0" rtlCol="0" anchor="t"/>
          <a:lstStyle/>
          <a:p>
            <a:pPr indent="0" marL="0">
              <a:buNone/>
            </a:pPr>
            <a:r>
              <a:rPr lang="en-US" sz="1300" dirty="0">
                <a:solidFill>
                  <a:srgbClr val="5B6474"/>
                </a:solidFill>
              </a:rPr>
              <a:t>test clips, identical in every run</a:t>
            </a:r>
            <a:endParaRPr lang="en-US" sz="1300" dirty="0"/>
          </a:p>
        </p:txBody>
      </p:sp>
      <p:sp>
        <p:nvSpPr>
          <p:cNvPr id="31" name="Text 29"/>
          <p:cNvSpPr txBox="1"/>
          <p:nvPr/>
        </p:nvSpPr>
        <p:spPr>
          <a:xfrm>
            <a:off x="8915400" y="4846320"/>
            <a:ext cx="2697480" cy="77724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p &lt; 0.05</a:t>
            </a:r>
            <a:endParaRPr lang="en-US" sz="4000" dirty="0"/>
          </a:p>
        </p:txBody>
      </p:sp>
      <p:sp>
        <p:nvSpPr>
          <p:cNvPr id="32" name="Text 30"/>
          <p:cNvSpPr txBox="1"/>
          <p:nvPr/>
        </p:nvSpPr>
        <p:spPr>
          <a:xfrm>
            <a:off x="8915400" y="5623560"/>
            <a:ext cx="2697480" cy="457200"/>
          </a:xfrm>
          <a:prstGeom prst="rect">
            <a:avLst/>
          </a:prstGeom>
          <a:noFill/>
          <a:ln/>
        </p:spPr>
        <p:txBody>
          <a:bodyPr wrap="square" lIns="0" tIns="0" rIns="0" bIns="0" rtlCol="0" anchor="t"/>
          <a:lstStyle/>
          <a:p>
            <a:pPr indent="0" marL="0">
              <a:buNone/>
            </a:pPr>
            <a:r>
              <a:rPr lang="en-US" sz="1300" dirty="0">
                <a:solidFill>
                  <a:srgbClr val="5B6474"/>
                </a:solidFill>
              </a:rPr>
              <a:t>and all 3 seeds agree, fixed in advance</a:t>
            </a:r>
            <a:endParaRPr lang="en-US" sz="13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super-resolution GAN</a:t>
            </a:r>
            <a:endParaRPr lang="en-US" sz="3000" dirty="0"/>
          </a:p>
        </p:txBody>
      </p:sp>
      <p:pic>
        <p:nvPicPr>
          <p:cNvPr id="3" name="d2.png" descr="Generator, discriminator, losses and schedule">    </p:cNvPr>
          <p:cNvPicPr>
            <a:picLocks noChangeAspect="1"/>
          </p:cNvPicPr>
          <p:nvPr/>
        </p:nvPicPr>
        <p:blipFill>
          <a:blip r:embed="rId1"/>
          <a:stretch>
            <a:fillRect/>
          </a:stretch>
        </p:blipFill>
        <p:spPr>
          <a:xfrm>
            <a:off x="570847" y="1188720"/>
            <a:ext cx="11019826" cy="5074920"/>
          </a:xfrm>
          <a:prstGeom prst="rect">
            <a:avLst/>
          </a:prstGeom>
        </p:spPr>
      </p:pic>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Three GAN versions, each built for a reason</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463040"/>
                <a:gridCol w="3931920"/>
                <a:gridCol w="2743200"/>
                <a:gridCol w="292608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Version</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changed</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 we built it</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Against its no-GAN control</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r>
              <a:tr h="0">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SR-GAN v1</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Real-ESRGAN recipe: L1 + VGG19 + adversarial (BCE), 60,000 iterations from SR-L1; 0.62 M-parameter generator</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The planned design</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No reliable difference at 360p, 240p or 180p</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SR-GAN v2</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Same generator, new discriminator, 80,000 more iterations at half the learning rate</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v1's discriminator dominated: was v1 undertrained?</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Better only at 240p (+1.5); 1.2 points worse than v1 at 360p</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SR-GAN v3</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2.04 M-parameter generator, hand-landmark loss, relativistic adversarial loss, H.264 in training</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The remaining error is in the hand landmarks</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Better only at 240p (+2.4); found the most hands (77 % at 180p)</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343400"/>
            <a:ext cx="347472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 of 9</a:t>
            </a:r>
            <a:endParaRPr lang="en-US" sz="4000" dirty="0"/>
          </a:p>
        </p:txBody>
      </p:sp>
      <p:sp>
        <p:nvSpPr>
          <p:cNvPr id="5" name="Text 2"/>
          <p:cNvSpPr txBox="1"/>
          <p:nvPr/>
        </p:nvSpPr>
        <p:spPr>
          <a:xfrm>
            <a:off x="548640" y="5120640"/>
            <a:ext cx="3474720" cy="457200"/>
          </a:xfrm>
          <a:prstGeom prst="rect">
            <a:avLst/>
          </a:prstGeom>
          <a:noFill/>
          <a:ln/>
        </p:spPr>
        <p:txBody>
          <a:bodyPr wrap="square" lIns="0" tIns="0" rIns="0" bIns="0" rtlCol="0" anchor="t"/>
          <a:lstStyle/>
          <a:p>
            <a:pPr indent="0" marL="0">
              <a:buNone/>
            </a:pPr>
            <a:r>
              <a:rPr lang="en-US" sz="1300" dirty="0">
                <a:solidFill>
                  <a:srgbClr val="5B6474"/>
                </a:solidFill>
              </a:rPr>
              <a:t>GAN vs no-GAN tests passed (3 versions × 3 levels), both at 240p</a:t>
            </a:r>
            <a:endParaRPr lang="en-US" sz="1300" dirty="0"/>
          </a:p>
        </p:txBody>
      </p:sp>
      <p:sp>
        <p:nvSpPr>
          <p:cNvPr id="6" name="Text 3"/>
          <p:cNvSpPr txBox="1"/>
          <p:nvPr/>
        </p:nvSpPr>
        <p:spPr>
          <a:xfrm>
            <a:off x="4343400" y="4343400"/>
            <a:ext cx="3474720" cy="77724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−1.2</a:t>
            </a:r>
            <a:endParaRPr lang="en-US" sz="4000" dirty="0"/>
          </a:p>
        </p:txBody>
      </p:sp>
      <p:sp>
        <p:nvSpPr>
          <p:cNvPr id="7" name="Text 4"/>
          <p:cNvSpPr txBox="1"/>
          <p:nvPr/>
        </p:nvSpPr>
        <p:spPr>
          <a:xfrm>
            <a:off x="4343400" y="5120640"/>
            <a:ext cx="3474720" cy="457200"/>
          </a:xfrm>
          <a:prstGeom prst="rect">
            <a:avLst/>
          </a:prstGeom>
          <a:noFill/>
          <a:ln/>
        </p:spPr>
        <p:txBody>
          <a:bodyPr wrap="square" lIns="0" tIns="0" rIns="0" bIns="0" rtlCol="0" anchor="t"/>
          <a:lstStyle/>
          <a:p>
            <a:pPr indent="0" marL="0">
              <a:buNone/>
            </a:pPr>
            <a:r>
              <a:rPr lang="en-US" sz="1300" dirty="0">
                <a:solidFill>
                  <a:srgbClr val="5B6474"/>
                </a:solidFill>
              </a:rPr>
              <a:t>points for v2 against v1 at 360p (p = 0.021): training longer did not help</a:t>
            </a:r>
            <a:endParaRPr lang="en-US" sz="1300" dirty="0"/>
          </a:p>
        </p:txBody>
      </p:sp>
      <p:sp>
        <p:nvSpPr>
          <p:cNvPr id="8" name="Text 5"/>
          <p:cNvSpPr txBox="1"/>
          <p:nvPr/>
        </p:nvSpPr>
        <p:spPr>
          <a:xfrm>
            <a:off x="8138160" y="4343400"/>
            <a:ext cx="347472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15.5 %</a:t>
            </a:r>
            <a:endParaRPr lang="en-US" sz="4000" dirty="0"/>
          </a:p>
        </p:txBody>
      </p:sp>
      <p:sp>
        <p:nvSpPr>
          <p:cNvPr id="9" name="Text 6"/>
          <p:cNvSpPr txBox="1"/>
          <p:nvPr/>
        </p:nvSpPr>
        <p:spPr>
          <a:xfrm>
            <a:off x="8138160" y="5120640"/>
            <a:ext cx="3474720" cy="457200"/>
          </a:xfrm>
          <a:prstGeom prst="rect">
            <a:avLst/>
          </a:prstGeom>
          <a:noFill/>
          <a:ln/>
        </p:spPr>
        <p:txBody>
          <a:bodyPr wrap="square" lIns="0" tIns="0" rIns="0" bIns="0" rtlCol="0" anchor="t"/>
          <a:lstStyle/>
          <a:p>
            <a:pPr indent="0" marL="0">
              <a:buNone/>
            </a:pPr>
            <a:r>
              <a:rPr lang="en-US" sz="1300" dirty="0">
                <a:solidFill>
                  <a:srgbClr val="5B6474"/>
                </a:solidFill>
              </a:rPr>
              <a:t>of hands missed at 180p with v3, against 22.1 % with v2 and 39.3 % with bicubic</a:t>
            </a:r>
            <a:endParaRPr lang="en-US" sz="13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GAN results on degraded test video</a:t>
            </a:r>
            <a:endParaRPr lang="en-US" sz="3000" dirty="0"/>
          </a:p>
        </p:txBody>
      </p:sp>
      <p:graphicFrame>
        <p:nvGraphicFramePr>
          <p:cNvPr id="3" name="Chart 0" descr=""/>
          <p:cNvGraphicFramePr/>
          <p:nvPr/>
        </p:nvGraphicFramePr>
        <p:xfrm>
          <a:off x="548640" y="1188720"/>
          <a:ext cx="7315200" cy="5029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1325880"/>
            <a:ext cx="338328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+14.5</a:t>
            </a:r>
            <a:endParaRPr lang="en-US" sz="4000" dirty="0"/>
          </a:p>
        </p:txBody>
      </p:sp>
      <p:sp>
        <p:nvSpPr>
          <p:cNvPr id="5" name="Text 2"/>
          <p:cNvSpPr txBox="1"/>
          <p:nvPr/>
        </p:nvSpPr>
        <p:spPr>
          <a:xfrm>
            <a:off x="8229600" y="2103120"/>
            <a:ext cx="3383280" cy="457200"/>
          </a:xfrm>
          <a:prstGeom prst="rect">
            <a:avLst/>
          </a:prstGeom>
          <a:noFill/>
          <a:ln/>
        </p:spPr>
        <p:txBody>
          <a:bodyPr wrap="square" lIns="0" tIns="0" rIns="0" bIns="0" rtlCol="0" anchor="t"/>
          <a:lstStyle/>
          <a:p>
            <a:pPr indent="0" marL="0">
              <a:buNone/>
            </a:pPr>
            <a:r>
              <a:rPr lang="en-US" sz="1300" dirty="0">
                <a:solidFill>
                  <a:srgbClr val="5B6474"/>
                </a:solidFill>
              </a:rPr>
              <a:t>points at 180p for SR-GAN v2 over bicubic (p = 7 × 10⁻³²)</a:t>
            </a:r>
            <a:endParaRPr lang="en-US" sz="1300" dirty="0"/>
          </a:p>
        </p:txBody>
      </p:sp>
      <p:sp>
        <p:nvSpPr>
          <p:cNvPr id="6" name="Text 3"/>
          <p:cNvSpPr txBox="1"/>
          <p:nvPr/>
        </p:nvSpPr>
        <p:spPr>
          <a:xfrm>
            <a:off x="8229600" y="2697480"/>
            <a:ext cx="338328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+15.0</a:t>
            </a:r>
            <a:endParaRPr lang="en-US" sz="4000" dirty="0"/>
          </a:p>
        </p:txBody>
      </p:sp>
      <p:sp>
        <p:nvSpPr>
          <p:cNvPr id="7" name="Text 4"/>
          <p:cNvSpPr txBox="1"/>
          <p:nvPr/>
        </p:nvSpPr>
        <p:spPr>
          <a:xfrm>
            <a:off x="8229600" y="3474720"/>
            <a:ext cx="3383280" cy="457200"/>
          </a:xfrm>
          <a:prstGeom prst="rect">
            <a:avLst/>
          </a:prstGeom>
          <a:noFill/>
          <a:ln/>
        </p:spPr>
        <p:txBody>
          <a:bodyPr wrap="square" lIns="0" tIns="0" rIns="0" bIns="0" rtlCol="0" anchor="t"/>
          <a:lstStyle/>
          <a:p>
            <a:pPr indent="0" marL="0">
              <a:buNone/>
            </a:pPr>
            <a:r>
              <a:rPr lang="en-US" sz="1300" dirty="0">
                <a:solidFill>
                  <a:srgbClr val="5B6474"/>
                </a:solidFill>
              </a:rPr>
              <a:t>points at 180p for SR-L1, which has no GAN</a:t>
            </a:r>
            <a:endParaRPr lang="en-US" sz="1300" dirty="0"/>
          </a:p>
        </p:txBody>
      </p:sp>
      <p:sp>
        <p:nvSpPr>
          <p:cNvPr id="8" name="Text 5"/>
          <p:cNvSpPr txBox="1"/>
          <p:nvPr/>
        </p:nvSpPr>
        <p:spPr>
          <a:xfrm>
            <a:off x="8229600" y="4069080"/>
            <a:ext cx="338328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 1 point</a:t>
            </a:r>
            <a:endParaRPr lang="en-US" sz="4000" dirty="0"/>
          </a:p>
        </p:txBody>
      </p:sp>
      <p:sp>
        <p:nvSpPr>
          <p:cNvPr id="9" name="Text 6"/>
          <p:cNvSpPr txBox="1"/>
          <p:nvPr/>
        </p:nvSpPr>
        <p:spPr>
          <a:xfrm>
            <a:off x="8229600" y="4846320"/>
            <a:ext cx="3383280" cy="457200"/>
          </a:xfrm>
          <a:prstGeom prst="rect">
            <a:avLst/>
          </a:prstGeom>
          <a:noFill/>
          <a:ln/>
        </p:spPr>
        <p:txBody>
          <a:bodyPr wrap="square" lIns="0" tIns="0" rIns="0" bIns="0" rtlCol="0" anchor="t"/>
          <a:lstStyle/>
          <a:p>
            <a:pPr indent="0" marL="0">
              <a:buNone/>
            </a:pPr>
            <a:r>
              <a:rPr lang="en-US" sz="1300" dirty="0">
                <a:solidFill>
                  <a:srgbClr val="5B6474"/>
                </a:solidFill>
              </a:rPr>
              <a:t>between any two learned upscalers at 180p</a:t>
            </a:r>
            <a:endParaRPr lang="en-US" sz="1300" dirty="0"/>
          </a:p>
        </p:txBody>
      </p:sp>
      <p:sp>
        <p:nvSpPr>
          <p:cNvPr id="10" name="Text 7"/>
          <p:cNvSpPr txBox="1"/>
          <p:nvPr/>
        </p:nvSpPr>
        <p:spPr>
          <a:xfrm>
            <a:off x="8229600" y="5440680"/>
            <a:ext cx="3383280" cy="731520"/>
          </a:xfrm>
          <a:prstGeom prst="rect">
            <a:avLst/>
          </a:prstGeom>
          <a:noFill/>
          <a:ln/>
        </p:spPr>
        <p:txBody>
          <a:bodyPr wrap="square" lIns="0" tIns="0" rIns="0" bIns="0" rtlCol="0" anchor="ctr"/>
          <a:lstStyle/>
          <a:p>
            <a:pPr indent="0" marL="0">
              <a:buNone/>
            </a:pPr>
            <a:r>
              <a:rPr lang="en-US" sz="1200" dirty="0">
                <a:solidFill>
                  <a:srgbClr val="4B5563"/>
                </a:solidFill>
              </a:rPr>
              <a:t>Fine-tuned on 360p, v1 and v2 still beat bicubic by 5.2–5.7 points at 240p and 12.5–13.3 at 180p.</a:t>
            </a:r>
            <a:endParaRPr lang="en-US" sz="12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the remaining loss sits</a:t>
            </a:r>
            <a:endParaRPr lang="en-US" sz="3000" dirty="0"/>
          </a:p>
        </p:txBody>
      </p:sp>
      <p:graphicFrame>
        <p:nvGraphicFramePr>
          <p:cNvPr id="3" name="Chart 0" descr=""/>
          <p:cNvGraphicFramePr/>
          <p:nvPr/>
        </p:nvGraphicFramePr>
        <p:xfrm>
          <a:off x="548640" y="1188720"/>
          <a:ext cx="6766560" cy="5029200"/>
        </p:xfrm>
        <a:graphic xmlns:a="http://schemas.openxmlformats.org/drawingml/2006/main">
          <a:graphicData uri="http://schemas.openxmlformats.org/drawingml/2006/chart">
            <c:chart xmlns:c="http://schemas.openxmlformats.org/drawingml/2006/chart" r:id="rId1"/>
          </a:graphicData>
        </a:graphic>
      </p:graphicFrame>
      <p:sp>
        <p:nvSpPr>
          <p:cNvPr id="4" name="card Landmarks, not pixels"/>
          <p:cNvSpPr/>
          <p:nvPr/>
        </p:nvSpPr>
        <p:spPr>
          <a:xfrm>
            <a:off x="7635240" y="1234440"/>
            <a:ext cx="3977640" cy="1600200"/>
          </a:xfrm>
          <a:prstGeom prst="roundRect">
            <a:avLst>
              <a:gd name="adj" fmla="val 5714"/>
            </a:avLst>
          </a:prstGeom>
          <a:solidFill>
            <a:schemeClr val="bg2"/>
          </a:solidFill>
          <a:ln w="12700">
            <a:solidFill>
              <a:schemeClr val="bg2"/>
            </a:solidFill>
            <a:prstDash val="solid"/>
          </a:ln>
        </p:spPr>
      </p:sp>
      <p:sp>
        <p:nvSpPr>
          <p:cNvPr id="5" name="dot Landmarks, not pixels"/>
          <p:cNvSpPr/>
          <p:nvPr/>
        </p:nvSpPr>
        <p:spPr>
          <a:xfrm>
            <a:off x="7836408" y="1453896"/>
            <a:ext cx="201168" cy="201168"/>
          </a:xfrm>
          <a:prstGeom prst="ellipse">
            <a:avLst/>
          </a:prstGeom>
          <a:solidFill>
            <a:schemeClr val="accent1"/>
          </a:solidFill>
          <a:ln w="12700">
            <a:solidFill>
              <a:schemeClr val="accent1"/>
            </a:solidFill>
            <a:prstDash val="solid"/>
          </a:ln>
        </p:spPr>
      </p:sp>
      <p:sp>
        <p:nvSpPr>
          <p:cNvPr id="6" name="Text 3"/>
          <p:cNvSpPr txBox="1"/>
          <p:nvPr/>
        </p:nvSpPr>
        <p:spPr>
          <a:xfrm>
            <a:off x="8147304" y="1344168"/>
            <a:ext cx="3291840" cy="420624"/>
          </a:xfrm>
          <a:prstGeom prst="rect">
            <a:avLst/>
          </a:prstGeom>
          <a:noFill/>
          <a:ln/>
        </p:spPr>
        <p:txBody>
          <a:bodyPr wrap="square" lIns="0" tIns="0" rIns="0" bIns="0" rtlCol="0" anchor="ctr"/>
          <a:lstStyle/>
          <a:p>
            <a:pPr indent="0" marL="0">
              <a:buNone/>
            </a:pPr>
            <a:r>
              <a:rPr lang="en-US" sz="1600" b="1" dirty="0">
                <a:solidFill>
                  <a:schemeClr val="tx1"/>
                </a:solidFill>
              </a:rPr>
              <a:t>Landmarks, not pixels</a:t>
            </a:r>
            <a:endParaRPr lang="en-US" sz="1600" dirty="0"/>
          </a:p>
        </p:txBody>
      </p:sp>
      <p:sp>
        <p:nvSpPr>
          <p:cNvPr id="7" name="Text 4"/>
          <p:cNvSpPr txBox="1"/>
          <p:nvPr/>
        </p:nvSpPr>
        <p:spPr>
          <a:xfrm>
            <a:off x="7854696" y="1837944"/>
            <a:ext cx="3557016" cy="8686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With SR-GAN v2, 10.4 points are still missing at 180p: about 7.7 on the landmark side and 2.8 on the pixel side.</a:t>
            </a:r>
            <a:endParaRPr lang="en-US" sz="1400" dirty="0"/>
          </a:p>
        </p:txBody>
      </p:sp>
      <p:sp>
        <p:nvSpPr>
          <p:cNvPr id="8" name="card Detector tuning does not help"/>
          <p:cNvSpPr/>
          <p:nvPr/>
        </p:nvSpPr>
        <p:spPr>
          <a:xfrm>
            <a:off x="7635240" y="2971800"/>
            <a:ext cx="3977640" cy="1783080"/>
          </a:xfrm>
          <a:prstGeom prst="roundRect">
            <a:avLst>
              <a:gd name="adj" fmla="val 5128"/>
            </a:avLst>
          </a:prstGeom>
          <a:solidFill>
            <a:schemeClr val="bg2"/>
          </a:solidFill>
          <a:ln w="12700">
            <a:solidFill>
              <a:schemeClr val="bg2"/>
            </a:solidFill>
            <a:prstDash val="solid"/>
          </a:ln>
        </p:spPr>
      </p:sp>
      <p:sp>
        <p:nvSpPr>
          <p:cNvPr id="9" name="dot Detector tuning does not help"/>
          <p:cNvSpPr/>
          <p:nvPr/>
        </p:nvSpPr>
        <p:spPr>
          <a:xfrm>
            <a:off x="7836408" y="3191256"/>
            <a:ext cx="201168" cy="201168"/>
          </a:xfrm>
          <a:prstGeom prst="ellipse">
            <a:avLst/>
          </a:prstGeom>
          <a:solidFill>
            <a:schemeClr val="accent4"/>
          </a:solidFill>
          <a:ln w="12700">
            <a:solidFill>
              <a:schemeClr val="accent4"/>
            </a:solidFill>
            <a:prstDash val="solid"/>
          </a:ln>
        </p:spPr>
      </p:sp>
      <p:sp>
        <p:nvSpPr>
          <p:cNvPr id="10" name="Text 7"/>
          <p:cNvSpPr txBox="1"/>
          <p:nvPr/>
        </p:nvSpPr>
        <p:spPr>
          <a:xfrm>
            <a:off x="8147304" y="3081528"/>
            <a:ext cx="3291840" cy="420624"/>
          </a:xfrm>
          <a:prstGeom prst="rect">
            <a:avLst/>
          </a:prstGeom>
          <a:noFill/>
          <a:ln/>
        </p:spPr>
        <p:txBody>
          <a:bodyPr wrap="square" lIns="0" tIns="0" rIns="0" bIns="0" rtlCol="0" anchor="ctr"/>
          <a:lstStyle/>
          <a:p>
            <a:pPr indent="0" marL="0">
              <a:buNone/>
            </a:pPr>
            <a:r>
              <a:rPr lang="en-US" sz="1600" b="1" dirty="0">
                <a:solidFill>
                  <a:schemeClr val="tx1"/>
                </a:solidFill>
              </a:rPr>
              <a:t>Detector tuning does not help</a:t>
            </a:r>
            <a:endParaRPr lang="en-US" sz="1600" dirty="0"/>
          </a:p>
        </p:txBody>
      </p:sp>
      <p:sp>
        <p:nvSpPr>
          <p:cNvPr id="11" name="Text 8"/>
          <p:cNvSpPr txBox="1"/>
          <p:nvPr/>
        </p:nvSpPr>
        <p:spPr>
          <a:xfrm>
            <a:off x="7854696" y="3575304"/>
            <a:ext cx="3557016" cy="10515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Lower thresholds and wider searches found up to 99 % of hand frames, yet accuracy moved at most 0.8 points, because misplaced hands rose to 14 %.</a:t>
            </a:r>
            <a:endParaRPr lang="en-US" sz="1400" dirty="0"/>
          </a:p>
        </p:txBody>
      </p:sp>
      <p:sp>
        <p:nvSpPr>
          <p:cNvPr id="12" name="card Few invented hands"/>
          <p:cNvSpPr/>
          <p:nvPr/>
        </p:nvSpPr>
        <p:spPr>
          <a:xfrm>
            <a:off x="7635240" y="4892040"/>
            <a:ext cx="3977640" cy="1325880"/>
          </a:xfrm>
          <a:prstGeom prst="roundRect">
            <a:avLst>
              <a:gd name="adj" fmla="val 6897"/>
            </a:avLst>
          </a:prstGeom>
          <a:solidFill>
            <a:schemeClr val="bg2"/>
          </a:solidFill>
          <a:ln w="12700">
            <a:solidFill>
              <a:schemeClr val="bg2"/>
            </a:solidFill>
            <a:prstDash val="solid"/>
          </a:ln>
        </p:spPr>
      </p:sp>
      <p:sp>
        <p:nvSpPr>
          <p:cNvPr id="13" name="dot Few invented hands"/>
          <p:cNvSpPr/>
          <p:nvPr/>
        </p:nvSpPr>
        <p:spPr>
          <a:xfrm>
            <a:off x="7836408" y="5111496"/>
            <a:ext cx="201168" cy="201168"/>
          </a:xfrm>
          <a:prstGeom prst="ellipse">
            <a:avLst/>
          </a:prstGeom>
          <a:solidFill>
            <a:schemeClr val="accent3"/>
          </a:solidFill>
          <a:ln w="12700">
            <a:solidFill>
              <a:schemeClr val="accent3"/>
            </a:solidFill>
            <a:prstDash val="solid"/>
          </a:ln>
        </p:spPr>
      </p:sp>
      <p:sp>
        <p:nvSpPr>
          <p:cNvPr id="14" name="Text 11"/>
          <p:cNvSpPr txBox="1"/>
          <p:nvPr/>
        </p:nvSpPr>
        <p:spPr>
          <a:xfrm>
            <a:off x="8147304" y="5001768"/>
            <a:ext cx="3291840" cy="420624"/>
          </a:xfrm>
          <a:prstGeom prst="rect">
            <a:avLst/>
          </a:prstGeom>
          <a:noFill/>
          <a:ln/>
        </p:spPr>
        <p:txBody>
          <a:bodyPr wrap="square" lIns="0" tIns="0" rIns="0" bIns="0" rtlCol="0" anchor="ctr"/>
          <a:lstStyle/>
          <a:p>
            <a:pPr indent="0" marL="0">
              <a:buNone/>
            </a:pPr>
            <a:r>
              <a:rPr lang="en-US" sz="1600" b="1" dirty="0">
                <a:solidFill>
                  <a:schemeClr val="tx1"/>
                </a:solidFill>
              </a:rPr>
              <a:t>Few invented hands</a:t>
            </a:r>
            <a:endParaRPr lang="en-US" sz="1600" dirty="0"/>
          </a:p>
        </p:txBody>
      </p:sp>
      <p:sp>
        <p:nvSpPr>
          <p:cNvPr id="15" name="Text 12"/>
          <p:cNvSpPr txBox="1"/>
          <p:nvPr/>
        </p:nvSpPr>
        <p:spPr>
          <a:xfrm>
            <a:off x="7854696" y="5495544"/>
            <a:ext cx="3557016" cy="5943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Hands found only in degraded video at 180p: 1.9 % with bicubic, 2.6 % with SR-GAN v2, 3.1 % with v3.</a:t>
            </a:r>
            <a:endParaRPr lang="en-US" sz="14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SR-GAN v3: trained to keep the hand joints</a:t>
            </a:r>
            <a:endParaRPr lang="en-US" sz="3000" dirty="0"/>
          </a:p>
        </p:txBody>
      </p:sp>
      <p:sp>
        <p:nvSpPr>
          <p:cNvPr id="3" name="card Hand-landmark proxy"/>
          <p:cNvSpPr/>
          <p:nvPr/>
        </p:nvSpPr>
        <p:spPr>
          <a:xfrm>
            <a:off x="548640" y="1234440"/>
            <a:ext cx="3657600" cy="3429000"/>
          </a:xfrm>
          <a:prstGeom prst="roundRect">
            <a:avLst>
              <a:gd name="adj" fmla="val 2667"/>
            </a:avLst>
          </a:prstGeom>
          <a:solidFill>
            <a:schemeClr val="bg2"/>
          </a:solidFill>
          <a:ln w="12700">
            <a:solidFill>
              <a:schemeClr val="bg2"/>
            </a:solidFill>
            <a:prstDash val="solid"/>
          </a:ln>
        </p:spPr>
      </p:sp>
      <p:sp>
        <p:nvSpPr>
          <p:cNvPr id="4" name="dot Hand-landmark proxy"/>
          <p:cNvSpPr/>
          <p:nvPr/>
        </p:nvSpPr>
        <p:spPr>
          <a:xfrm>
            <a:off x="749808" y="1453896"/>
            <a:ext cx="201168" cy="201168"/>
          </a:xfrm>
          <a:prstGeom prst="ellipse">
            <a:avLst/>
          </a:prstGeom>
          <a:solidFill>
            <a:schemeClr val="accent6"/>
          </a:solidFill>
          <a:ln w="12700">
            <a:solidFill>
              <a:schemeClr val="accent6"/>
            </a:solidFill>
            <a:prstDash val="solid"/>
          </a:ln>
        </p:spPr>
      </p:sp>
      <p:sp>
        <p:nvSpPr>
          <p:cNvPr id="5" name="Text 3"/>
          <p:cNvSpPr txBox="1"/>
          <p:nvPr/>
        </p:nvSpPr>
        <p:spPr>
          <a:xfrm>
            <a:off x="1060704" y="1344168"/>
            <a:ext cx="2971800" cy="420624"/>
          </a:xfrm>
          <a:prstGeom prst="rect">
            <a:avLst/>
          </a:prstGeom>
          <a:noFill/>
          <a:ln/>
        </p:spPr>
        <p:txBody>
          <a:bodyPr wrap="square" lIns="0" tIns="0" rIns="0" bIns="0" rtlCol="0" anchor="ctr"/>
          <a:lstStyle/>
          <a:p>
            <a:pPr indent="0" marL="0">
              <a:buNone/>
            </a:pPr>
            <a:r>
              <a:rPr lang="en-US" sz="1600" b="1" dirty="0">
                <a:solidFill>
                  <a:schemeClr val="tx1"/>
                </a:solidFill>
              </a:rPr>
              <a:t>Hand-landmark proxy</a:t>
            </a:r>
            <a:endParaRPr lang="en-US" sz="1600" dirty="0"/>
          </a:p>
        </p:txBody>
      </p:sp>
      <p:sp>
        <p:nvSpPr>
          <p:cNvPr id="6" name="Text 4"/>
          <p:cNvSpPr txBox="1"/>
          <p:nvPr/>
        </p:nvSpPr>
        <p:spPr>
          <a:xfrm>
            <a:off x="768096" y="1837944"/>
            <a:ext cx="3236976" cy="26974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 ResNet-18 with a heatmap head, trained on 43,682 verified hand crops to read MediaPipe's 21 joints.</a:t>
            </a:r>
            <a:endParaRPr lang="en-US" sz="1400" dirty="0"/>
          </a:p>
          <a:p>
            <a:pPr indent="0" marL="0">
              <a:spcAft>
                <a:spcPts val="400"/>
              </a:spcAft>
              <a:buNone/>
            </a:pPr>
            <a:endParaRPr lang="en-US" sz="1400" dirty="0"/>
          </a:p>
          <a:p>
            <a:pPr indent="0" marL="0">
              <a:spcAft>
                <a:spcPts val="400"/>
              </a:spcAft>
              <a:buNone/>
            </a:pPr>
            <a:r>
              <a:rPr lang="en-US" sz="1400" dirty="0">
                <a:solidFill>
                  <a:schemeClr val="tx1"/>
                </a:solidFill>
              </a:rPr>
              <a:t>On validation crops its error is 0.0215 of the crop, with 91.4 % of points within 0.05 (MediaPipe against itself: 0.041).</a:t>
            </a:r>
            <a:endParaRPr lang="en-US" sz="1400" dirty="0"/>
          </a:p>
          <a:p>
            <a:pPr indent="0" marL="0">
              <a:spcAft>
                <a:spcPts val="400"/>
              </a:spcAft>
              <a:buNone/>
            </a:pPr>
            <a:endParaRPr lang="en-US" sz="1400" dirty="0"/>
          </a:p>
          <a:p>
            <a:pPr indent="0" marL="0">
              <a:spcAft>
                <a:spcPts val="400"/>
              </a:spcAft>
              <a:buNone/>
            </a:pPr>
            <a:r>
              <a:rPr lang="en-US" sz="1400" dirty="0">
                <a:solidFill>
                  <a:schemeClr val="tx1"/>
                </a:solidFill>
              </a:rPr>
              <a:t>The generator is penalised when the proxy reads different joints in its output than in the original.</a:t>
            </a:r>
            <a:endParaRPr lang="en-US" sz="1400" dirty="0"/>
          </a:p>
        </p:txBody>
      </p:sp>
      <p:graphicFrame>
        <p:nvGraphicFramePr>
          <p:cNvPr id="7" name="Chart 0" descr=""/>
          <p:cNvGraphicFramePr/>
          <p:nvPr/>
        </p:nvGraphicFramePr>
        <p:xfrm>
          <a:off x="4434840" y="1188720"/>
          <a:ext cx="717804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4434840" y="4892040"/>
            <a:ext cx="7178040" cy="1325880"/>
          </a:xfrm>
          <a:prstGeom prst="rect">
            <a:avLst/>
          </a:prstGeom>
          <a:noFill/>
          <a:ln/>
        </p:spPr>
        <p:txBody>
          <a:bodyPr wrap="square" lIns="0" tIns="0" rIns="0" bIns="0" rtlCol="0" anchor="t"/>
          <a:lstStyle/>
          <a:p>
            <a:pPr indent="0" marL="0">
              <a:buNone/>
            </a:pPr>
            <a:r>
              <a:rPr lang="en-US" sz="1400" b="1" dirty="0">
                <a:solidFill>
                  <a:schemeClr val="tx1"/>
                </a:solidFill>
              </a:rPr>
              <a:t>On validation it found more hands (73.3 % vs 63.3 % for v2 at 180p). </a:t>
            </a:r>
            <a:pPr indent="0" marL="0">
              <a:buNone/>
            </a:pPr>
            <a:r>
              <a:rPr lang="en-US" sz="1400" dirty="0">
                <a:solidFill>
                  <a:schemeClr val="tx1"/>
                </a:solidFill>
              </a:rPr>
              <a:t>On the test set it was not reliably better than v2 or SR-L1, and v3 without the GAN was 3.1 points worse than v2 at 240p. Better detection did not become better classification.</a:t>
            </a:r>
            <a:endParaRPr lang="en-US" sz="1400" dirty="0"/>
          </a:p>
        </p:txBody>
      </p:sp>
      <p:sp>
        <p:nvSpPr>
          <p:cNvPr id="9" name="Text 6"/>
          <p:cNvSpPr txBox="1"/>
          <p:nvPr/>
        </p:nvSpPr>
        <p:spPr>
          <a:xfrm>
            <a:off x="548640" y="4846320"/>
            <a:ext cx="365760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a:t>
            </a:r>
            <a:endParaRPr lang="en-US" sz="4000" dirty="0"/>
          </a:p>
        </p:txBody>
      </p:sp>
      <p:sp>
        <p:nvSpPr>
          <p:cNvPr id="10" name="Text 7"/>
          <p:cNvSpPr txBox="1"/>
          <p:nvPr/>
        </p:nvSpPr>
        <p:spPr>
          <a:xfrm>
            <a:off x="548640" y="5623560"/>
            <a:ext cx="3657600" cy="457200"/>
          </a:xfrm>
          <a:prstGeom prst="rect">
            <a:avLst/>
          </a:prstGeom>
          <a:noFill/>
          <a:ln/>
        </p:spPr>
        <p:txBody>
          <a:bodyPr wrap="square" lIns="0" tIns="0" rIns="0" bIns="0" rtlCol="0" anchor="t"/>
          <a:lstStyle/>
          <a:p>
            <a:pPr indent="0" marL="0">
              <a:buNone/>
            </a:pPr>
            <a:r>
              <a:rPr lang="en-US" sz="1300" dirty="0">
                <a:solidFill>
                  <a:srgbClr val="5B6474"/>
                </a:solidFill>
              </a:rPr>
              <a:t>points for v3 without the GAN against v2 at 240p (p = 5 × 10⁻⁶)</a:t>
            </a:r>
            <a:endParaRPr lang="en-US" sz="13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interface, connected to the models</a:t>
            </a:r>
            <a:endParaRPr lang="en-US" sz="3000" dirty="0"/>
          </a:p>
        </p:txBody>
      </p:sp>
      <p:sp>
        <p:nvSpPr>
          <p:cNvPr id="3" name="card ui_capture_crop.png"/>
          <p:cNvSpPr/>
          <p:nvPr/>
        </p:nvSpPr>
        <p:spPr>
          <a:xfrm>
            <a:off x="548640" y="1188720"/>
            <a:ext cx="6675120" cy="3108960"/>
          </a:xfrm>
          <a:prstGeom prst="roundRect">
            <a:avLst>
              <a:gd name="adj" fmla="val 3529"/>
            </a:avLst>
          </a:prstGeom>
          <a:solidFill>
            <a:schemeClr val="bg2"/>
          </a:solidFill>
          <a:ln w="12700">
            <a:solidFill>
              <a:schemeClr val="bg2"/>
            </a:solidFill>
            <a:prstDash val="solid"/>
          </a:ln>
        </p:spPr>
      </p:sp>
      <p:pic>
        <p:nvPicPr>
          <p:cNvPr id="4" name="ui_capture_crop.png" descr="Capture screen">    </p:cNvPr>
          <p:cNvPicPr>
            <a:picLocks noChangeAspect="1"/>
          </p:cNvPicPr>
          <p:nvPr/>
        </p:nvPicPr>
        <p:blipFill>
          <a:blip r:embed="rId1"/>
          <a:stretch>
            <a:fillRect/>
          </a:stretch>
        </p:blipFill>
        <p:spPr>
          <a:xfrm>
            <a:off x="658368" y="1344473"/>
            <a:ext cx="6455664" cy="2797454"/>
          </a:xfrm>
          <a:prstGeom prst="rect">
            <a:avLst/>
          </a:prstGeom>
        </p:spPr>
      </p:pic>
      <p:sp>
        <p:nvSpPr>
          <p:cNvPr id="5" name="card ui_notsure_crop.png"/>
          <p:cNvSpPr/>
          <p:nvPr/>
        </p:nvSpPr>
        <p:spPr>
          <a:xfrm>
            <a:off x="548640" y="4434840"/>
            <a:ext cx="3291840" cy="1783080"/>
          </a:xfrm>
          <a:prstGeom prst="roundRect">
            <a:avLst>
              <a:gd name="adj" fmla="val 6154"/>
            </a:avLst>
          </a:prstGeom>
          <a:solidFill>
            <a:schemeClr val="bg2"/>
          </a:solidFill>
          <a:ln w="12700">
            <a:solidFill>
              <a:schemeClr val="bg2"/>
            </a:solidFill>
            <a:prstDash val="solid"/>
          </a:ln>
        </p:spPr>
      </p:sp>
      <p:pic>
        <p:nvPicPr>
          <p:cNvPr id="6" name="ui_notsure_crop.png" descr="Not sure screen">    </p:cNvPr>
          <p:cNvPicPr>
            <a:picLocks noChangeAspect="1"/>
          </p:cNvPicPr>
          <p:nvPr/>
        </p:nvPicPr>
        <p:blipFill>
          <a:blip r:embed="rId2"/>
          <a:stretch>
            <a:fillRect/>
          </a:stretch>
        </p:blipFill>
        <p:spPr>
          <a:xfrm>
            <a:off x="658368" y="4615891"/>
            <a:ext cx="3072384" cy="1420978"/>
          </a:xfrm>
          <a:prstGeom prst="rect">
            <a:avLst/>
          </a:prstGeom>
        </p:spPr>
      </p:pic>
      <p:sp>
        <p:nvSpPr>
          <p:cNvPr id="7" name="card ui_sentence_crop.png"/>
          <p:cNvSpPr/>
          <p:nvPr/>
        </p:nvSpPr>
        <p:spPr>
          <a:xfrm>
            <a:off x="3931920" y="4434840"/>
            <a:ext cx="3291840" cy="1783080"/>
          </a:xfrm>
          <a:prstGeom prst="roundRect">
            <a:avLst>
              <a:gd name="adj" fmla="val 6154"/>
            </a:avLst>
          </a:prstGeom>
          <a:solidFill>
            <a:schemeClr val="bg2"/>
          </a:solidFill>
          <a:ln w="12700">
            <a:solidFill>
              <a:schemeClr val="bg2"/>
            </a:solidFill>
            <a:prstDash val="solid"/>
          </a:ln>
        </p:spPr>
      </p:sp>
      <p:pic>
        <p:nvPicPr>
          <p:cNvPr id="8" name="ui_sentence_crop.png" descr="Sentence screen">    </p:cNvPr>
          <p:cNvPicPr>
            <a:picLocks noChangeAspect="1"/>
          </p:cNvPicPr>
          <p:nvPr/>
        </p:nvPicPr>
        <p:blipFill>
          <a:blip r:embed="rId3"/>
          <a:stretch>
            <a:fillRect/>
          </a:stretch>
        </p:blipFill>
        <p:spPr>
          <a:xfrm>
            <a:off x="4041648" y="4750308"/>
            <a:ext cx="3072384" cy="1152144"/>
          </a:xfrm>
          <a:prstGeom prst="rect">
            <a:avLst/>
          </a:prstGeom>
        </p:spPr>
      </p:pic>
      <p:sp>
        <p:nvSpPr>
          <p:cNvPr id="9" name="Text 4"/>
          <p:cNvSpPr txBox="1"/>
          <p:nvPr/>
        </p:nvSpPr>
        <p:spPr>
          <a:xfrm>
            <a:off x="7543800" y="1234440"/>
            <a:ext cx="4069080" cy="411480"/>
          </a:xfrm>
          <a:prstGeom prst="rect">
            <a:avLst/>
          </a:prstGeom>
          <a:noFill/>
          <a:ln/>
        </p:spPr>
        <p:txBody>
          <a:bodyPr wrap="square" lIns="0" tIns="0" rIns="0" bIns="0" rtlCol="0" anchor="ctr"/>
          <a:lstStyle/>
          <a:p>
            <a:pPr indent="0" marL="0">
              <a:buNone/>
            </a:pPr>
            <a:r>
              <a:rPr lang="en-US" sz="1800" b="1" dirty="0">
                <a:solidFill>
                  <a:schemeClr val="tx1"/>
                </a:solidFill>
              </a:rPr>
              <a:t>Seven screens</a:t>
            </a:r>
            <a:endParaRPr lang="en-US" sz="1800" dirty="0"/>
          </a:p>
        </p:txBody>
      </p:sp>
      <p:sp>
        <p:nvSpPr>
          <p:cNvPr id="10" name="Text 5"/>
          <p:cNvSpPr txBox="1"/>
          <p:nvPr/>
        </p:nvSpPr>
        <p:spPr>
          <a:xfrm>
            <a:off x="7543800" y="1737360"/>
            <a:ext cx="406908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Capture: camera, video file or one of 10 held-out demo clips</a:t>
            </a:r>
            <a:endParaRPr lang="en-US" sz="1400" dirty="0"/>
          </a:p>
          <a:p>
            <a:pPr marL="342900" indent="-342900">
              <a:spcAft>
                <a:spcPts val="800"/>
              </a:spcAft>
              <a:buSzPct val="100000"/>
              <a:buChar char="•"/>
            </a:pPr>
            <a:r>
              <a:rPr lang="en-US" sz="1400" dirty="0">
                <a:solidFill>
                  <a:schemeClr val="tx1"/>
                </a:solidFill>
              </a:rPr>
              <a:t>Not sure: shortlist when confidence &lt; threshold</a:t>
            </a:r>
            <a:endParaRPr lang="en-US" sz="1400" dirty="0"/>
          </a:p>
          <a:p>
            <a:pPr marL="342900" indent="-342900">
              <a:spcAft>
                <a:spcPts val="800"/>
              </a:spcAft>
              <a:buSzPct val="100000"/>
              <a:buChar char="•"/>
            </a:pPr>
            <a:r>
              <a:rPr lang="en-US" sz="1400" dirty="0">
                <a:solidFill>
                  <a:schemeClr val="tx1"/>
                </a:solidFill>
              </a:rPr>
              <a:t>Sentence: accepted words, speak, copy, export</a:t>
            </a:r>
            <a:endParaRPr lang="en-US" sz="1400" dirty="0"/>
          </a:p>
          <a:p>
            <a:pPr marL="342900" indent="-342900">
              <a:spcAft>
                <a:spcPts val="800"/>
              </a:spcAft>
              <a:buSzPct val="100000"/>
              <a:buChar char="•"/>
            </a:pPr>
            <a:r>
              <a:rPr lang="en-US" sz="1400" dirty="0">
                <a:solidFill>
                  <a:schemeClr val="tx1"/>
                </a:solidFill>
              </a:rPr>
              <a:t>Settings: threshold and views</a:t>
            </a:r>
            <a:endParaRPr lang="en-US" sz="1400" dirty="0"/>
          </a:p>
          <a:p>
            <a:pPr marL="342900" indent="-342900">
              <a:spcAft>
                <a:spcPts val="800"/>
              </a:spcAft>
              <a:buSzPct val="100000"/>
              <a:buChar char="•"/>
            </a:pPr>
            <a:r>
              <a:rPr lang="en-US" sz="1400" dirty="0">
                <a:solidFill>
                  <a:schemeClr val="tx1"/>
                </a:solidFill>
              </a:rPr>
              <a:t>Detection: where each crop came from</a:t>
            </a:r>
            <a:endParaRPr lang="en-US" sz="1400" dirty="0"/>
          </a:p>
          <a:p>
            <a:pPr marL="342900" indent="-342900">
              <a:spcAft>
                <a:spcPts val="800"/>
              </a:spcAft>
              <a:buSzPct val="100000"/>
              <a:buChar char="•"/>
            </a:pPr>
            <a:r>
              <a:rPr lang="en-US" sz="1400" dirty="0">
                <a:solidFill>
                  <a:schemeClr val="tx1"/>
                </a:solidFill>
              </a:rPr>
              <a:t>Vocabulary: per-word recall on unseen sessions</a:t>
            </a:r>
            <a:endParaRPr lang="en-US" sz="1400" dirty="0"/>
          </a:p>
          <a:p>
            <a:pPr marL="342900" indent="-342900">
              <a:spcAft>
                <a:spcPts val="800"/>
              </a:spcAft>
              <a:buSzPct val="100000"/>
              <a:buChar char="•"/>
            </a:pPr>
            <a:r>
              <a:rPr lang="en-US" sz="1400" dirty="0">
                <a:solidFill>
                  <a:schemeClr val="tx1"/>
                </a:solidFill>
              </a:rPr>
              <a:t>Enrolment: record new signers for training</a:t>
            </a:r>
            <a:endParaRPr lang="en-US" sz="1400" dirty="0"/>
          </a:p>
        </p:txBody>
      </p:sp>
      <p:sp>
        <p:nvSpPr>
          <p:cNvPr id="11" name="Text 6"/>
          <p:cNvSpPr txBox="1"/>
          <p:nvPr/>
        </p:nvSpPr>
        <p:spPr>
          <a:xfrm>
            <a:off x="7543800" y="5394960"/>
            <a:ext cx="4069080" cy="822960"/>
          </a:xfrm>
          <a:prstGeom prst="rect">
            <a:avLst/>
          </a:prstGeom>
          <a:noFill/>
          <a:ln/>
        </p:spPr>
        <p:txBody>
          <a:bodyPr wrap="square" lIns="0" tIns="0" rIns="0" bIns="0" rtlCol="0" anchor="ctr"/>
          <a:lstStyle/>
          <a:p>
            <a:pPr indent="0" marL="0">
              <a:buNone/>
            </a:pPr>
            <a:r>
              <a:rPr lang="en-US" sz="1200" dirty="0">
                <a:solidFill>
                  <a:srgbClr val="4B5563"/>
                </a:solidFill>
              </a:rPr>
              <a:t>Runs any trained checkpoint behind either upscaling front end. It is reached over an SSH tunnel, which also lets the browser use the camera.</a:t>
            </a:r>
            <a:endParaRPr lang="en-US" sz="12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Testing the interface with the models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651760"/>
                <a:gridCol w="4206240"/>
                <a:gridCol w="42062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Screens render</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Chromium, 7 screens at 1366 and 1920 px</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No console errors</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Live answers</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10 demo clips on the live server; 4 also via the Capture screen</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9/9 reliable clips correct (66–97 %); look-alike → Not sure</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Same answers as the evaluation</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App vs offline result, same clips and model</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8 of 8 clips agree</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Vocabulary restriction</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50-word vs 262-word answers</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Matches the 85.9 % setting (262 words: 72.0 %)</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GAN front end in the app</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180p copy of a demo clip, SR-GAN on</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Read correctly</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Latency</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Desktop CPU, 6 views, end to end</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5–9 s per clip</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bl>
          </a:graphicData>
        </a:graphic>
      </p:graphicFrame>
      <p:sp>
        <p:nvSpPr>
          <p:cNvPr id="4" name="card ui_capture_samples.png"/>
          <p:cNvSpPr/>
          <p:nvPr/>
        </p:nvSpPr>
        <p:spPr>
          <a:xfrm>
            <a:off x="548640" y="4160520"/>
            <a:ext cx="5486400" cy="2103120"/>
          </a:xfrm>
          <a:prstGeom prst="roundRect">
            <a:avLst>
              <a:gd name="adj" fmla="val 5217"/>
            </a:avLst>
          </a:prstGeom>
          <a:solidFill>
            <a:schemeClr val="bg2"/>
          </a:solidFill>
          <a:ln w="12700">
            <a:solidFill>
              <a:schemeClr val="bg2"/>
            </a:solidFill>
            <a:prstDash val="solid"/>
          </a:ln>
        </p:spPr>
      </p:sp>
      <p:pic>
        <p:nvPicPr>
          <p:cNvPr id="5" name="ui_capture_samples.png" descr="Demo clips with verdicts">    </p:cNvPr>
          <p:cNvPicPr>
            <a:picLocks noChangeAspect="1"/>
          </p:cNvPicPr>
          <p:nvPr/>
        </p:nvPicPr>
        <p:blipFill>
          <a:blip r:embed="rId1"/>
          <a:stretch>
            <a:fillRect/>
          </a:stretch>
        </p:blipFill>
        <p:spPr>
          <a:xfrm>
            <a:off x="1784909" y="4270248"/>
            <a:ext cx="3013862" cy="1883664"/>
          </a:xfrm>
          <a:prstGeom prst="rect">
            <a:avLst/>
          </a:prstGeom>
        </p:spPr>
      </p:pic>
      <p:sp>
        <p:nvSpPr>
          <p:cNvPr id="6" name="card ui_diagnostics.png"/>
          <p:cNvSpPr/>
          <p:nvPr/>
        </p:nvSpPr>
        <p:spPr>
          <a:xfrm>
            <a:off x="6126480" y="4160520"/>
            <a:ext cx="5486400" cy="2103120"/>
          </a:xfrm>
          <a:prstGeom prst="roundRect">
            <a:avLst>
              <a:gd name="adj" fmla="val 5217"/>
            </a:avLst>
          </a:prstGeom>
          <a:solidFill>
            <a:schemeClr val="bg2"/>
          </a:solidFill>
          <a:ln w="12700">
            <a:solidFill>
              <a:schemeClr val="bg2"/>
            </a:solidFill>
            <a:prstDash val="solid"/>
          </a:ln>
        </p:spPr>
      </p:sp>
      <p:pic>
        <p:nvPicPr>
          <p:cNvPr id="7" name="ui_diagnostics.png" descr="Detection screen">    </p:cNvPr>
          <p:cNvPicPr>
            <a:picLocks noChangeAspect="1"/>
          </p:cNvPicPr>
          <p:nvPr/>
        </p:nvPicPr>
        <p:blipFill>
          <a:blip r:embed="rId2"/>
          <a:stretch>
            <a:fillRect/>
          </a:stretch>
        </p:blipFill>
        <p:spPr>
          <a:xfrm>
            <a:off x="7362749" y="4270248"/>
            <a:ext cx="3013862" cy="1883664"/>
          </a:xfrm>
          <a:prstGeom prst="rect">
            <a:avLst/>
          </a:prstGeom>
        </p:spPr>
      </p:pic>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640080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What we found</a:t>
            </a:r>
            <a:endParaRPr lang="en-US" sz="4800" dirty="0"/>
          </a:p>
        </p:txBody>
      </p:sp>
      <p:sp>
        <p:nvSpPr>
          <p:cNvPr id="3" name="Text 1"/>
          <p:cNvSpPr txBox="1"/>
          <p:nvPr/>
        </p:nvSpPr>
        <p:spPr>
          <a:xfrm>
            <a:off x="640080" y="6263640"/>
            <a:ext cx="10972800" cy="320040"/>
          </a:xfrm>
          <a:prstGeom prst="rect">
            <a:avLst/>
          </a:prstGeom>
          <a:noFill/>
          <a:ln/>
        </p:spPr>
        <p:txBody>
          <a:bodyPr wrap="square" lIns="0" tIns="0" rIns="0" bIns="0" rtlCol="0" anchor="ctr"/>
          <a:lstStyle/>
          <a:p>
            <a:pPr indent="0" marL="0">
              <a:buNone/>
            </a:pPr>
            <a:r>
              <a:rPr lang="en-US" sz="1100" dirty="0">
                <a:solidFill>
                  <a:srgbClr val="9AA3B2"/>
                </a:solidFill>
              </a:rPr>
              <a:t>Team 3 · Yalamanchi Kushal (CB.SC.U4CSE23766) · Nethi Kushala Kumar (CB.SC.U4CSE23735) · Dhruseek Rishi Menon (CB.SC.U4CSE23716)</a:t>
            </a:r>
            <a:endParaRPr lang="en-US" sz="1100" dirty="0"/>
          </a:p>
        </p:txBody>
      </p:sp>
      <p:sp>
        <p:nvSpPr>
          <p:cNvPr id="4" name="Text 2"/>
          <p:cNvSpPr txBox="1"/>
          <p:nvPr/>
        </p:nvSpPr>
        <p:spPr>
          <a:xfrm>
            <a:off x="640080" y="3017520"/>
            <a:ext cx="65836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E5E9F0"/>
                </a:solidFill>
              </a:rPr>
              <a:t>85.9 % top-1 on unseen sessions from a 1.97 MiB model. Under the same recipe, a random split scored about 28 points higher.</a:t>
            </a:r>
            <a:endParaRPr lang="en-US" sz="1700" dirty="0"/>
          </a:p>
          <a:p>
            <a:pPr marL="342900" indent="-342900">
              <a:spcAft>
                <a:spcPts val="1000"/>
              </a:spcAft>
              <a:buSzPct val="100000"/>
              <a:buChar char="•"/>
            </a:pPr>
            <a:r>
              <a:rPr lang="en-US" sz="1700" dirty="0">
                <a:solidFill>
                  <a:srgbClr val="E5E9F0"/>
                </a:solidFill>
              </a:rPr>
              <a:t>A learned upscaler recovers up to 15 points on 180p video. Across three GAN versions, the adversarial loss beat its no-GAN control in 2 of 9 tests.</a:t>
            </a:r>
            <a:endParaRPr lang="en-US" sz="1700" dirty="0"/>
          </a:p>
          <a:p>
            <a:pPr marL="342900" indent="-342900">
              <a:spcAft>
                <a:spcPts val="1000"/>
              </a:spcAft>
              <a:buSzPct val="100000"/>
              <a:buChar char="•"/>
            </a:pPr>
            <a:r>
              <a:rPr lang="en-US" sz="1700" dirty="0">
                <a:solidFill>
                  <a:srgbClr val="E5E9F0"/>
                </a:solidFill>
              </a:rPr>
              <a:t>After upscaling, most of the remaining error is in where the hand joints are placed, not in the pixels.</a:t>
            </a:r>
            <a:endParaRPr lang="en-US" sz="1700" dirty="0"/>
          </a:p>
          <a:p>
            <a:pPr marL="342900" indent="-342900">
              <a:spcAft>
                <a:spcPts val="1000"/>
              </a:spcAft>
              <a:buSzPct val="100000"/>
              <a:buChar char="•"/>
            </a:pPr>
            <a:r>
              <a:rPr lang="en-US" sz="1700" dirty="0">
                <a:solidFill>
                  <a:srgbClr val="E5E9F0"/>
                </a:solidFill>
              </a:rPr>
              <a:t>The app gives the same answers as the offline evaluation on every clip checked.</a:t>
            </a:r>
            <a:endParaRPr lang="en-US" sz="1700" dirty="0"/>
          </a:p>
        </p:txBody>
      </p:sp>
      <p:sp>
        <p:nvSpPr>
          <p:cNvPr id="5" name="next steps card"/>
          <p:cNvSpPr/>
          <p:nvPr/>
        </p:nvSpPr>
        <p:spPr>
          <a:xfrm>
            <a:off x="7635240" y="1463040"/>
            <a:ext cx="3977640" cy="4297680"/>
          </a:xfrm>
          <a:prstGeom prst="roundRect">
            <a:avLst>
              <a:gd name="adj" fmla="val 2759"/>
            </a:avLst>
          </a:prstGeom>
          <a:solidFill>
            <a:srgbClr val="1E2430"/>
          </a:solidFill>
          <a:ln w="12700">
            <a:solidFill>
              <a:srgbClr val="2A3140"/>
            </a:solidFill>
            <a:prstDash val="solid"/>
          </a:ln>
        </p:spPr>
      </p:sp>
      <p:sp>
        <p:nvSpPr>
          <p:cNvPr id="6" name="Text 4"/>
          <p:cNvSpPr txBox="1"/>
          <p:nvPr/>
        </p:nvSpPr>
        <p:spPr>
          <a:xfrm>
            <a:off x="7909560" y="1691640"/>
            <a:ext cx="3474720" cy="457200"/>
          </a:xfrm>
          <a:prstGeom prst="rect">
            <a:avLst/>
          </a:prstGeom>
          <a:noFill/>
          <a:ln/>
        </p:spPr>
        <p:txBody>
          <a:bodyPr wrap="square" lIns="0" tIns="0" rIns="0" bIns="0" rtlCol="0" anchor="ctr"/>
          <a:lstStyle/>
          <a:p>
            <a:pPr indent="0" marL="0">
              <a:buNone/>
            </a:pPr>
            <a:r>
              <a:rPr lang="en-US" sz="1800" b="1" dirty="0">
                <a:solidFill>
                  <a:schemeClr val="bg1"/>
                </a:solidFill>
              </a:rPr>
              <a:t>Next steps</a:t>
            </a:r>
            <a:endParaRPr lang="en-US" sz="1800" dirty="0"/>
          </a:p>
        </p:txBody>
      </p:sp>
      <p:sp>
        <p:nvSpPr>
          <p:cNvPr id="7" name="Text 5"/>
          <p:cNvSpPr txBox="1"/>
          <p:nvPr/>
        </p:nvSpPr>
        <p:spPr>
          <a:xfrm>
            <a:off x="7909560" y="2240280"/>
            <a:ext cx="347472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C9CFDA"/>
                </a:solidFill>
              </a:rPr>
              <a:t>Fine-tune the classifier on SR-GAN v3's output</a:t>
            </a:r>
            <a:endParaRPr lang="en-US" sz="1500" dirty="0"/>
          </a:p>
          <a:p>
            <a:pPr marL="342900" indent="-342900">
              <a:spcAft>
                <a:spcPts val="800"/>
              </a:spcAft>
              <a:buSzPct val="100000"/>
              <a:buChar char="•"/>
            </a:pPr>
            <a:r>
              <a:rPr lang="en-US" sz="1500" dirty="0">
                <a:solidFill>
                  <a:srgbClr val="C9CFDA"/>
                </a:solidFill>
              </a:rPr>
              <a:t>Re-measure the confidence curve for the shipped model</a:t>
            </a:r>
            <a:endParaRPr lang="en-US" sz="1500" dirty="0"/>
          </a:p>
          <a:p>
            <a:pPr marL="342900" indent="-342900">
              <a:spcAft>
                <a:spcPts val="800"/>
              </a:spcAft>
              <a:buSzPct val="100000"/>
              <a:buChar char="•"/>
            </a:pPr>
            <a:r>
              <a:rPr lang="en-US" sz="1500" dirty="0">
                <a:solidFill>
                  <a:srgbClr val="C9CFDA"/>
                </a:solidFill>
              </a:rPr>
              <a:t>Build a detection path for tightly framed video (CISLR)</a:t>
            </a:r>
            <a:endParaRPr lang="en-US" sz="1500" dirty="0"/>
          </a:p>
          <a:p>
            <a:pPr marL="342900" indent="-342900">
              <a:spcAft>
                <a:spcPts val="800"/>
              </a:spcAft>
              <a:buSzPct val="100000"/>
              <a:buChar char="•"/>
            </a:pPr>
            <a:r>
              <a:rPr lang="en-US" sz="1500" dirty="0">
                <a:solidFill>
                  <a:srgbClr val="C9CFDA"/>
                </a:solidFill>
              </a:rPr>
              <a:t>Record new signers through Enrolment; test on wearable hardware</a:t>
            </a:r>
            <a:endParaRPr lang="en-US" sz="1500" dirty="0"/>
          </a:p>
        </p:txBody>
      </p:sp>
      <p:sp>
        <p:nvSpPr>
          <p:cNvPr id="9" name="Text 0"/>
          <p:cNvSpPr/>
          <p:nvPr>
            <p:ph idx="101" type="body" hasCustomPrompt="1"/>
          </p:nvPr>
        </p:nvSpPr>
        <p:spPr>
          <a:xfrm>
            <a:off x="640080" y="2971800"/>
            <a:ext cx="6309360" cy="137160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ISL Reader">
  <a:themeElements>
    <a:clrScheme name="ISL Reader">
      <a:dk1>
        <a:srgbClr val="1F2430"/>
      </a:dk1>
      <a:lt1>
        <a:srgbClr val="FFFFFF"/>
      </a:lt1>
      <a:dk2>
        <a:srgbClr val="12161F"/>
      </a:dk2>
      <a:lt2>
        <a:srgbClr val="EEF1F5"/>
      </a:lt2>
      <a:accent1>
        <a:srgbClr val="2E9E6E"/>
      </a:accent1>
      <a:accent2>
        <a:srgbClr val="C065B0"/>
      </a:accent2>
      <a:accent3>
        <a:srgbClr val="5B7BD6"/>
      </a:accent3>
      <a:accent4>
        <a:srgbClr val="D98C2B"/>
      </a:accent4>
      <a:accent5>
        <a:srgbClr val="A3AAB8"/>
      </a:accent5>
      <a:accent6>
        <a:srgbClr val="8E5BB5"/>
      </a:accent6>
      <a:hlink>
        <a:srgbClr val="5B7BD6"/>
      </a:hlink>
      <a:folHlink>
        <a:srgbClr val="8E5BB5"/>
      </a:folHlink>
    </a:clrScheme>
    <a:fontScheme name="ISL Rea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ISL Reader - Review 3</dc:title>
  <dc:subject>PptxGenJS Presentation</dc:subject>
  <dc:creator>Team 3: Yalamanchi Kushal (CB.SC.U4CSE23766), Nethi Kushala Kumar (CB.SC.U4CSE23735), Dhruseek Rishi Menon (CB.SC.U4CSE23716)</dc:creator>
  <cp:lastModifiedBy>Team 3: Yalamanchi Kushal (CB.SC.U4CSE23766), Nethi Kushala Kumar (CB.SC.U4CSE23735), Dhruseek Rishi Menon (CB.SC.U4CSE23716)</cp:lastModifiedBy>
  <cp:revision>1</cp:revision>
  <dcterms:created xsi:type="dcterms:W3CDTF">2026-10-22T20:48:56Z</dcterms:created>
  <dcterms:modified xsi:type="dcterms:W3CDTF">2026-10-22T20:48:56Z</dcterms:modified>
</cp:coreProperties>
</file>