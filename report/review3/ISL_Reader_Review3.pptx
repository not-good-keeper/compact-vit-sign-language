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4.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5.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ae877a6-cd59-80d4-58b4-eeaf147e1a4a}">
          <p14:sldIdLst>
            <p14:sldId id="256"/>
          </p14:sldIdLst>
        </p14:section>
        <p14:section name="Problem and data" id="{4f162152-8c5d-534c-36f8-b9d295ecb30c}">
          <p14:sldIdLst>
            <p14:sldId id="257"/>
            <p14:sldId id="258"/>
            <p14:sldId id="259"/>
          </p14:sldIdLst>
        </p14:section>
        <p14:section name="Architecture and algorithms" id="{e6b29ee8-b507-1631-1ab4-3f8e7660f5d6}">
          <p14:sldIdLst>
            <p14:sldId id="260"/>
            <p14:sldId id="261"/>
            <p14:sldId id="262"/>
            <p14:sldId id="263"/>
          </p14:sldIdLst>
        </p14:section>
        <p14:section name="Comparisons" id="{7f5289c1-f57d-f535-fa15-bd96ba5224a7}">
          <p14:sldIdLst>
            <p14:sldId id="264"/>
            <p14:sldId id="265"/>
            <p14:sldId id="266"/>
            <p14:sldId id="267"/>
            <p14:sldId id="268"/>
            <p14:sldId id="269"/>
          </p14:sldIdLst>
        </p14:section>
        <p14:section name="Integration" id="{e218cf1a-d089-9568-73db-c278115c8f7c}">
          <p14:sldIdLst>
            <p14:sldId id="270"/>
            <p14:sldId id="271"/>
          </p14:sldIdLst>
        </p14:section>
        <p14:section name="Close" id="{3ed2766a-3fcf-fb8e-ea27-0c0cd3ad0f24}">
          <p14:sldIdLst>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430"/>
                </a:solidFill>
                <a:latin typeface="+mn-lt"/>
              </a:defRPr>
            </a:pPr>
            <a:r>
              <a:rPr sz="1300" b="0" i="0" u="none" strike="noStrike">
                <a:solidFill>
                  <a:srgbClr val="1F2430"/>
                </a:solidFill>
                <a:latin typeface="+mn-lt"/>
              </a:rPr>
              <a:t>One pixel-only model, two splits</a:t>
            </a:r>
          </a:p>
        </c:rich>
      </c:tx>
      <c:layout/>
      <c:overlay val="0"/>
    </c:title>
    <c:autoTitleDeleted val="0"/>
    <c:plotArea>
      <c:layout/>
      <c:barChart>
        <c:barDir val="col"/>
        <c:grouping val="clustered"/>
        <c:varyColors val="0"/>
        <c:ser>
          <c:idx val="0"/>
          <c:order val="0"/>
          <c:tx>
            <c:strRef>
              <c:f>Sheet1!$B$1</c:f>
              <c:strCache>
                <c:ptCount val="1"/>
                <c:pt idx="0">
                  <c:v>Top-1 accuracy (%)</c:v>
                </c:pt>
              </c:strCache>
            </c:strRef>
          </c:tx>
          <c:spPr>
            <a:solidFill>
              <a:srgbClr val="C065B0"/>
            </a:solidFill>
            <a:effectLst/>
          </c:spPr>
          <c:invertIfNegative val="0"/>
          <c:dLbls>
            <c:numFmt formatCode="0.0" sourceLinked="0"/>
            <c:txPr>
              <a:bodyPr/>
              <a:lstStyle/>
              <a:p>
                <a:pPr>
                  <a:defRPr b="0" i="0" strike="noStrike" sz="1000" u="none">
                    <a:solidFill>
                      <a:srgbClr val="1F2430"/>
                    </a:solidFill>
                    <a:latin typeface="+mn-lt"/>
                  </a:defRPr>
                </a:pPr>
              </a:p>
            </c:txPr>
            <c:showLegendKey val="0"/>
            <c:showVal val="1"/>
            <c:showCatName val="0"/>
            <c:showSerName val="0"/>
            <c:showPercent val="0"/>
            <c:showBubbleSize val="0"/>
            <c:showLeaderLines val="0"/>
          </c:dLbls>
          <c:dPt>
            <c:idx val="0"/>
            <c:invertIfNegative val="0"/>
            <c:bubble3D val="0"/>
            <c:spPr>
              <a:solidFill>
                <a:srgbClr val="C065B0"/>
              </a:solidFill>
              <a:effectLst/>
            </c:spPr>
          </c:dPt>
          <c:dPt>
            <c:idx val="1"/>
            <c:invertIfNegative val="0"/>
            <c:bubble3D val="0"/>
            <c:spPr>
              <a:solidFill>
                <a:srgbClr val="2E9E6E"/>
              </a:solidFill>
              <a:effectLst/>
            </c:spPr>
          </c:dPt>
          <c:cat>
            <c:multiLvlStrRef>
              <c:f>Sheet1!$A$2:$A$3</c:f>
              <c:multiLvlStrCache>
                <c:ptCount val="2"/>
                <c:lvl>
                  <c:pt idx="0">
                    <c:v>Random video split</c:v>
                  </c:pt>
                  <c:pt idx="1">
                    <c:v>Held-out sessions</c:v>
                  </c:pt>
                </c:lvl>
              </c:multiLvlStrCache>
            </c:multiLvlStrRef>
          </c:cat>
          <c:val>
            <c:numRef>
              <c:f>Sheet1!$B$2:$B$3</c:f>
              <c:numCache>
                <c:formatCode>General</c:formatCode>
                <c:ptCount val="2"/>
                <c:pt idx="0">
                  <c:v>98.5</c:v>
                </c:pt>
                <c:pt idx="1">
                  <c:v>75.6</c:v>
                </c:pt>
              </c:numCache>
            </c:numRef>
          </c:val>
        </c:ser>
        <c:dLbls>
          <c:numFmt formatCode="0.0" sourceLinked="0"/>
          <c:txPr>
            <a:bodyPr/>
            <a:lstStyle/>
            <a:p>
              <a:pPr>
                <a:defRPr b="0" i="0" strike="noStrike" sz="1000" u="none">
                  <a:solidFill>
                    <a:srgbClr val="1F243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B5563"/>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B556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430"/>
                </a:solidFill>
                <a:latin typeface="+mn-lt"/>
              </a:defRPr>
            </a:pPr>
            <a:r>
              <a:rPr sz="1300" b="0" i="0" u="none" strike="noStrike">
                <a:solidFill>
                  <a:srgbClr val="1F2430"/>
                </a:solidFill>
                <a:latin typeface="+mn-lt"/>
              </a:rPr>
              <a:t>Top-1 on 472 held-out clips, mean of 3 seeds</a:t>
            </a:r>
          </a:p>
        </c:rich>
      </c:tx>
      <c:layout/>
      <c:overlay val="0"/>
    </c:title>
    <c:autoTitleDeleted val="0"/>
    <c:plotArea>
      <c:layout/>
      <c:barChart>
        <c:barDir val="col"/>
        <c:grouping val="clustered"/>
        <c:varyColors val="0"/>
        <c:ser>
          <c:idx val="0"/>
          <c:order val="0"/>
          <c:tx>
            <c:strRef>
              <c:f>Sheet1!$B$1</c:f>
              <c:strCache>
                <c:ptCount val="1"/>
                <c:pt idx="0">
                  <c:v>Top-1 (%)</c:v>
                </c:pt>
              </c:strCache>
            </c:strRef>
          </c:tx>
          <c:spPr>
            <a:solidFill>
              <a:srgbClr val="A3AAB8"/>
            </a:solidFill>
            <a:effectLst/>
          </c:spPr>
          <c:invertIfNegative val="0"/>
          <c:dLbls>
            <c:numFmt formatCode="0.0" sourceLinked="0"/>
            <c:txPr>
              <a:bodyPr/>
              <a:lstStyle/>
              <a:p>
                <a:pPr>
                  <a:defRPr b="0" i="0" strike="noStrike" sz="1000" u="none">
                    <a:solidFill>
                      <a:srgbClr val="1F2430"/>
                    </a:solidFill>
                    <a:latin typeface="+mn-lt"/>
                  </a:defRPr>
                </a:pPr>
              </a:p>
            </c:txPr>
            <c:showLegendKey val="0"/>
            <c:showVal val="1"/>
            <c:showCatName val="0"/>
            <c:showSerName val="0"/>
            <c:showPercent val="0"/>
            <c:showBubbleSize val="0"/>
            <c:showLeaderLines val="0"/>
          </c:dLbls>
          <c:dPt>
            <c:idx val="0"/>
            <c:invertIfNegative val="0"/>
            <c:bubble3D val="0"/>
            <c:spPr>
              <a:solidFill>
                <a:srgbClr val="A3AAB8"/>
              </a:solidFill>
              <a:effectLst/>
            </c:spPr>
          </c:dPt>
          <c:dPt>
            <c:idx val="1"/>
            <c:invertIfNegative val="0"/>
            <c:bubble3D val="0"/>
            <c:spPr>
              <a:solidFill>
                <a:srgbClr val="5B7BD6"/>
              </a:solidFill>
              <a:effectLst/>
            </c:spPr>
          </c:dPt>
          <c:dPt>
            <c:idx val="2"/>
            <c:invertIfNegative val="0"/>
            <c:bubble3D val="0"/>
            <c:spPr>
              <a:solidFill>
                <a:srgbClr val="C065B0"/>
              </a:solidFill>
              <a:effectLst/>
            </c:spPr>
          </c:dPt>
          <c:dPt>
            <c:idx val="3"/>
            <c:invertIfNegative val="0"/>
            <c:bubble3D val="0"/>
            <c:spPr>
              <a:solidFill>
                <a:srgbClr val="2E9E6E"/>
              </a:solidFill>
              <a:effectLst/>
            </c:spPr>
          </c:dPt>
          <c:cat>
            <c:multiLvlStrRef>
              <c:f>Sheet1!$A$2:$A$5</c:f>
              <c:multiLvlStrCache>
                <c:ptCount val="4"/>
                <c:lvl>
                  <c:pt idx="0">
                    <c:v>Pixel-only FP32 (14.55 MB)</c:v>
                  </c:pt>
                  <c:pt idx="1">
                    <c:v>+ landmarks FP32 (14.9 MB)</c:v>
                  </c:pt>
                  <c:pt idx="2">
                    <c:v>+ landmarks, 4-bit post-training (~2 MB)</c:v>
                  </c:pt>
                  <c:pt idx="3">
                    <c:v>+ landmarks, 4-bit QAT (shipped) (1.97 MiB)</c:v>
                  </c:pt>
                </c:lvl>
              </c:multiLvlStrCache>
            </c:multiLvlStrRef>
          </c:cat>
          <c:val>
            <c:numRef>
              <c:f>Sheet1!$B$2:$B$5</c:f>
              <c:numCache>
                <c:formatCode>General</c:formatCode>
                <c:ptCount val="4"/>
                <c:pt idx="0">
                  <c:v>73.658</c:v>
                </c:pt>
                <c:pt idx="1">
                  <c:v>86.511</c:v>
                </c:pt>
                <c:pt idx="2">
                  <c:v>83.404</c:v>
                </c:pt>
                <c:pt idx="3">
                  <c:v>85.946</c:v>
                </c:pt>
              </c:numCache>
            </c:numRef>
          </c:val>
        </c:ser>
        <c:dLbls>
          <c:numFmt formatCode="0.0" sourceLinked="0"/>
          <c:txPr>
            <a:bodyPr/>
            <a:lstStyle/>
            <a:p>
              <a:pPr>
                <a:defRPr b="0" i="0" strike="noStrike" sz="1000" u="none">
                  <a:solidFill>
                    <a:srgbClr val="1F2430"/>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B5563"/>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B556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430"/>
                </a:solidFill>
                <a:latin typeface="+mn-lt"/>
              </a:defRPr>
            </a:pPr>
            <a:r>
              <a:rPr sz="1300" b="0" i="0" u="none" strike="noStrike">
                <a:solidFill>
                  <a:srgbClr val="1F2430"/>
                </a:solidFill>
                <a:latin typeface="+mn-lt"/>
              </a:rPr>
              <a:t>Shipped 4-bit model, frozen (clean 1080p: 85.9 %)</a:t>
            </a:r>
          </a:p>
        </c:rich>
      </c:tx>
      <c:layout/>
      <c:overlay val="0"/>
    </c:title>
    <c:autoTitleDeleted val="0"/>
    <c:plotArea>
      <c:layout/>
      <c:barChart>
        <c:barDir val="col"/>
        <c:grouping val="clustered"/>
        <c:varyColors val="0"/>
        <c:ser>
          <c:idx val="0"/>
          <c:order val="0"/>
          <c:tx>
            <c:strRef>
              <c:f>Sheet1!$B$1</c:f>
              <c:strCache>
                <c:ptCount val="1"/>
                <c:pt idx="0">
                  <c:v>Bicubic (no GAN)</c:v>
                </c:pt>
              </c:strCache>
            </c:strRef>
          </c:tx>
          <c:spPr>
            <a:solidFill>
              <a:srgbClr val="A3AAB8"/>
            </a:solidFill>
            <a:effectLst/>
          </c:spPr>
          <c:invertIfNegative val="0"/>
          <c:dLbls>
            <c:numFmt formatCode="0.0" sourceLinked="0"/>
            <c:txPr>
              <a:bodyPr/>
              <a:lstStyle/>
              <a:p>
                <a:pPr>
                  <a:defRPr b="0" i="0" strike="noStrike" sz="800" u="none">
                    <a:solidFill>
                      <a:srgbClr val="1F2430"/>
                    </a:solidFill>
                    <a:latin typeface="+mn-lt"/>
                  </a:defRPr>
                </a:pPr>
              </a:p>
            </c:txPr>
            <c:showLegendKey val="0"/>
            <c:showVal val="1"/>
            <c:showCatName val="0"/>
            <c:showSerName val="0"/>
            <c:showPercent val="0"/>
            <c:showBubbleSize val="0"/>
            <c:showLeaderLines val="0"/>
          </c:dLbls>
          <c:cat>
            <c:multiLvlStrRef>
              <c:f>Sheet1!$A$2:$A$4</c:f>
              <c:multiLvlStrCache>
                <c:ptCount val="3"/>
                <c:lvl>
                  <c:pt idx="0">
                    <c:v>360p + JPEG</c:v>
                  </c:pt>
                  <c:pt idx="1">
                    <c:v>240p + JPEG</c:v>
                  </c:pt>
                  <c:pt idx="2">
                    <c:v>180p + JPEG</c:v>
                  </c:pt>
                </c:lvl>
              </c:multiLvlStrCache>
            </c:multiLvlStrRef>
          </c:cat>
          <c:val>
            <c:numRef>
              <c:f>Sheet1!$B$2:$B$4</c:f>
              <c:numCache>
                <c:formatCode>General</c:formatCode>
                <c:ptCount val="3"/>
                <c:pt idx="0">
                  <c:v>81.215</c:v>
                </c:pt>
                <c:pt idx="1">
                  <c:v>75.989</c:v>
                </c:pt>
                <c:pt idx="2">
                  <c:v>61.017</c:v>
                </c:pt>
              </c:numCache>
            </c:numRef>
          </c:val>
        </c:ser>
        <c:ser>
          <c:idx val="1"/>
          <c:order val="1"/>
          <c:tx>
            <c:strRef>
              <c:f>Sheet1!$C$1</c:f>
              <c:strCache>
                <c:ptCount val="1"/>
                <c:pt idx="0">
                  <c:v>SR-L1 (no adversarial loss)</c:v>
                </c:pt>
              </c:strCache>
            </c:strRef>
          </c:tx>
          <c:spPr>
            <a:solidFill>
              <a:srgbClr val="5B7BD6"/>
            </a:solidFill>
            <a:effectLst/>
          </c:spPr>
          <c:invertIfNegative val="0"/>
          <c:dLbls>
            <c:numFmt formatCode="0.0" sourceLinked="0"/>
            <c:txPr>
              <a:bodyPr/>
              <a:lstStyle/>
              <a:p>
                <a:pPr>
                  <a:defRPr b="0" i="0" strike="noStrike" sz="800" u="none">
                    <a:solidFill>
                      <a:srgbClr val="1F2430"/>
                    </a:solidFill>
                    <a:latin typeface="+mn-lt"/>
                  </a:defRPr>
                </a:pPr>
              </a:p>
            </c:txPr>
            <c:showLegendKey val="0"/>
            <c:showVal val="1"/>
            <c:showCatName val="0"/>
            <c:showSerName val="0"/>
            <c:showPercent val="0"/>
            <c:showBubbleSize val="0"/>
            <c:showLeaderLines val="0"/>
          </c:dLbls>
          <c:cat>
            <c:multiLvlStrRef>
              <c:f>Sheet1!$A$2:$A$4</c:f>
              <c:multiLvlStrCache>
                <c:ptCount val="3"/>
                <c:lvl>
                  <c:pt idx="0">
                    <c:v>360p + JPEG</c:v>
                  </c:pt>
                  <c:pt idx="1">
                    <c:v>240p + JPEG</c:v>
                  </c:pt>
                  <c:pt idx="2">
                    <c:v>180p + JPEG</c:v>
                  </c:pt>
                </c:lvl>
              </c:multiLvlStrCache>
            </c:multiLvlStrRef>
          </c:cat>
          <c:val>
            <c:numRef>
              <c:f>Sheet1!$C$2:$C$4</c:f>
              <c:numCache>
                <c:formatCode>General</c:formatCode>
                <c:ptCount val="3"/>
                <c:pt idx="0">
                  <c:v>83.545</c:v>
                </c:pt>
                <c:pt idx="1">
                  <c:v>80.862</c:v>
                </c:pt>
                <c:pt idx="2">
                  <c:v>75.989</c:v>
                </c:pt>
              </c:numCache>
            </c:numRef>
          </c:val>
        </c:ser>
        <c:ser>
          <c:idx val="2"/>
          <c:order val="2"/>
          <c:tx>
            <c:strRef>
              <c:f>Sheet1!$D$1</c:f>
              <c:strCache>
                <c:ptCount val="1"/>
                <c:pt idx="0">
                  <c:v>SR-GAN v2</c:v>
                </c:pt>
              </c:strCache>
            </c:strRef>
          </c:tx>
          <c:spPr>
            <a:solidFill>
              <a:srgbClr val="2E9E6E"/>
            </a:solidFill>
            <a:effectLst/>
          </c:spPr>
          <c:invertIfNegative val="0"/>
          <c:dLbls>
            <c:numFmt formatCode="0.0" sourceLinked="0"/>
            <c:txPr>
              <a:bodyPr/>
              <a:lstStyle/>
              <a:p>
                <a:pPr>
                  <a:defRPr b="0" i="0" strike="noStrike" sz="800" u="none">
                    <a:solidFill>
                      <a:srgbClr val="1F2430"/>
                    </a:solidFill>
                    <a:latin typeface="+mn-lt"/>
                  </a:defRPr>
                </a:pPr>
              </a:p>
            </c:txPr>
            <c:showLegendKey val="0"/>
            <c:showVal val="1"/>
            <c:showCatName val="0"/>
            <c:showSerName val="0"/>
            <c:showPercent val="0"/>
            <c:showBubbleSize val="0"/>
            <c:showLeaderLines val="0"/>
          </c:dLbls>
          <c:cat>
            <c:multiLvlStrRef>
              <c:f>Sheet1!$A$2:$A$4</c:f>
              <c:multiLvlStrCache>
                <c:ptCount val="3"/>
                <c:lvl>
                  <c:pt idx="0">
                    <c:v>360p + JPEG</c:v>
                  </c:pt>
                  <c:pt idx="1">
                    <c:v>240p + JPEG</c:v>
                  </c:pt>
                  <c:pt idx="2">
                    <c:v>180p + JPEG</c:v>
                  </c:pt>
                </c:lvl>
              </c:multiLvlStrCache>
            </c:multiLvlStrRef>
          </c:cat>
          <c:val>
            <c:numRef>
              <c:f>Sheet1!$D$2:$D$4</c:f>
              <c:numCache>
                <c:formatCode>General</c:formatCode>
                <c:ptCount val="3"/>
                <c:pt idx="0">
                  <c:v>83.121</c:v>
                </c:pt>
                <c:pt idx="1">
                  <c:v>82.345</c:v>
                </c:pt>
                <c:pt idx="2">
                  <c:v>75.494</c:v>
                </c:pt>
              </c:numCache>
            </c:numRef>
          </c:val>
        </c:ser>
        <c:ser>
          <c:idx val="3"/>
          <c:order val="3"/>
          <c:tx>
            <c:strRef>
              <c:f>Sheet1!$E$1</c:f>
              <c:strCache>
                <c:ptCount val="1"/>
                <c:pt idx="0">
                  <c:v>v3: GAN + hand loss</c:v>
                </c:pt>
              </c:strCache>
            </c:strRef>
          </c:tx>
          <c:spPr>
            <a:solidFill>
              <a:srgbClr val="1E7A5A"/>
            </a:solidFill>
            <a:effectLst/>
          </c:spPr>
          <c:invertIfNegative val="0"/>
          <c:dLbls>
            <c:numFmt formatCode="0.0" sourceLinked="0"/>
            <c:txPr>
              <a:bodyPr/>
              <a:lstStyle/>
              <a:p>
                <a:pPr>
                  <a:defRPr b="0" i="0" strike="noStrike" sz="800" u="none">
                    <a:solidFill>
                      <a:srgbClr val="1F2430"/>
                    </a:solidFill>
                    <a:latin typeface="+mn-lt"/>
                  </a:defRPr>
                </a:pPr>
              </a:p>
            </c:txPr>
            <c:showLegendKey val="0"/>
            <c:showVal val="1"/>
            <c:showCatName val="0"/>
            <c:showSerName val="0"/>
            <c:showPercent val="0"/>
            <c:showBubbleSize val="0"/>
            <c:showLeaderLines val="0"/>
          </c:dLbls>
          <c:cat>
            <c:multiLvlStrRef>
              <c:f>Sheet1!$A$2:$A$4</c:f>
              <c:multiLvlStrCache>
                <c:ptCount val="3"/>
                <c:lvl>
                  <c:pt idx="0">
                    <c:v>360p + JPEG</c:v>
                  </c:pt>
                  <c:pt idx="1">
                    <c:v>240p + JPEG</c:v>
                  </c:pt>
                  <c:pt idx="2">
                    <c:v>180p + JPEG</c:v>
                  </c:pt>
                </c:lvl>
              </c:multiLvlStrCache>
            </c:multiLvlStrRef>
          </c:cat>
          <c:val>
            <c:numRef>
              <c:f>Sheet1!$E$2:$E$4</c:f>
              <c:numCache>
                <c:formatCode>General</c:formatCode>
                <c:ptCount val="3"/>
                <c:pt idx="0">
                  <c:v>84.04</c:v>
                </c:pt>
                <c:pt idx="1">
                  <c:v>81.638</c:v>
                </c:pt>
                <c:pt idx="2">
                  <c:v>75.424</c:v>
                </c:pt>
              </c:numCache>
            </c:numRef>
          </c:val>
        </c:ser>
        <c:ser>
          <c:idx val="4"/>
          <c:order val="4"/>
          <c:tx>
            <c:strRef>
              <c:f>Sheet1!$F$1</c:f>
              <c:strCache>
                <c:ptCount val="1"/>
                <c:pt idx="0">
                  <c:v>v3: hand loss, no GAN</c:v>
                </c:pt>
              </c:strCache>
            </c:strRef>
          </c:tx>
          <c:spPr>
            <a:solidFill>
              <a:srgbClr val="8E5BB5"/>
            </a:solidFill>
            <a:effectLst/>
          </c:spPr>
          <c:invertIfNegative val="0"/>
          <c:dLbls>
            <c:numFmt formatCode="0.0" sourceLinked="0"/>
            <c:txPr>
              <a:bodyPr/>
              <a:lstStyle/>
              <a:p>
                <a:pPr>
                  <a:defRPr b="0" i="0" strike="noStrike" sz="800" u="none">
                    <a:solidFill>
                      <a:srgbClr val="1F2430"/>
                    </a:solidFill>
                    <a:latin typeface="+mn-lt"/>
                  </a:defRPr>
                </a:pPr>
              </a:p>
            </c:txPr>
            <c:showLegendKey val="0"/>
            <c:showVal val="1"/>
            <c:showCatName val="0"/>
            <c:showSerName val="0"/>
            <c:showPercent val="0"/>
            <c:showBubbleSize val="0"/>
            <c:showLeaderLines val="0"/>
          </c:dLbls>
          <c:cat>
            <c:multiLvlStrRef>
              <c:f>Sheet1!$A$2:$A$4</c:f>
              <c:multiLvlStrCache>
                <c:ptCount val="3"/>
                <c:lvl>
                  <c:pt idx="0">
                    <c:v>360p + JPEG</c:v>
                  </c:pt>
                  <c:pt idx="1">
                    <c:v>240p + JPEG</c:v>
                  </c:pt>
                  <c:pt idx="2">
                    <c:v>180p + JPEG</c:v>
                  </c:pt>
                </c:lvl>
              </c:multiLvlStrCache>
            </c:multiLvlStrRef>
          </c:cat>
          <c:val>
            <c:numRef>
              <c:f>Sheet1!$F$2:$F$4</c:f>
              <c:numCache>
                <c:formatCode>General</c:formatCode>
                <c:ptCount val="3"/>
                <c:pt idx="0">
                  <c:v>83.828</c:v>
                </c:pt>
                <c:pt idx="1">
                  <c:v>79.237</c:v>
                </c:pt>
                <c:pt idx="2">
                  <c:v>75.636</c:v>
                </c:pt>
              </c:numCache>
            </c:numRef>
          </c:val>
        </c:ser>
        <c:dLbls>
          <c:numFmt formatCode="0.0" sourceLinked="0"/>
          <c:txPr>
            <a:bodyPr/>
            <a:lstStyle/>
            <a:p>
              <a:pPr>
                <a:defRPr b="0" i="0" strike="noStrike" sz="800" u="none">
                  <a:solidFill>
                    <a:srgbClr val="1F2430"/>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B5563"/>
                </a:solidFill>
                <a:latin typeface="+mn-lt"/>
              </a:defRPr>
            </a:pPr>
            <a:endParaRPr lang="en-US"/>
          </a:p>
        </c:txPr>
        <c:crossAx val="2094734552"/>
        <c:crosses val="autoZero"/>
        <c:auto val="1"/>
        <c:lblAlgn val="ctr"/>
        <c:noMultiLvlLbl val="1"/>
      </c:catAx>
      <c:valAx>
        <c:axId val="2094734552"/>
        <c:scaling>
          <c:orientation val="minMax"/>
          <c:max val="90"/>
          <c:min val="50"/>
        </c:scaling>
        <c:delete val="0"/>
        <c:axPos val="l"/>
        <c:majorGridlines>
          <c:spPr>
            <a:ln w="9525"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B556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430"/>
                </a:solidFill>
                <a:latin typeface="+mn-lt"/>
              </a:defRPr>
            </a:pPr>
            <a:r>
              <a:rPr sz="1300" b="0" i="0" u="none" strike="noStrike">
                <a:solidFill>
                  <a:srgbClr val="1F2430"/>
                </a:solidFill>
                <a:latin typeface="+mn-lt"/>
              </a:rPr>
              <a:t>180p + JPEG 40, frozen 4-bit (clean 85.9 %)</a:t>
            </a:r>
          </a:p>
        </c:rich>
      </c:tx>
      <c:layout/>
      <c:overlay val="0"/>
    </c:title>
    <c:autoTitleDeleted val="0"/>
    <c:plotArea>
      <c:layout/>
      <c:barChart>
        <c:barDir val="col"/>
        <c:grouping val="clustered"/>
        <c:varyColors val="0"/>
        <c:ser>
          <c:idx val="0"/>
          <c:order val="0"/>
          <c:tx>
            <c:strRef>
              <c:f>Sheet1!$B$1</c:f>
              <c:strCache>
                <c:ptCount val="1"/>
                <c:pt idx="0">
                  <c:v>Bicubic</c:v>
                </c:pt>
              </c:strCache>
            </c:strRef>
          </c:tx>
          <c:spPr>
            <a:solidFill>
              <a:srgbClr val="A3AAB8"/>
            </a:solidFill>
            <a:effectLst/>
          </c:spPr>
          <c:invertIfNegative val="0"/>
          <c:dLbls>
            <c:numFmt formatCode="0.0" sourceLinked="0"/>
            <c:txPr>
              <a:bodyPr/>
              <a:lstStyle/>
              <a:p>
                <a:pPr>
                  <a:defRPr b="0" i="0" strike="noStrike" sz="1000" u="none">
                    <a:solidFill>
                      <a:srgbClr val="1F2430"/>
                    </a:solidFill>
                    <a:latin typeface="+mn-lt"/>
                  </a:defRPr>
                </a:pPr>
              </a:p>
            </c:txPr>
            <c:showLegendKey val="0"/>
            <c:showVal val="1"/>
            <c:showCatName val="0"/>
            <c:showSerName val="0"/>
            <c:showPercent val="0"/>
            <c:showBubbleSize val="0"/>
            <c:showLeaderLines val="0"/>
          </c:dLbls>
          <c:cat>
            <c:multiLvlStrRef>
              <c:f>Sheet1!$A$2:$A$4</c:f>
              <c:multiLvlStrCache>
                <c:ptCount val="3"/>
                <c:lvl>
                  <c:pt idx="0">
                    <c:v>Both degraded</c:v>
                  </c:pt>
                  <c:pt idx="1">
                    <c:v>Landmarks degraded (pixels clean)</c:v>
                  </c:pt>
                  <c:pt idx="2">
                    <c:v>Pixels degraded (landmarks clean)</c:v>
                  </c:pt>
                </c:lvl>
              </c:multiLvlStrCache>
            </c:multiLvlStrRef>
          </c:cat>
          <c:val>
            <c:numRef>
              <c:f>Sheet1!$B$2:$B$4</c:f>
              <c:numCache>
                <c:formatCode>General</c:formatCode>
                <c:ptCount val="3"/>
                <c:pt idx="0">
                  <c:v>61.017</c:v>
                </c:pt>
                <c:pt idx="1">
                  <c:v>73.729</c:v>
                </c:pt>
                <c:pt idx="2">
                  <c:v>78.955</c:v>
                </c:pt>
              </c:numCache>
            </c:numRef>
          </c:val>
        </c:ser>
        <c:ser>
          <c:idx val="1"/>
          <c:order val="1"/>
          <c:tx>
            <c:strRef>
              <c:f>Sheet1!$C$1</c:f>
              <c:strCache>
                <c:ptCount val="1"/>
                <c:pt idx="0">
                  <c:v>SR-GAN v2</c:v>
                </c:pt>
              </c:strCache>
            </c:strRef>
          </c:tx>
          <c:spPr>
            <a:solidFill>
              <a:srgbClr val="2E9E6E"/>
            </a:solidFill>
            <a:effectLst/>
          </c:spPr>
          <c:invertIfNegative val="0"/>
          <c:dLbls>
            <c:numFmt formatCode="0.0" sourceLinked="0"/>
            <c:txPr>
              <a:bodyPr/>
              <a:lstStyle/>
              <a:p>
                <a:pPr>
                  <a:defRPr b="0" i="0" strike="noStrike" sz="1000" u="none">
                    <a:solidFill>
                      <a:srgbClr val="1F2430"/>
                    </a:solidFill>
                    <a:latin typeface="+mn-lt"/>
                  </a:defRPr>
                </a:pPr>
              </a:p>
            </c:txPr>
            <c:showLegendKey val="0"/>
            <c:showVal val="1"/>
            <c:showCatName val="0"/>
            <c:showSerName val="0"/>
            <c:showPercent val="0"/>
            <c:showBubbleSize val="0"/>
            <c:showLeaderLines val="0"/>
          </c:dLbls>
          <c:cat>
            <c:multiLvlStrRef>
              <c:f>Sheet1!$A$2:$A$4</c:f>
              <c:multiLvlStrCache>
                <c:ptCount val="3"/>
                <c:lvl>
                  <c:pt idx="0">
                    <c:v>Both degraded</c:v>
                  </c:pt>
                  <c:pt idx="1">
                    <c:v>Landmarks degraded (pixels clean)</c:v>
                  </c:pt>
                  <c:pt idx="2">
                    <c:v>Pixels degraded (landmarks clean)</c:v>
                  </c:pt>
                </c:lvl>
              </c:multiLvlStrCache>
            </c:multiLvlStrRef>
          </c:cat>
          <c:val>
            <c:numRef>
              <c:f>Sheet1!$C$2:$C$4</c:f>
              <c:numCache>
                <c:formatCode>General</c:formatCode>
                <c:ptCount val="3"/>
                <c:pt idx="0">
                  <c:v>75.494</c:v>
                </c:pt>
                <c:pt idx="1">
                  <c:v>78.249</c:v>
                </c:pt>
                <c:pt idx="2">
                  <c:v>83.051</c:v>
                </c:pt>
              </c:numCache>
            </c:numRef>
          </c:val>
        </c:ser>
        <c:dLbls>
          <c:numFmt formatCode="0.0" sourceLinked="0"/>
          <c:txPr>
            <a:bodyPr/>
            <a:lstStyle/>
            <a:p>
              <a:pPr>
                <a:defRPr b="0" i="0" strike="noStrike" sz="1000" u="none">
                  <a:solidFill>
                    <a:srgbClr val="1F2430"/>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B5563"/>
                </a:solidFill>
                <a:latin typeface="+mn-lt"/>
              </a:defRPr>
            </a:pPr>
            <a:endParaRPr lang="en-US"/>
          </a:p>
        </c:txPr>
        <c:crossAx val="2094734552"/>
        <c:crosses val="autoZero"/>
        <c:auto val="1"/>
        <c:lblAlgn val="ctr"/>
        <c:noMultiLvlLbl val="1"/>
      </c:catAx>
      <c:valAx>
        <c:axId val="2094734552"/>
        <c:scaling>
          <c:orientation val="minMax"/>
          <c:max val="90"/>
          <c:min val="50"/>
        </c:scaling>
        <c:delete val="0"/>
        <c:axPos val="l"/>
        <c:majorGridlines>
          <c:spPr>
            <a:ln w="9525"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B556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430"/>
                </a:solidFill>
                <a:latin typeface="+mn-lt"/>
              </a:defRPr>
            </a:pPr>
            <a:r>
              <a:rPr sz="1300" b="0" i="0" u="none" strike="noStrike">
                <a:solidFill>
                  <a:srgbClr val="1F2430"/>
                </a:solidFill>
                <a:latin typeface="+mn-lt"/>
              </a:rPr>
              <a:t>Validation: hand frames found (%), clean video 88.3</a:t>
            </a:r>
          </a:p>
        </c:rich>
      </c:tx>
      <c:layout/>
      <c:overlay val="0"/>
    </c:title>
    <c:autoTitleDeleted val="0"/>
    <c:plotArea>
      <c:layout/>
      <c:barChart>
        <c:barDir val="col"/>
        <c:grouping val="clustered"/>
        <c:varyColors val="0"/>
        <c:ser>
          <c:idx val="0"/>
          <c:order val="0"/>
          <c:tx>
            <c:strRef>
              <c:f>Sheet1!$B$1</c:f>
              <c:strCache>
                <c:ptCount val="1"/>
                <c:pt idx="0">
                  <c:v>180p</c:v>
                </c:pt>
              </c:strCache>
            </c:strRef>
          </c:tx>
          <c:spPr>
            <a:solidFill>
              <a:srgbClr val="2E9E6E"/>
            </a:solidFill>
            <a:effectLst/>
          </c:spPr>
          <c:invertIfNegative val="0"/>
          <c:dLbls>
            <c:numFmt formatCode="0.0" sourceLinked="0"/>
            <c:txPr>
              <a:bodyPr/>
              <a:lstStyle/>
              <a:p>
                <a:pPr>
                  <a:defRPr b="0" i="0" strike="noStrike" sz="800" u="none">
                    <a:solidFill>
                      <a:srgbClr val="1F2430"/>
                    </a:solidFill>
                    <a:latin typeface="+mn-lt"/>
                  </a:defRPr>
                </a:pPr>
              </a:p>
            </c:txPr>
            <c:showLegendKey val="0"/>
            <c:showVal val="1"/>
            <c:showCatName val="0"/>
            <c:showSerName val="0"/>
            <c:showPercent val="0"/>
            <c:showBubbleSize val="0"/>
            <c:showLeaderLines val="0"/>
          </c:dLbls>
          <c:cat>
            <c:multiLvlStrRef>
              <c:f>Sheet1!$A$2:$A$8</c:f>
              <c:multiLvlStrCache>
                <c:ptCount val="7"/>
                <c:lvl>
                  <c:pt idx="0">
                    <c:v>Bicubic</c:v>
                  </c:pt>
                  <c:pt idx="1">
                    <c:v>SR-L1 (v1)</c:v>
                  </c:pt>
                  <c:pt idx="2">
                    <c:v>SR-GAN v2</c:v>
                  </c:pt>
                  <c:pt idx="3">
                    <c:v>v3 pixel L1</c:v>
                  </c:pt>
                  <c:pt idx="4">
                    <c:v>v3 GAN</c:v>
                  </c:pt>
                  <c:pt idx="5">
                    <c:v>v3 GAN + hand loss</c:v>
                  </c:pt>
                  <c:pt idx="6">
                    <c:v>v3 hand loss, no GAN</c:v>
                  </c:pt>
                </c:lvl>
              </c:multiLvlStrCache>
            </c:multiLvlStrRef>
          </c:cat>
          <c:val>
            <c:numRef>
              <c:f>Sheet1!$B$2:$B$8</c:f>
              <c:numCache>
                <c:formatCode>General</c:formatCode>
                <c:ptCount val="7"/>
                <c:pt idx="0">
                  <c:v>43.32</c:v>
                </c:pt>
                <c:pt idx="1">
                  <c:v>64.586</c:v>
                </c:pt>
                <c:pt idx="2">
                  <c:v>63.289</c:v>
                </c:pt>
                <c:pt idx="3">
                  <c:v>69.188</c:v>
                </c:pt>
                <c:pt idx="4">
                  <c:v>71.672</c:v>
                </c:pt>
                <c:pt idx="5">
                  <c:v>73.344</c:v>
                </c:pt>
                <c:pt idx="6">
                  <c:v>60.742</c:v>
                </c:pt>
              </c:numCache>
            </c:numRef>
          </c:val>
        </c:ser>
        <c:ser>
          <c:idx val="1"/>
          <c:order val="1"/>
          <c:tx>
            <c:strRef>
              <c:f>Sheet1!$C$1</c:f>
              <c:strCache>
                <c:ptCount val="1"/>
                <c:pt idx="0">
                  <c:v>240p</c:v>
                </c:pt>
              </c:strCache>
            </c:strRef>
          </c:tx>
          <c:spPr>
            <a:solidFill>
              <a:srgbClr val="9BD3BB"/>
            </a:solidFill>
            <a:effectLst/>
          </c:spPr>
          <c:invertIfNegative val="0"/>
          <c:dLbls>
            <c:numFmt formatCode="0.0" sourceLinked="0"/>
            <c:txPr>
              <a:bodyPr/>
              <a:lstStyle/>
              <a:p>
                <a:pPr>
                  <a:defRPr b="0" i="0" strike="noStrike" sz="800" u="none">
                    <a:solidFill>
                      <a:srgbClr val="1F2430"/>
                    </a:solidFill>
                    <a:latin typeface="+mn-lt"/>
                  </a:defRPr>
                </a:pPr>
              </a:p>
            </c:txPr>
            <c:showLegendKey val="0"/>
            <c:showVal val="1"/>
            <c:showCatName val="0"/>
            <c:showSerName val="0"/>
            <c:showPercent val="0"/>
            <c:showBubbleSize val="0"/>
            <c:showLeaderLines val="0"/>
          </c:dLbls>
          <c:cat>
            <c:multiLvlStrRef>
              <c:f>Sheet1!$A$2:$A$8</c:f>
              <c:multiLvlStrCache>
                <c:ptCount val="7"/>
                <c:lvl>
                  <c:pt idx="0">
                    <c:v>Bicubic</c:v>
                  </c:pt>
                  <c:pt idx="1">
                    <c:v>SR-L1 (v1)</c:v>
                  </c:pt>
                  <c:pt idx="2">
                    <c:v>SR-GAN v2</c:v>
                  </c:pt>
                  <c:pt idx="3">
                    <c:v>v3 pixel L1</c:v>
                  </c:pt>
                  <c:pt idx="4">
                    <c:v>v3 GAN</c:v>
                  </c:pt>
                  <c:pt idx="5">
                    <c:v>v3 GAN + hand loss</c:v>
                  </c:pt>
                  <c:pt idx="6">
                    <c:v>v3 hand loss, no GAN</c:v>
                  </c:pt>
                </c:lvl>
              </c:multiLvlStrCache>
            </c:multiLvlStrRef>
          </c:cat>
          <c:val>
            <c:numRef>
              <c:f>Sheet1!$C$2:$C$8</c:f>
              <c:numCache>
                <c:formatCode>General</c:formatCode>
                <c:ptCount val="7"/>
                <c:pt idx="0">
                  <c:v>64.336</c:v>
                </c:pt>
                <c:pt idx="1">
                  <c:v>78.773</c:v>
                </c:pt>
                <c:pt idx="2">
                  <c:v>78.281</c:v>
                </c:pt>
                <c:pt idx="3">
                  <c:v>80.805</c:v>
                </c:pt>
                <c:pt idx="4">
                  <c:v>83.188</c:v>
                </c:pt>
                <c:pt idx="5">
                  <c:v>84.047</c:v>
                </c:pt>
                <c:pt idx="6">
                  <c:v>79.758</c:v>
                </c:pt>
              </c:numCache>
            </c:numRef>
          </c:val>
        </c:ser>
        <c:dLbls>
          <c:numFmt formatCode="0.0" sourceLinked="0"/>
          <c:txPr>
            <a:bodyPr/>
            <a:lstStyle/>
            <a:p>
              <a:pPr>
                <a:defRPr b="0" i="0" strike="noStrike" sz="800" u="none">
                  <a:solidFill>
                    <a:srgbClr val="1F24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B5563"/>
                </a:solidFill>
                <a:latin typeface="+mn-lt"/>
              </a:defRPr>
            </a:pPr>
            <a:endParaRPr lang="en-US"/>
          </a:p>
        </c:txPr>
        <c:crossAx val="2094734552"/>
        <c:crosses val="autoZero"/>
        <c:auto val="1"/>
        <c:lblAlgn val="ctr"/>
        <c:noMultiLvlLbl val="1"/>
      </c:catAx>
      <c:valAx>
        <c:axId val="2094734552"/>
        <c:scaling>
          <c:orientation val="minMax"/>
          <c:max val="95"/>
          <c:min val="30"/>
        </c:scaling>
        <c:delete val="0"/>
        <c:axPos val="l"/>
        <c:majorGridlines>
          <c:spPr>
            <a:ln w="9525"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B556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ISL Reader recognises isolated Indian Sign Language words from short video. This review covers the full system: the classifier, the super-resolution GAN we added in front of the hand detector, and the web interface that ties them together. The screenshot on the right is the live app reading a held-out clip of 'Hello' at 97 % confidence.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targets: about 2 MB, at least 75 % top-1 on recording sessions held out from training, and a working app. Four difficulties: two-handed signs, scarce data, low-resolution wearable video, and leaky evaluation in the literature.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INCLUDE is the labelled corpus: 4,257 usable clips of 262 words, recorded at 1080p in one studio. We rebuilt 13 recording sessions from the camera's clip numbers because the dataset has no signer labels. 2,845 clips train the model; 1,010 clips from held-out sessions test it, and 472 of those are the 50 deployed words used in every result. iSign gives 18,000 unlabelled clips for pretraining; CISLR is a second corpus for a transfer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INCLUDE was recorded as back-to-back takes. A random split puts near-identical takes on both sides, so the same pixel-only model scores 98.5 % there and 75.6 % on unseen sessions. Every result after this slide is on unseen sessions, with three seeds and paired McNemar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browser posts a clip to the Python server. The server decodes 32 frames, upscales low-resolution video with either bicubic or the SR-GAN, runs MediaPipe Holistic, builds three crops and hand landmarks, and runs the classifier on six views. The answer goes back with the top five words and how each crop was found. The server can load any trained checkpoint and either front end at start-up, and it restricts answers to the 50 deployed words exactly as the evaluation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input pipeline with real frames from a held-out clip. The landmark features are the biggest single lever in the project: the detector was already computing them, and adding them raised accuracy from 73.7 to 86.5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spatial ViT reads each crop on its own with shared weights; each crop's token is tagged with its stream, frame, box position, a reliability flag and the landmark features; a temporal transformer then attends across all 48 crop tokens. Width 192 and three heads match DeiT-Tiny so pretrained weights load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Pretraining by masked image modelling on unlabelled iSign video, then supervised training for a fixed 1,000 epochs keeping the final weights, then 300 epochs of quantisation-aware training. Rounding after training cost 3.1 points; training with the rounding in the loop cost 0.6, at a seventh of the file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Landmarks are the big step: 73.7 to 86.5 percent. Post-training 4-bit rounding drops to 83.4; quantisation-aware training holds 85.9 at 1.97 MiB, 10.9 points above the 75 percent target. The same model answering from all 262 words scores 72.0, which is why the app restricts to the 50 deployed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looked for the place where a GAN can make a measurable difference. The only upscaling step in the pipeline is the resize to 720p before hand detection, and it is exactly where low-resolution wearable video would go. SR-L1 is the key control: same network, no adversarial loss, so it separates what learned upscaling gives from what the GAN adds.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Real-ESRGAN-style design. Generator: compact VGG-style network working at low resolution with a pixel shuffle and a residual upsample. Discriminator: U-Net with spectral normalisation, scoring each pixel. Training patches come only from training sessions and are degraded by random blur, resize, noise and JPEG applied twice. Losses: L1, VGG perceptual and adversarial. Version 3 adds a hand-landmark loss from a network we distilled from MediaPipe.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Learned super-resolution helps at every degraded level: up to 14.5 points at 180p, and it still helps after the classifier is fine-tuned. But the adversarial part adds little: SR-GAN beats the non-adversarial SR-L1 only at 240p. More GAN training (v2) and the task-aware v3 did not improve on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swapped clean and degraded inputs. With clean pixels and degraded landmarks the model scores 78.2; with degraded pixels and clean landmarks 83.1. So after super-resolution the problem is where the detector places the joints. Tuning the detector finds more hands but more of them are misplaced.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loss is in the landmarks, version 3 trains the generator against a differentiable stand-in for the hand detector. It did what it was designed to do at detection level on validation sessions, but not at the classifier on the test set. One untested explanation: the frozen classifier was trained on clean-video landmarks; fine-tuning it on the v3 front end would test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interface is one web page served by the recognition server. These are live screenshots: Capture reading a held-out clip, the Not-sure shortlist for a look-alike word, and the sentence built from accepted words. Corrections are logged as labelled examples, and the Enrolment screen records new signers into the training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Browser tests: Playwright driving Chromium. Live tests: the running server on held-out clips. Consistency test: the server's classification code against the offline evaluation's per-clip results. We tested at three levels: automated browser tests on every screen, live end-to-end tests through the running server, and a consistency test that the app gives the same answer as the offline evaluation for the same clip and model. It matched on all 8 clips, including the 2 the model gets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Limitations: one studio, inferred sessions, no successful cross-corpus transfer yet, synthetic degradation, latency measured on a desktop CPU, isolated words only. Thank you; we can run the live demo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2161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6400800" cy="1463040"/>
          </a:xfrm>
          <a:prstGeom prst="rect">
            <a:avLst/>
          </a:prstGeom>
          <a:noFill/>
          <a:ln/>
        </p:spPr>
        <p:txBody>
          <a:bodyPr wrap="square" rtlCol="0"/>
          <a:lstStyle>
            <a:lvl1pPr algn="l" indent="0" marL="0">
              <a:buNone/>
              <a:defRPr lang="en-US" sz="4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800" dirty="0"/>
          </a:p>
        </p:txBody>
      </p:sp>
      <p:sp>
        <p:nvSpPr>
          <p:cNvPr id="3" name="Text 0"/>
          <p:cNvSpPr/>
          <p:nvPr>
            <p:ph idx="101" type="body" hasCustomPrompt="1"/>
          </p:nvPr>
        </p:nvSpPr>
        <p:spPr>
          <a:xfrm>
            <a:off x="640080" y="2971800"/>
            <a:ext cx="6309360" cy="1371600"/>
          </a:xfrm>
          <a:prstGeom prst="rect">
            <a:avLst/>
          </a:prstGeom>
          <a:noFill/>
          <a:ln/>
        </p:spPr>
        <p:txBody>
          <a:bodyPr wrap="square" rtlCol="0"/>
          <a:lstStyle>
            <a:lvl1pPr indent="0" marL="0">
              <a:buNone/>
              <a:defRPr lang="en-US" sz="1800" dirty="0">
                <a:solidFill>
                  <a:srgbClr val="C9CFDA"/>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0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8A93A3"/>
                </a:solidFill>
              </a:rPr>
              <a:t>ISL Reader · Review 3 · Group 03</a:t>
            </a:r>
            <a:endParaRPr lang="en-US" sz="1000" dirty="0"/>
          </a:p>
        </p:txBody>
      </p:sp>
      <p:sp>
        <p:nvSpPr>
          <p:cNvPr id="25" name="Slide Number Placeholder 0"/>
          <p:cNvSpPr>
            <a:spLocks noGrp="1"/>
          </p:cNvSpPr>
          <p:nvPr>
            <p:ph type="sldNum" sz="quarter" idx="4294967295"/>
          </p:nvPr>
        </p:nvSpPr>
        <p:spPr>
          <a:xfrm>
            <a:off x="11155680"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image" Target="../media/image-3-4.jp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4-1.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3.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6400800" cy="1463040"/>
          </a:xfrm>
          <a:prstGeom prst="rect">
            <a:avLst/>
          </a:prstGeom>
          <a:noFill/>
          <a:ln/>
        </p:spPr>
        <p:txBody>
          <a:bodyPr wrap="square" lIns="0" tIns="0" rIns="0" bIns="0" rtlCol="0" anchor="b"/>
          <a:lstStyle/>
          <a:p>
            <a:pPr algn="l" indent="0" marL="0">
              <a:buNone/>
            </a:pPr>
            <a:r>
              <a:rPr lang="en-US" sz="4800" b="1" dirty="0">
                <a:solidFill>
                  <a:schemeClr val="bg1"/>
                </a:solidFill>
                <a:latin typeface="Cambria" pitchFamily="34" charset="0"/>
                <a:ea typeface="Cambria" pitchFamily="34" charset="-122"/>
                <a:cs typeface="Cambria" pitchFamily="34" charset="-120"/>
              </a:rPr>
              <a:t>ISL Reader</a:t>
            </a:r>
            <a:endParaRPr lang="en-US" sz="4800" dirty="0"/>
          </a:p>
        </p:txBody>
      </p:sp>
      <p:sp>
        <p:nvSpPr>
          <p:cNvPr id="3" name="Text 0"/>
          <p:cNvSpPr/>
          <p:nvPr>
            <p:ph idx="101" type="body" hasCustomPrompt="1"/>
          </p:nvPr>
        </p:nvSpPr>
        <p:spPr>
          <a:xfrm>
            <a:off x="640080" y="2971800"/>
            <a:ext cx="6309360" cy="1371600"/>
          </a:xfrm>
          <a:prstGeom prst="rect">
            <a:avLst/>
          </a:prstGeom>
          <a:noFill/>
          <a:ln/>
        </p:spPr>
        <p:txBody>
          <a:bodyPr wrap="square" lIns="0" tIns="0" rIns="0" bIns="0" rtlCol="0" anchor="t"/>
          <a:lstStyle/>
          <a:p>
            <a:pPr indent="0" marL="0">
              <a:buNone/>
            </a:pPr>
            <a:r>
              <a:rPr lang="en-US" sz="1800" dirty="0">
                <a:solidFill>
                  <a:srgbClr val="C9CFDA"/>
                </a:solidFill>
              </a:rPr>
              <a:t>A 2 MB Vision Transformer, a super-resolution GAN front end and an integrated interface for Indian Sign Language</a:t>
            </a:r>
            <a:endParaRPr lang="en-US" sz="1800" dirty="0"/>
          </a:p>
        </p:txBody>
      </p:sp>
      <p:sp>
        <p:nvSpPr>
          <p:cNvPr id="4" name="Text 2"/>
          <p:cNvSpPr txBox="1"/>
          <p:nvPr/>
        </p:nvSpPr>
        <p:spPr>
          <a:xfrm>
            <a:off x="640080" y="4983480"/>
            <a:ext cx="6309360" cy="822960"/>
          </a:xfrm>
          <a:prstGeom prst="rect">
            <a:avLst/>
          </a:prstGeom>
          <a:noFill/>
          <a:ln/>
        </p:spPr>
        <p:txBody>
          <a:bodyPr wrap="square" lIns="0" tIns="0" rIns="0" bIns="0" rtlCol="0" anchor="ctr"/>
          <a:lstStyle/>
          <a:p>
            <a:pPr indent="0" marL="0">
              <a:buNone/>
            </a:pPr>
            <a:r>
              <a:rPr lang="en-US" sz="1400" dirty="0">
                <a:solidFill>
                  <a:srgbClr val="9AA3B2"/>
                </a:solidFill>
              </a:rPr>
              <a:t>Yalamanchi Kushal · Nethi Kushala Kumar · Dhruseek Rishi Menon</a:t>
            </a:r>
            <a:endParaRPr lang="en-US" sz="1400" dirty="0"/>
          </a:p>
          <a:p>
            <a:pPr indent="0" marL="0">
              <a:buNone/>
            </a:pPr>
            <a:r>
              <a:rPr lang="en-US" sz="1400" dirty="0">
                <a:solidFill>
                  <a:srgbClr val="9AA3B2"/>
                </a:solidFill>
              </a:rPr>
              <a:t>Guide: Dr. T. Bagyammal · 23CSE473 NNDL · Group 03 · Review 3</a:t>
            </a:r>
            <a:endParaRPr lang="en-US" sz="1400" dirty="0"/>
          </a:p>
        </p:txBody>
      </p:sp>
      <p:pic>
        <p:nvPicPr>
          <p:cNvPr id="5" name="ui_capture_crop.png" descr="The ISL Reader capture screen reading a held-out clip">    </p:cNvPr>
          <p:cNvPicPr>
            <a:picLocks noChangeAspect="1"/>
          </p:cNvPicPr>
          <p:nvPr/>
        </p:nvPicPr>
        <p:blipFill>
          <a:blip r:embed="rId1"/>
          <a:stretch>
            <a:fillRect/>
          </a:stretch>
        </p:blipFill>
        <p:spPr>
          <a:xfrm>
            <a:off x="7223760" y="2448306"/>
            <a:ext cx="4526280" cy="196138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What we set out to build</a:t>
            </a:r>
            <a:endParaRPr lang="en-US" sz="3000" dirty="0"/>
          </a:p>
        </p:txBody>
      </p:sp>
      <p:sp>
        <p:nvSpPr>
          <p:cNvPr id="3" name="card A model of about 2 MB"/>
          <p:cNvSpPr/>
          <p:nvPr/>
        </p:nvSpPr>
        <p:spPr>
          <a:xfrm>
            <a:off x="548640" y="1325880"/>
            <a:ext cx="3611880" cy="1645920"/>
          </a:xfrm>
          <a:prstGeom prst="roundRect">
            <a:avLst>
              <a:gd name="adj" fmla="val 5556"/>
            </a:avLst>
          </a:prstGeom>
          <a:solidFill>
            <a:schemeClr val="bg2"/>
          </a:solidFill>
          <a:ln w="12700">
            <a:solidFill>
              <a:schemeClr val="bg2"/>
            </a:solidFill>
            <a:prstDash val="solid"/>
          </a:ln>
        </p:spPr>
      </p:sp>
      <p:sp>
        <p:nvSpPr>
          <p:cNvPr id="4" name="dot A model of about 2 MB"/>
          <p:cNvSpPr/>
          <p:nvPr/>
        </p:nvSpPr>
        <p:spPr>
          <a:xfrm>
            <a:off x="749808" y="1545336"/>
            <a:ext cx="201168" cy="201168"/>
          </a:xfrm>
          <a:prstGeom prst="ellipse">
            <a:avLst/>
          </a:prstGeom>
          <a:solidFill>
            <a:schemeClr val="accent1"/>
          </a:solidFill>
          <a:ln w="12700">
            <a:solidFill>
              <a:schemeClr val="accent1"/>
            </a:solidFill>
            <a:prstDash val="solid"/>
          </a:ln>
        </p:spPr>
      </p:sp>
      <p:sp>
        <p:nvSpPr>
          <p:cNvPr id="5" name="Text 3"/>
          <p:cNvSpPr txBox="1"/>
          <p:nvPr/>
        </p:nvSpPr>
        <p:spPr>
          <a:xfrm>
            <a:off x="1060704" y="1435608"/>
            <a:ext cx="2926080" cy="420624"/>
          </a:xfrm>
          <a:prstGeom prst="rect">
            <a:avLst/>
          </a:prstGeom>
          <a:noFill/>
          <a:ln/>
        </p:spPr>
        <p:txBody>
          <a:bodyPr wrap="square" lIns="0" tIns="0" rIns="0" bIns="0" rtlCol="0" anchor="ctr"/>
          <a:lstStyle/>
          <a:p>
            <a:pPr indent="0" marL="0">
              <a:buNone/>
            </a:pPr>
            <a:r>
              <a:rPr lang="en-US" sz="1600" b="1" dirty="0">
                <a:solidFill>
                  <a:schemeClr val="tx1"/>
                </a:solidFill>
              </a:rPr>
              <a:t>A model of about 2 MB</a:t>
            </a:r>
            <a:endParaRPr lang="en-US" sz="1600" dirty="0"/>
          </a:p>
        </p:txBody>
      </p:sp>
      <p:sp>
        <p:nvSpPr>
          <p:cNvPr id="6" name="Text 4"/>
          <p:cNvSpPr txBox="1"/>
          <p:nvPr/>
        </p:nvSpPr>
        <p:spPr>
          <a:xfrm>
            <a:off x="768096" y="1929384"/>
            <a:ext cx="3191256" cy="91440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It has to run on smart glasses, so the classifier must fit in roughly two megabytes.</a:t>
            </a:r>
            <a:endParaRPr lang="en-US" sz="1400" dirty="0"/>
          </a:p>
        </p:txBody>
      </p:sp>
      <p:sp>
        <p:nvSpPr>
          <p:cNvPr id="7" name="card ≥ 75 % on unseen people"/>
          <p:cNvSpPr/>
          <p:nvPr/>
        </p:nvSpPr>
        <p:spPr>
          <a:xfrm>
            <a:off x="4288536" y="1325880"/>
            <a:ext cx="3611880" cy="1645920"/>
          </a:xfrm>
          <a:prstGeom prst="roundRect">
            <a:avLst>
              <a:gd name="adj" fmla="val 5556"/>
            </a:avLst>
          </a:prstGeom>
          <a:solidFill>
            <a:schemeClr val="bg2"/>
          </a:solidFill>
          <a:ln w="12700">
            <a:solidFill>
              <a:schemeClr val="bg2"/>
            </a:solidFill>
            <a:prstDash val="solid"/>
          </a:ln>
        </p:spPr>
      </p:sp>
      <p:sp>
        <p:nvSpPr>
          <p:cNvPr id="8" name="dot ≥ 75 % on unseen people"/>
          <p:cNvSpPr/>
          <p:nvPr/>
        </p:nvSpPr>
        <p:spPr>
          <a:xfrm>
            <a:off x="4489704" y="1545336"/>
            <a:ext cx="201168" cy="201168"/>
          </a:xfrm>
          <a:prstGeom prst="ellipse">
            <a:avLst/>
          </a:prstGeom>
          <a:solidFill>
            <a:schemeClr val="accent3"/>
          </a:solidFill>
          <a:ln w="12700">
            <a:solidFill>
              <a:schemeClr val="accent3"/>
            </a:solidFill>
            <a:prstDash val="solid"/>
          </a:ln>
        </p:spPr>
      </p:sp>
      <p:sp>
        <p:nvSpPr>
          <p:cNvPr id="9" name="Text 7"/>
          <p:cNvSpPr txBox="1"/>
          <p:nvPr/>
        </p:nvSpPr>
        <p:spPr>
          <a:xfrm>
            <a:off x="4800600" y="1435608"/>
            <a:ext cx="2926080" cy="420624"/>
          </a:xfrm>
          <a:prstGeom prst="rect">
            <a:avLst/>
          </a:prstGeom>
          <a:noFill/>
          <a:ln/>
        </p:spPr>
        <p:txBody>
          <a:bodyPr wrap="square" lIns="0" tIns="0" rIns="0" bIns="0" rtlCol="0" anchor="ctr"/>
          <a:lstStyle/>
          <a:p>
            <a:pPr indent="0" marL="0">
              <a:buNone/>
            </a:pPr>
            <a:r>
              <a:rPr lang="en-US" sz="1600" b="1" dirty="0">
                <a:solidFill>
                  <a:schemeClr val="tx1"/>
                </a:solidFill>
              </a:rPr>
              <a:t>≥ 75 % on unseen people</a:t>
            </a:r>
            <a:endParaRPr lang="en-US" sz="1600" dirty="0"/>
          </a:p>
        </p:txBody>
      </p:sp>
      <p:sp>
        <p:nvSpPr>
          <p:cNvPr id="10" name="Text 8"/>
          <p:cNvSpPr txBox="1"/>
          <p:nvPr/>
        </p:nvSpPr>
        <p:spPr>
          <a:xfrm>
            <a:off x="4507992" y="1929384"/>
            <a:ext cx="3191256" cy="91440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Measured only on recording sessions the model never saw, on the 50 deployed words.</a:t>
            </a:r>
            <a:endParaRPr lang="en-US" sz="1400" dirty="0"/>
          </a:p>
        </p:txBody>
      </p:sp>
      <p:sp>
        <p:nvSpPr>
          <p:cNvPr id="11" name="card A working app"/>
          <p:cNvSpPr/>
          <p:nvPr/>
        </p:nvSpPr>
        <p:spPr>
          <a:xfrm>
            <a:off x="8028432" y="1325880"/>
            <a:ext cx="3611880" cy="1645920"/>
          </a:xfrm>
          <a:prstGeom prst="roundRect">
            <a:avLst>
              <a:gd name="adj" fmla="val 5556"/>
            </a:avLst>
          </a:prstGeom>
          <a:solidFill>
            <a:schemeClr val="bg2"/>
          </a:solidFill>
          <a:ln w="12700">
            <a:solidFill>
              <a:schemeClr val="bg2"/>
            </a:solidFill>
            <a:prstDash val="solid"/>
          </a:ln>
        </p:spPr>
      </p:sp>
      <p:sp>
        <p:nvSpPr>
          <p:cNvPr id="12" name="dot A working app"/>
          <p:cNvSpPr/>
          <p:nvPr/>
        </p:nvSpPr>
        <p:spPr>
          <a:xfrm>
            <a:off x="8229600" y="1545336"/>
            <a:ext cx="201168" cy="201168"/>
          </a:xfrm>
          <a:prstGeom prst="ellipse">
            <a:avLst/>
          </a:prstGeom>
          <a:solidFill>
            <a:schemeClr val="accent2"/>
          </a:solidFill>
          <a:ln w="12700">
            <a:solidFill>
              <a:schemeClr val="accent2"/>
            </a:solidFill>
            <a:prstDash val="solid"/>
          </a:ln>
        </p:spPr>
      </p:sp>
      <p:sp>
        <p:nvSpPr>
          <p:cNvPr id="13" name="Text 11"/>
          <p:cNvSpPr txBox="1"/>
          <p:nvPr/>
        </p:nvSpPr>
        <p:spPr>
          <a:xfrm>
            <a:off x="8540496" y="1435608"/>
            <a:ext cx="2926080" cy="420624"/>
          </a:xfrm>
          <a:prstGeom prst="rect">
            <a:avLst/>
          </a:prstGeom>
          <a:noFill/>
          <a:ln/>
        </p:spPr>
        <p:txBody>
          <a:bodyPr wrap="square" lIns="0" tIns="0" rIns="0" bIns="0" rtlCol="0" anchor="ctr"/>
          <a:lstStyle/>
          <a:p>
            <a:pPr indent="0" marL="0">
              <a:buNone/>
            </a:pPr>
            <a:r>
              <a:rPr lang="en-US" sz="1600" b="1" dirty="0">
                <a:solidFill>
                  <a:schemeClr val="tx1"/>
                </a:solidFill>
              </a:rPr>
              <a:t>A working app</a:t>
            </a:r>
            <a:endParaRPr lang="en-US" sz="1600" dirty="0"/>
          </a:p>
        </p:txBody>
      </p:sp>
      <p:sp>
        <p:nvSpPr>
          <p:cNvPr id="14" name="Text 12"/>
          <p:cNvSpPr txBox="1"/>
          <p:nvPr/>
        </p:nvSpPr>
        <p:spPr>
          <a:xfrm>
            <a:off x="8247888" y="1929384"/>
            <a:ext cx="3191256" cy="91440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Camera or video in, word out, with a confidence check and a way to correct mistakes.</a:t>
            </a:r>
            <a:endParaRPr lang="en-US" sz="1400" dirty="0"/>
          </a:p>
        </p:txBody>
      </p:sp>
      <p:sp>
        <p:nvSpPr>
          <p:cNvPr id="15" name="Text 13"/>
          <p:cNvSpPr txBox="1"/>
          <p:nvPr/>
        </p:nvSpPr>
        <p:spPr>
          <a:xfrm>
            <a:off x="548640" y="3337560"/>
            <a:ext cx="5486400" cy="411480"/>
          </a:xfrm>
          <a:prstGeom prst="rect">
            <a:avLst/>
          </a:prstGeom>
          <a:noFill/>
          <a:ln/>
        </p:spPr>
        <p:txBody>
          <a:bodyPr wrap="square" lIns="0" tIns="0" rIns="0" bIns="0" rtlCol="0" anchor="ctr"/>
          <a:lstStyle/>
          <a:p>
            <a:pPr indent="0" marL="0">
              <a:buNone/>
            </a:pPr>
            <a:r>
              <a:rPr lang="en-US" sz="1800" b="1" dirty="0">
                <a:solidFill>
                  <a:schemeClr val="tx1"/>
                </a:solidFill>
              </a:rPr>
              <a:t>Why it is hard</a:t>
            </a:r>
            <a:endParaRPr lang="en-US" sz="1800" dirty="0"/>
          </a:p>
        </p:txBody>
      </p:sp>
      <p:sp>
        <p:nvSpPr>
          <p:cNvPr id="16" name="Text 14"/>
          <p:cNvSpPr txBox="1"/>
          <p:nvPr/>
        </p:nvSpPr>
        <p:spPr>
          <a:xfrm>
            <a:off x="548640" y="3840480"/>
            <a:ext cx="11064240" cy="237744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tx1"/>
                </a:solidFill>
              </a:rPr>
              <a:t>Signs are two-handed: handshape, motion and location together decide the word.</a:t>
            </a:r>
            <a:endParaRPr lang="en-US" sz="1800" dirty="0"/>
          </a:p>
          <a:p>
            <a:pPr marL="342900" indent="-342900">
              <a:spcAft>
                <a:spcPts val="800"/>
              </a:spcAft>
              <a:buSzPct val="100000"/>
              <a:buChar char="•"/>
            </a:pPr>
            <a:r>
              <a:rPr lang="en-US" sz="1800" dirty="0">
                <a:solidFill>
                  <a:schemeClr val="tx1"/>
                </a:solidFill>
              </a:rPr>
              <a:t>Little labelled data: about 15 clips per word in INCLUDE.</a:t>
            </a:r>
            <a:endParaRPr lang="en-US" sz="1800" dirty="0"/>
          </a:p>
          <a:p>
            <a:pPr marL="342900" indent="-342900">
              <a:spcAft>
                <a:spcPts val="800"/>
              </a:spcAft>
              <a:buSzPct val="100000"/>
              <a:buChar char="•"/>
            </a:pPr>
            <a:r>
              <a:rPr lang="en-US" sz="1800" dirty="0">
                <a:solidFill>
                  <a:schemeClr val="tx1"/>
                </a:solidFill>
              </a:rPr>
              <a:t>A wearable camera gives smaller, compressed video than the 1080p studio data.</a:t>
            </a:r>
            <a:endParaRPr lang="en-US" sz="1800" dirty="0"/>
          </a:p>
          <a:p>
            <a:pPr marL="342900" indent="-342900">
              <a:spcAft>
                <a:spcPts val="800"/>
              </a:spcAft>
              <a:buSzPct val="100000"/>
              <a:buChar char="•"/>
            </a:pPr>
            <a:r>
              <a:rPr lang="en-US" sz="1800" dirty="0">
                <a:solidFill>
                  <a:schemeClr val="tx1"/>
                </a:solidFill>
              </a:rPr>
              <a:t>Random splits leak recording sessions, so published accuracies overstate real use.</a:t>
            </a:r>
            <a:endParaRPr lang="en-US" sz="1800" dirty="0"/>
          </a:p>
        </p:txBody>
      </p:sp>
      <p:sp>
        <p:nvSpPr>
          <p:cNvPr id="25" name="Slide Number Placeholder 0"/>
          <p:cNvSpPr>
            <a:spLocks noGrp="1"/>
          </p:cNvSpPr>
          <p:nvPr>
            <p:ph type="sldNum" sz="quarter" idx="4294967295"/>
          </p:nvPr>
        </p:nvSpPr>
        <p:spPr>
          <a:xfrm>
            <a:off x="11155680"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Dataset details</a:t>
            </a:r>
            <a:endParaRPr lang="en-US" sz="3000" dirty="0"/>
          </a:p>
        </p:txBody>
      </p:sp>
      <p:sp>
        <p:nvSpPr>
          <p:cNvPr id="3" name="Text 1"/>
          <p:cNvSpPr txBox="1"/>
          <p:nvPr/>
        </p:nvSpPr>
        <p:spPr>
          <a:xfrm>
            <a:off x="548640" y="1234440"/>
            <a:ext cx="2103120" cy="77724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4,257</a:t>
            </a:r>
            <a:endParaRPr lang="en-US" sz="4000" dirty="0"/>
          </a:p>
        </p:txBody>
      </p:sp>
      <p:sp>
        <p:nvSpPr>
          <p:cNvPr id="4" name="Text 2"/>
          <p:cNvSpPr txBox="1"/>
          <p:nvPr/>
        </p:nvSpPr>
        <p:spPr>
          <a:xfrm>
            <a:off x="548640" y="2011680"/>
            <a:ext cx="2103120" cy="457200"/>
          </a:xfrm>
          <a:prstGeom prst="rect">
            <a:avLst/>
          </a:prstGeom>
          <a:noFill/>
          <a:ln/>
        </p:spPr>
        <p:txBody>
          <a:bodyPr wrap="square" lIns="0" tIns="0" rIns="0" bIns="0" rtlCol="0" anchor="t"/>
          <a:lstStyle/>
          <a:p>
            <a:pPr indent="0" marL="0">
              <a:buNone/>
            </a:pPr>
            <a:r>
              <a:rPr lang="en-US" sz="1300" dirty="0">
                <a:solidFill>
                  <a:srgbClr val="5B6474"/>
                </a:solidFill>
              </a:rPr>
              <a:t>INCLUDE clips used</a:t>
            </a:r>
            <a:endParaRPr lang="en-US" sz="1300" dirty="0"/>
          </a:p>
        </p:txBody>
      </p:sp>
      <p:sp>
        <p:nvSpPr>
          <p:cNvPr id="5" name="Text 3"/>
          <p:cNvSpPr txBox="1"/>
          <p:nvPr/>
        </p:nvSpPr>
        <p:spPr>
          <a:xfrm>
            <a:off x="2697480" y="1234440"/>
            <a:ext cx="1920240" cy="777240"/>
          </a:xfrm>
          <a:prstGeom prst="rect">
            <a:avLst/>
          </a:prstGeom>
          <a:noFill/>
          <a:ln/>
        </p:spPr>
        <p:txBody>
          <a:bodyPr wrap="square" lIns="0" tIns="0" rIns="0" bIns="0" rtlCol="0" anchor="ctr"/>
          <a:lstStyle/>
          <a:p>
            <a:pPr indent="0" marL="0">
              <a:buNone/>
            </a:pPr>
            <a:r>
              <a:rPr lang="en-US" sz="4000" b="1" dirty="0">
                <a:solidFill>
                  <a:schemeClr val="accent3"/>
                </a:solidFill>
                <a:latin typeface="Cambria" pitchFamily="34" charset="0"/>
                <a:ea typeface="Cambria" pitchFamily="34" charset="-122"/>
                <a:cs typeface="Cambria" pitchFamily="34" charset="-120"/>
              </a:rPr>
              <a:t>262</a:t>
            </a:r>
            <a:endParaRPr lang="en-US" sz="4000" dirty="0"/>
          </a:p>
        </p:txBody>
      </p:sp>
      <p:sp>
        <p:nvSpPr>
          <p:cNvPr id="6" name="Text 4"/>
          <p:cNvSpPr txBox="1"/>
          <p:nvPr/>
        </p:nvSpPr>
        <p:spPr>
          <a:xfrm>
            <a:off x="2697480" y="2011680"/>
            <a:ext cx="1920240" cy="457200"/>
          </a:xfrm>
          <a:prstGeom prst="rect">
            <a:avLst/>
          </a:prstGeom>
          <a:noFill/>
          <a:ln/>
        </p:spPr>
        <p:txBody>
          <a:bodyPr wrap="square" lIns="0" tIns="0" rIns="0" bIns="0" rtlCol="0" anchor="t"/>
          <a:lstStyle/>
          <a:p>
            <a:pPr indent="0" marL="0">
              <a:buNone/>
            </a:pPr>
            <a:r>
              <a:rPr lang="en-US" sz="1300" dirty="0">
                <a:solidFill>
                  <a:srgbClr val="5B6474"/>
                </a:solidFill>
              </a:rPr>
              <a:t>words, 15 categories</a:t>
            </a:r>
            <a:endParaRPr lang="en-US" sz="1300" dirty="0"/>
          </a:p>
        </p:txBody>
      </p:sp>
      <p:sp>
        <p:nvSpPr>
          <p:cNvPr id="7" name="Text 5"/>
          <p:cNvSpPr txBox="1"/>
          <p:nvPr/>
        </p:nvSpPr>
        <p:spPr>
          <a:xfrm>
            <a:off x="4617720" y="1234440"/>
            <a:ext cx="2194560" cy="77724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1080p</a:t>
            </a:r>
            <a:endParaRPr lang="en-US" sz="4000" dirty="0"/>
          </a:p>
        </p:txBody>
      </p:sp>
      <p:sp>
        <p:nvSpPr>
          <p:cNvPr id="8" name="Text 6"/>
          <p:cNvSpPr txBox="1"/>
          <p:nvPr/>
        </p:nvSpPr>
        <p:spPr>
          <a:xfrm>
            <a:off x="4617720" y="2011680"/>
            <a:ext cx="2194560" cy="457200"/>
          </a:xfrm>
          <a:prstGeom prst="rect">
            <a:avLst/>
          </a:prstGeom>
          <a:noFill/>
          <a:ln/>
        </p:spPr>
        <p:txBody>
          <a:bodyPr wrap="square" lIns="0" tIns="0" rIns="0" bIns="0" rtlCol="0" anchor="t"/>
          <a:lstStyle/>
          <a:p>
            <a:pPr indent="0" marL="0">
              <a:buNone/>
            </a:pPr>
            <a:r>
              <a:rPr lang="en-US" sz="1300" dirty="0">
                <a:solidFill>
                  <a:srgbClr val="5B6474"/>
                </a:solidFill>
              </a:rPr>
              <a:t>25 fps, one studio</a:t>
            </a:r>
            <a:endParaRPr lang="en-US" sz="1300" dirty="0"/>
          </a:p>
        </p:txBody>
      </p:sp>
      <p:sp>
        <p:nvSpPr>
          <p:cNvPr id="9" name="Text 7"/>
          <p:cNvSpPr txBox="1"/>
          <p:nvPr/>
        </p:nvSpPr>
        <p:spPr>
          <a:xfrm>
            <a:off x="6812280" y="1234440"/>
            <a:ext cx="1737360" cy="777240"/>
          </a:xfrm>
          <a:prstGeom prst="rect">
            <a:avLst/>
          </a:prstGeom>
          <a:noFill/>
          <a:ln/>
        </p:spPr>
        <p:txBody>
          <a:bodyPr wrap="square" lIns="0" tIns="0" rIns="0" bIns="0" rtlCol="0" anchor="ctr"/>
          <a:lstStyle/>
          <a:p>
            <a:pPr indent="0" marL="0">
              <a:buNone/>
            </a:pPr>
            <a:r>
              <a:rPr lang="en-US" sz="4000" b="1" dirty="0">
                <a:solidFill>
                  <a:schemeClr val="accent4"/>
                </a:solidFill>
                <a:latin typeface="Cambria" pitchFamily="34" charset="0"/>
                <a:ea typeface="Cambria" pitchFamily="34" charset="-122"/>
                <a:cs typeface="Cambria" pitchFamily="34" charset="-120"/>
              </a:rPr>
              <a:t>13</a:t>
            </a:r>
            <a:endParaRPr lang="en-US" sz="4000" dirty="0"/>
          </a:p>
        </p:txBody>
      </p:sp>
      <p:sp>
        <p:nvSpPr>
          <p:cNvPr id="10" name="Text 8"/>
          <p:cNvSpPr txBox="1"/>
          <p:nvPr/>
        </p:nvSpPr>
        <p:spPr>
          <a:xfrm>
            <a:off x="6812280" y="2011680"/>
            <a:ext cx="1737360" cy="457200"/>
          </a:xfrm>
          <a:prstGeom prst="rect">
            <a:avLst/>
          </a:prstGeom>
          <a:noFill/>
          <a:ln/>
        </p:spPr>
        <p:txBody>
          <a:bodyPr wrap="square" lIns="0" tIns="0" rIns="0" bIns="0" rtlCol="0" anchor="t"/>
          <a:lstStyle/>
          <a:p>
            <a:pPr indent="0" marL="0">
              <a:buNone/>
            </a:pPr>
            <a:r>
              <a:rPr lang="en-US" sz="1300" dirty="0">
                <a:solidFill>
                  <a:srgbClr val="5B6474"/>
                </a:solidFill>
              </a:rPr>
              <a:t>recording sessions</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2651760"/>
          <a:ext cx="8001000" cy="914400"/>
        </p:xfrm>
        <a:graphic>
          <a:graphicData uri="http://schemas.openxmlformats.org/drawingml/2006/table">
            <a:tbl>
              <a:tblPr/>
              <a:tblGrid>
                <a:gridCol w="2560320"/>
                <a:gridCol w="1143000"/>
                <a:gridCol w="429768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Split</a:t>
                      </a:r>
                      <a:endParaRPr lang="en-US" sz="1300" dirty="0">
                        <a:latin typeface="Calibri" charset="0"/>
                        <a:ea typeface="Calibri" charset="0"/>
                        <a:cs typeface="Calibri" charset="0"/>
                      </a:endParaRPr>
                    </a:p>
                  </a:txBody>
                  <a:tcPr marL="54864" marR="54864" marT="54864" marB="54864">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12161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Clips</a:t>
                      </a:r>
                      <a:endParaRPr lang="en-US" sz="1300" dirty="0">
                        <a:latin typeface="Calibri" charset="0"/>
                        <a:ea typeface="Calibri" charset="0"/>
                        <a:cs typeface="Calibri" charset="0"/>
                      </a:endParaRPr>
                    </a:p>
                  </a:txBody>
                  <a:tcPr marL="54864" marR="54864" marT="54864" marB="54864">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12161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Use</a:t>
                      </a:r>
                      <a:endParaRPr lang="en-US" sz="1300" dirty="0">
                        <a:latin typeface="Calibri" charset="0"/>
                        <a:ea typeface="Calibri" charset="0"/>
                        <a:cs typeface="Calibri" charset="0"/>
                      </a:endParaRPr>
                    </a:p>
                  </a:txBody>
                  <a:tcPr marL="54864" marR="54864" marT="54864" marB="54864">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12161F"/>
                    </a:solidFill>
                  </a:tcPr>
                </a:tc>
              </a:tr>
              <a:tr h="384048">
                <a:tc>
                  <a:txBody>
                    <a:bodyPr/>
                    <a:lstStyle/>
                    <a:p>
                      <a:pPr indent="0" marL="0">
                        <a:buNone/>
                      </a:pPr>
                      <a:r>
                        <a:rPr lang="en-US" sz="1300" dirty="0">
                          <a:solidFill>
                            <a:srgbClr val="1F2430"/>
                          </a:solidFill>
                          <a:latin typeface="Calibri" pitchFamily="34" charset="0"/>
                          <a:ea typeface="Calibri" pitchFamily="34" charset="-122"/>
                          <a:cs typeface="Calibri" pitchFamily="34" charset="-120"/>
                        </a:rPr>
                        <a:t>Training sessions</a:t>
                      </a:r>
                      <a:endParaRPr lang="en-US" sz="1300" dirty="0">
                        <a:latin typeface="Calibri" charset="0"/>
                        <a:ea typeface="Calibri" charset="0"/>
                        <a:cs typeface="Calibri" charset="0"/>
                      </a:endParaRPr>
                    </a:p>
                  </a:txBody>
                  <a:tcPr marL="54864" marR="54864" marT="54864" marB="54864">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1F2430"/>
                          </a:solidFill>
                          <a:latin typeface="Calibri" pitchFamily="34" charset="0"/>
                          <a:ea typeface="Calibri" pitchFamily="34" charset="-122"/>
                          <a:cs typeface="Calibri" pitchFamily="34" charset="-120"/>
                        </a:rPr>
                        <a:t>2,845</a:t>
                      </a:r>
                      <a:endParaRPr lang="en-US" sz="1300" dirty="0">
                        <a:latin typeface="Calibri" charset="0"/>
                        <a:ea typeface="Calibri" charset="0"/>
                        <a:cs typeface="Calibri" charset="0"/>
                      </a:endParaRPr>
                    </a:p>
                  </a:txBody>
                  <a:tcPr marL="54864" marR="54864" marT="54864" marB="54864">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1F2430"/>
                          </a:solidFill>
                          <a:latin typeface="Calibri" pitchFamily="34" charset="0"/>
                          <a:ea typeface="Calibri" pitchFamily="34" charset="-122"/>
                          <a:cs typeface="Calibri" pitchFamily="34" charset="-120"/>
                        </a:rPr>
                        <a:t>Classifier and GAN training</a:t>
                      </a:r>
                      <a:endParaRPr lang="en-US" sz="1300" dirty="0">
                        <a:latin typeface="Calibri" charset="0"/>
                        <a:ea typeface="Calibri" charset="0"/>
                        <a:cs typeface="Calibri" charset="0"/>
                      </a:endParaRPr>
                    </a:p>
                  </a:txBody>
                  <a:tcPr marL="54864" marR="54864" marT="54864" marB="54864">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F2430"/>
                          </a:solidFill>
                          <a:latin typeface="Calibri" pitchFamily="34" charset="0"/>
                          <a:ea typeface="Calibri" pitchFamily="34" charset="-122"/>
                          <a:cs typeface="Calibri" pitchFamily="34" charset="-120"/>
                        </a:rPr>
                        <a:t>Held-out test sessions</a:t>
                      </a:r>
                      <a:endParaRPr lang="en-US" sz="1300" dirty="0">
                        <a:latin typeface="Calibri" charset="0"/>
                        <a:ea typeface="Calibri" charset="0"/>
                        <a:cs typeface="Calibri" charset="0"/>
                      </a:endParaRPr>
                    </a:p>
                  </a:txBody>
                  <a:tcPr marL="54864" marR="54864" marT="54864" marB="54864">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EEF1F5"/>
                    </a:solidFill>
                  </a:tcPr>
                </a:tc>
                <a:tc>
                  <a:txBody>
                    <a:bodyPr/>
                    <a:lstStyle/>
                    <a:p>
                      <a:pPr indent="0" marL="0">
                        <a:buNone/>
                      </a:pPr>
                      <a:r>
                        <a:rPr lang="en-US" sz="1300" dirty="0">
                          <a:solidFill>
                            <a:srgbClr val="1F2430"/>
                          </a:solidFill>
                          <a:latin typeface="Calibri" pitchFamily="34" charset="0"/>
                          <a:ea typeface="Calibri" pitchFamily="34" charset="-122"/>
                          <a:cs typeface="Calibri" pitchFamily="34" charset="-120"/>
                        </a:rPr>
                        <a:t>1,010</a:t>
                      </a:r>
                      <a:endParaRPr lang="en-US" sz="1300" dirty="0">
                        <a:latin typeface="Calibri" charset="0"/>
                        <a:ea typeface="Calibri" charset="0"/>
                        <a:cs typeface="Calibri" charset="0"/>
                      </a:endParaRPr>
                    </a:p>
                  </a:txBody>
                  <a:tcPr marL="54864" marR="54864" marT="54864" marB="54864">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EEF1F5"/>
                    </a:solidFill>
                  </a:tcPr>
                </a:tc>
                <a:tc>
                  <a:txBody>
                    <a:bodyPr/>
                    <a:lstStyle/>
                    <a:p>
                      <a:pPr indent="0" marL="0">
                        <a:buNone/>
                      </a:pPr>
                      <a:r>
                        <a:rPr lang="en-US" sz="1300" dirty="0">
                          <a:solidFill>
                            <a:srgbClr val="1F2430"/>
                          </a:solidFill>
                          <a:latin typeface="Calibri" pitchFamily="34" charset="0"/>
                          <a:ea typeface="Calibri" pitchFamily="34" charset="-122"/>
                          <a:cs typeface="Calibri" pitchFamily="34" charset="-120"/>
                        </a:rPr>
                        <a:t>472 of them = the 50 deployed words</a:t>
                      </a:r>
                      <a:endParaRPr lang="en-US" sz="1300" dirty="0">
                        <a:latin typeface="Calibri" charset="0"/>
                        <a:ea typeface="Calibri" charset="0"/>
                        <a:cs typeface="Calibri" charset="0"/>
                      </a:endParaRPr>
                    </a:p>
                  </a:txBody>
                  <a:tcPr marL="54864" marR="54864" marT="54864" marB="54864">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EEF1F5"/>
                    </a:solidFill>
                  </a:tcPr>
                </a:tc>
              </a:tr>
              <a:tr h="384048">
                <a:tc>
                  <a:txBody>
                    <a:bodyPr/>
                    <a:lstStyle/>
                    <a:p>
                      <a:pPr indent="0" marL="0">
                        <a:buNone/>
                      </a:pPr>
                      <a:r>
                        <a:rPr lang="en-US" sz="1300" dirty="0">
                          <a:solidFill>
                            <a:srgbClr val="1F2430"/>
                          </a:solidFill>
                          <a:latin typeface="Calibri" pitchFamily="34" charset="0"/>
                          <a:ea typeface="Calibri" pitchFamily="34" charset="-122"/>
                          <a:cs typeface="Calibri" pitchFamily="34" charset="-120"/>
                        </a:rPr>
                        <a:t>Excluded</a:t>
                      </a:r>
                      <a:endParaRPr lang="en-US" sz="1300" dirty="0">
                        <a:latin typeface="Calibri" charset="0"/>
                        <a:ea typeface="Calibri" charset="0"/>
                        <a:cs typeface="Calibri" charset="0"/>
                      </a:endParaRPr>
                    </a:p>
                  </a:txBody>
                  <a:tcPr marL="54864" marR="54864" marT="54864" marB="54864">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1F2430"/>
                          </a:solidFill>
                          <a:latin typeface="Calibri" pitchFamily="34" charset="0"/>
                          <a:ea typeface="Calibri" pitchFamily="34" charset="-122"/>
                          <a:cs typeface="Calibri" pitchFamily="34" charset="-120"/>
                        </a:rPr>
                        <a:t>402</a:t>
                      </a:r>
                      <a:endParaRPr lang="en-US" sz="1300" dirty="0">
                        <a:latin typeface="Calibri" charset="0"/>
                        <a:ea typeface="Calibri" charset="0"/>
                        <a:cs typeface="Calibri" charset="0"/>
                      </a:endParaRPr>
                    </a:p>
                  </a:txBody>
                  <a:tcPr marL="54864" marR="54864" marT="54864" marB="54864">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1F2430"/>
                          </a:solidFill>
                          <a:latin typeface="Calibri" pitchFamily="34" charset="0"/>
                          <a:ea typeface="Calibri" pitchFamily="34" charset="-122"/>
                          <a:cs typeface="Calibri" pitchFamily="34" charset="-120"/>
                        </a:rPr>
                        <a:t>Words with &lt; 6 training clips</a:t>
                      </a:r>
                      <a:endParaRPr lang="en-US" sz="1300" dirty="0">
                        <a:latin typeface="Calibri" charset="0"/>
                        <a:ea typeface="Calibri" charset="0"/>
                        <a:cs typeface="Calibri" charset="0"/>
                      </a:endParaRPr>
                    </a:p>
                  </a:txBody>
                  <a:tcPr marL="54864" marR="54864" marT="54864" marB="54864">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F2430"/>
                          </a:solidFill>
                          <a:latin typeface="Calibri" pitchFamily="34" charset="0"/>
                          <a:ea typeface="Calibri" pitchFamily="34" charset="-122"/>
                          <a:cs typeface="Calibri" pitchFamily="34" charset="-120"/>
                        </a:rPr>
                        <a:t>Validation sessions</a:t>
                      </a:r>
                      <a:endParaRPr lang="en-US" sz="1300" dirty="0">
                        <a:latin typeface="Calibri" charset="0"/>
                        <a:ea typeface="Calibri" charset="0"/>
                        <a:cs typeface="Calibri" charset="0"/>
                      </a:endParaRPr>
                    </a:p>
                  </a:txBody>
                  <a:tcPr marL="54864" marR="54864" marT="54864" marB="54864">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EEF1F5"/>
                    </a:solidFill>
                  </a:tcPr>
                </a:tc>
                <a:tc>
                  <a:txBody>
                    <a:bodyPr/>
                    <a:lstStyle/>
                    <a:p>
                      <a:pPr indent="0" marL="0">
                        <a:buNone/>
                      </a:pPr>
                      <a:r>
                        <a:rPr lang="en-US" sz="1300" dirty="0">
                          <a:solidFill>
                            <a:srgbClr val="1F2430"/>
                          </a:solidFill>
                          <a:latin typeface="Calibri" pitchFamily="34" charset="0"/>
                          <a:ea typeface="Calibri" pitchFamily="34" charset="-122"/>
                          <a:cs typeface="Calibri" pitchFamily="34" charset="-120"/>
                        </a:rPr>
                        <a:t>888</a:t>
                      </a:r>
                      <a:endParaRPr lang="en-US" sz="1300" dirty="0">
                        <a:latin typeface="Calibri" charset="0"/>
                        <a:ea typeface="Calibri" charset="0"/>
                        <a:cs typeface="Calibri" charset="0"/>
                      </a:endParaRPr>
                    </a:p>
                  </a:txBody>
                  <a:tcPr marL="54864" marR="54864" marT="54864" marB="54864">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EEF1F5"/>
                    </a:solidFill>
                  </a:tcPr>
                </a:tc>
                <a:tc>
                  <a:txBody>
                    <a:bodyPr/>
                    <a:lstStyle/>
                    <a:p>
                      <a:pPr indent="0" marL="0">
                        <a:buNone/>
                      </a:pPr>
                      <a:r>
                        <a:rPr lang="en-US" sz="1300" dirty="0">
                          <a:solidFill>
                            <a:srgbClr val="1F2430"/>
                          </a:solidFill>
                          <a:latin typeface="Calibri" pitchFamily="34" charset="0"/>
                          <a:ea typeface="Calibri" pitchFamily="34" charset="-122"/>
                          <a:cs typeface="Calibri" pitchFamily="34" charset="-120"/>
                        </a:rPr>
                        <a:t>GAN development only</a:t>
                      </a:r>
                      <a:endParaRPr lang="en-US" sz="1300" dirty="0">
                        <a:latin typeface="Calibri" charset="0"/>
                        <a:ea typeface="Calibri" charset="0"/>
                        <a:cs typeface="Calibri" charset="0"/>
                      </a:endParaRPr>
                    </a:p>
                  </a:txBody>
                  <a:tcPr marL="54864" marR="54864" marT="54864" marB="54864">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EEF1F5"/>
                    </a:solidFill>
                  </a:tcPr>
                </a:tc>
              </a:tr>
              <a:tr h="384048">
                <a:tc>
                  <a:txBody>
                    <a:bodyPr/>
                    <a:lstStyle/>
                    <a:p>
                      <a:pPr indent="0" marL="0">
                        <a:buNone/>
                      </a:pPr>
                      <a:r>
                        <a:rPr lang="en-US" sz="1300" dirty="0">
                          <a:solidFill>
                            <a:srgbClr val="1F2430"/>
                          </a:solidFill>
                          <a:latin typeface="Calibri" pitchFamily="34" charset="0"/>
                          <a:ea typeface="Calibri" pitchFamily="34" charset="-122"/>
                          <a:cs typeface="Calibri" pitchFamily="34" charset="-120"/>
                        </a:rPr>
                        <a:t>iSign (unlabelled)</a:t>
                      </a:r>
                      <a:endParaRPr lang="en-US" sz="1300" dirty="0">
                        <a:latin typeface="Calibri" charset="0"/>
                        <a:ea typeface="Calibri" charset="0"/>
                        <a:cs typeface="Calibri" charset="0"/>
                      </a:endParaRPr>
                    </a:p>
                  </a:txBody>
                  <a:tcPr marL="54864" marR="54864" marT="54864" marB="54864">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1F2430"/>
                          </a:solidFill>
                          <a:latin typeface="Calibri" pitchFamily="34" charset="0"/>
                          <a:ea typeface="Calibri" pitchFamily="34" charset="-122"/>
                          <a:cs typeface="Calibri" pitchFamily="34" charset="-120"/>
                        </a:rPr>
                        <a:t>18,000</a:t>
                      </a:r>
                      <a:endParaRPr lang="en-US" sz="1300" dirty="0">
                        <a:latin typeface="Calibri" charset="0"/>
                        <a:ea typeface="Calibri" charset="0"/>
                        <a:cs typeface="Calibri" charset="0"/>
                      </a:endParaRPr>
                    </a:p>
                  </a:txBody>
                  <a:tcPr marL="54864" marR="54864" marT="54864" marB="54864">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1F2430"/>
                          </a:solidFill>
                          <a:latin typeface="Calibri" pitchFamily="34" charset="0"/>
                          <a:ea typeface="Calibri" pitchFamily="34" charset="-122"/>
                          <a:cs typeface="Calibri" pitchFamily="34" charset="-120"/>
                        </a:rPr>
                        <a:t>Self-supervised pretraining</a:t>
                      </a:r>
                      <a:endParaRPr lang="en-US" sz="1300" dirty="0">
                        <a:latin typeface="Calibri" charset="0"/>
                        <a:ea typeface="Calibri" charset="0"/>
                        <a:cs typeface="Calibri" charset="0"/>
                      </a:endParaRPr>
                    </a:p>
                  </a:txBody>
                  <a:tcPr marL="54864" marR="54864" marT="54864" marB="54864">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F2430"/>
                          </a:solidFill>
                          <a:latin typeface="Calibri" pitchFamily="34" charset="0"/>
                          <a:ea typeface="Calibri" pitchFamily="34" charset="-122"/>
                          <a:cs typeface="Calibri" pitchFamily="34" charset="-120"/>
                        </a:rPr>
                        <a:t>CISLR (300 x 300 px)</a:t>
                      </a:r>
                      <a:endParaRPr lang="en-US" sz="1300" dirty="0">
                        <a:latin typeface="Calibri" charset="0"/>
                        <a:ea typeface="Calibri" charset="0"/>
                        <a:cs typeface="Calibri" charset="0"/>
                      </a:endParaRPr>
                    </a:p>
                  </a:txBody>
                  <a:tcPr marL="54864" marR="54864" marT="54864" marB="54864">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EEF1F5"/>
                    </a:solidFill>
                  </a:tcPr>
                </a:tc>
                <a:tc>
                  <a:txBody>
                    <a:bodyPr/>
                    <a:lstStyle/>
                    <a:p>
                      <a:pPr indent="0" marL="0">
                        <a:buNone/>
                      </a:pPr>
                      <a:r>
                        <a:rPr lang="en-US" sz="1300" dirty="0">
                          <a:solidFill>
                            <a:srgbClr val="1F2430"/>
                          </a:solidFill>
                          <a:latin typeface="Calibri" pitchFamily="34" charset="0"/>
                          <a:ea typeface="Calibri" pitchFamily="34" charset="-122"/>
                          <a:cs typeface="Calibri" pitchFamily="34" charset="-120"/>
                        </a:rPr>
                        <a:t>609</a:t>
                      </a:r>
                      <a:endParaRPr lang="en-US" sz="1300" dirty="0">
                        <a:latin typeface="Calibri" charset="0"/>
                        <a:ea typeface="Calibri" charset="0"/>
                        <a:cs typeface="Calibri" charset="0"/>
                      </a:endParaRPr>
                    </a:p>
                  </a:txBody>
                  <a:tcPr marL="54864" marR="54864" marT="54864" marB="54864">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EEF1F5"/>
                    </a:solidFill>
                  </a:tcPr>
                </a:tc>
                <a:tc>
                  <a:txBody>
                    <a:bodyPr/>
                    <a:lstStyle/>
                    <a:p>
                      <a:pPr indent="0" marL="0">
                        <a:buNone/>
                      </a:pPr>
                      <a:r>
                        <a:rPr lang="en-US" sz="1300" dirty="0">
                          <a:solidFill>
                            <a:srgbClr val="1F2430"/>
                          </a:solidFill>
                          <a:latin typeface="Calibri" pitchFamily="34" charset="0"/>
                          <a:ea typeface="Calibri" pitchFamily="34" charset="-122"/>
                          <a:cs typeface="Calibri" pitchFamily="34" charset="-120"/>
                        </a:rPr>
                        <a:t>Cross-corpus test</a:t>
                      </a:r>
                      <a:endParaRPr lang="en-US" sz="1300" dirty="0">
                        <a:latin typeface="Calibri" charset="0"/>
                        <a:ea typeface="Calibri" charset="0"/>
                        <a:cs typeface="Calibri" charset="0"/>
                      </a:endParaRPr>
                    </a:p>
                  </a:txBody>
                  <a:tcPr marL="54864" marR="54864" marT="54864" marB="54864">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EEF1F5"/>
                    </a:solidFill>
                  </a:tcPr>
                </a:tc>
              </a:tr>
            </a:tbl>
          </a:graphicData>
        </a:graphic>
      </p:graphicFrame>
      <p:pic>
        <p:nvPicPr>
          <p:cNvPr id="12" name="frame 01_loud.jpg" descr="INCLUDE frame">    </p:cNvPr>
          <p:cNvPicPr>
            <a:picLocks noChangeAspect="1"/>
          </p:cNvPicPr>
          <p:nvPr/>
        </p:nvPicPr>
        <p:blipFill>
          <a:blip r:embed="rId1"/>
          <a:stretch>
            <a:fillRect/>
          </a:stretch>
        </p:blipFill>
        <p:spPr>
          <a:xfrm>
            <a:off x="8915400" y="1325880"/>
            <a:ext cx="1325880" cy="822960"/>
          </a:xfrm>
          <a:prstGeom prst="rect">
            <a:avLst/>
          </a:prstGeom>
        </p:spPr>
      </p:pic>
      <p:pic>
        <p:nvPicPr>
          <p:cNvPr id="13" name="frame 02_hat.jpg" descr="INCLUDE frame">    </p:cNvPr>
          <p:cNvPicPr>
            <a:picLocks noChangeAspect="1"/>
          </p:cNvPicPr>
          <p:nvPr/>
        </p:nvPicPr>
        <p:blipFill>
          <a:blip r:embed="rId2"/>
          <a:stretch>
            <a:fillRect/>
          </a:stretch>
        </p:blipFill>
        <p:spPr>
          <a:xfrm>
            <a:off x="10332720" y="1325880"/>
            <a:ext cx="1325880" cy="822960"/>
          </a:xfrm>
          <a:prstGeom prst="rect">
            <a:avLst/>
          </a:prstGeom>
        </p:spPr>
      </p:pic>
      <p:pic>
        <p:nvPicPr>
          <p:cNvPr id="14" name="frame 03_brown.jpg" descr="INCLUDE frame">    </p:cNvPr>
          <p:cNvPicPr>
            <a:picLocks noChangeAspect="1"/>
          </p:cNvPicPr>
          <p:nvPr/>
        </p:nvPicPr>
        <p:blipFill>
          <a:blip r:embed="rId3"/>
          <a:stretch>
            <a:fillRect/>
          </a:stretch>
        </p:blipFill>
        <p:spPr>
          <a:xfrm>
            <a:off x="8915400" y="2240280"/>
            <a:ext cx="1325880" cy="822960"/>
          </a:xfrm>
          <a:prstGeom prst="rect">
            <a:avLst/>
          </a:prstGeom>
        </p:spPr>
      </p:pic>
      <p:pic>
        <p:nvPicPr>
          <p:cNvPr id="15" name="frame 04_hello.jpg" descr="INCLUDE frame">    </p:cNvPr>
          <p:cNvPicPr>
            <a:picLocks noChangeAspect="1"/>
          </p:cNvPicPr>
          <p:nvPr/>
        </p:nvPicPr>
        <p:blipFill>
          <a:blip r:embed="rId4"/>
          <a:stretch>
            <a:fillRect/>
          </a:stretch>
        </p:blipFill>
        <p:spPr>
          <a:xfrm>
            <a:off x="10332720" y="2240280"/>
            <a:ext cx="1325880" cy="822960"/>
          </a:xfrm>
          <a:prstGeom prst="rect">
            <a:avLst/>
          </a:prstGeom>
        </p:spPr>
      </p:pic>
      <p:sp>
        <p:nvSpPr>
          <p:cNvPr id="16" name="Text 9"/>
          <p:cNvSpPr txBox="1"/>
          <p:nvPr/>
        </p:nvSpPr>
        <p:spPr>
          <a:xfrm>
            <a:off x="8915400" y="3200400"/>
            <a:ext cx="2743200" cy="457200"/>
          </a:xfrm>
          <a:prstGeom prst="rect">
            <a:avLst/>
          </a:prstGeom>
          <a:noFill/>
          <a:ln/>
        </p:spPr>
        <p:txBody>
          <a:bodyPr wrap="square" lIns="0" tIns="0" rIns="0" bIns="0" rtlCol="0" anchor="ctr"/>
          <a:lstStyle/>
          <a:p>
            <a:pPr indent="0" marL="0">
              <a:buNone/>
            </a:pPr>
            <a:r>
              <a:rPr lang="en-US" sz="1000" dirty="0">
                <a:solidFill>
                  <a:srgbClr val="6B7280"/>
                </a:solidFill>
              </a:rPr>
              <a:t>Frames from held-out INCLUDE clips (Sridhar et al., ACM MM 2020, CC-BY-4.0)</a:t>
            </a:r>
            <a:endParaRPr lang="en-US" sz="1000" dirty="0"/>
          </a:p>
        </p:txBody>
      </p:sp>
      <p:sp>
        <p:nvSpPr>
          <p:cNvPr id="17" name="Text 10"/>
          <p:cNvSpPr txBox="1"/>
          <p:nvPr/>
        </p:nvSpPr>
        <p:spPr>
          <a:xfrm>
            <a:off x="8915400" y="3840480"/>
            <a:ext cx="2743200" cy="2194560"/>
          </a:xfrm>
          <a:prstGeom prst="rect">
            <a:avLst/>
          </a:prstGeom>
          <a:noFill/>
          <a:ln/>
        </p:spPr>
        <p:txBody>
          <a:bodyPr wrap="square" lIns="0" tIns="0" rIns="0" bIns="0" rtlCol="0" anchor="t"/>
          <a:lstStyle/>
          <a:p>
            <a:pPr indent="0" marL="0">
              <a:buNone/>
            </a:pPr>
            <a:r>
              <a:rPr lang="en-US" sz="1300" dirty="0">
                <a:solidFill>
                  <a:schemeClr val="tx1"/>
                </a:solidFill>
              </a:rPr>
              <a:t>We train on all 262 words and answer from the 50 deployed words: per-word data is fixed, so a smaller training vocabulary only removes data.</a:t>
            </a:r>
            <a:endParaRPr lang="en-US" sz="1300" dirty="0"/>
          </a:p>
        </p:txBody>
      </p:sp>
      <p:sp>
        <p:nvSpPr>
          <p:cNvPr id="25" name="Slide Number Placeholder 0"/>
          <p:cNvSpPr>
            <a:spLocks noGrp="1"/>
          </p:cNvSpPr>
          <p:nvPr>
            <p:ph type="sldNum" sz="quarter" idx="4294967295"/>
          </p:nvPr>
        </p:nvSpPr>
        <p:spPr>
          <a:xfrm>
            <a:off x="11155680"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Evaluation: hold out whole recording sessions</a:t>
            </a:r>
            <a:endParaRPr lang="en-US" sz="3000" dirty="0"/>
          </a:p>
        </p:txBody>
      </p:sp>
      <p:sp>
        <p:nvSpPr>
          <p:cNvPr id="3" name="card fig3_evaluation_split.png"/>
          <p:cNvSpPr/>
          <p:nvPr/>
        </p:nvSpPr>
        <p:spPr>
          <a:xfrm>
            <a:off x="548640" y="1234440"/>
            <a:ext cx="4937760" cy="4206240"/>
          </a:xfrm>
          <a:prstGeom prst="roundRect">
            <a:avLst>
              <a:gd name="adj" fmla="val 2609"/>
            </a:avLst>
          </a:prstGeom>
          <a:solidFill>
            <a:schemeClr val="bg2"/>
          </a:solidFill>
          <a:ln w="12700">
            <a:solidFill>
              <a:schemeClr val="bg2"/>
            </a:solidFill>
            <a:prstDash val="solid"/>
          </a:ln>
        </p:spPr>
      </p:sp>
      <p:pic>
        <p:nvPicPr>
          <p:cNvPr id="4" name="fig3_evaluation_split.png" descr="Building the session split">    </p:cNvPr>
          <p:cNvPicPr>
            <a:picLocks noChangeAspect="1"/>
          </p:cNvPicPr>
          <p:nvPr/>
        </p:nvPicPr>
        <p:blipFill>
          <a:blip r:embed="rId1"/>
          <a:stretch>
            <a:fillRect/>
          </a:stretch>
        </p:blipFill>
        <p:spPr>
          <a:xfrm>
            <a:off x="658368" y="1502664"/>
            <a:ext cx="4718304" cy="3669792"/>
          </a:xfrm>
          <a:prstGeom prst="rect">
            <a:avLst/>
          </a:prstGeom>
        </p:spPr>
      </p:pic>
      <p:graphicFrame>
        <p:nvGraphicFramePr>
          <p:cNvPr id="5" name="Chart 0" descr=""/>
          <p:cNvGraphicFramePr/>
          <p:nvPr/>
        </p:nvGraphicFramePr>
        <p:xfrm>
          <a:off x="5852160" y="1234440"/>
          <a:ext cx="5760720" cy="3383280"/>
        </p:xfrm>
        <a:graphic xmlns:a="http://schemas.openxmlformats.org/drawingml/2006/main">
          <a:graphicData uri="http://schemas.openxmlformats.org/drawingml/2006/chart">
            <c:chart xmlns:c="http://schemas.openxmlformats.org/drawingml/2006/chart" r:id="rId2"/>
          </a:graphicData>
        </a:graphic>
      </p:graphicFrame>
      <p:sp>
        <p:nvSpPr>
          <p:cNvPr id="6" name="Text 2"/>
          <p:cNvSpPr txBox="1"/>
          <p:nvPr/>
        </p:nvSpPr>
        <p:spPr>
          <a:xfrm>
            <a:off x="5852160" y="4754880"/>
            <a:ext cx="5760720" cy="15544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Camera clip numbers run in sequence; big jumps mark a new session.</a:t>
            </a:r>
            <a:endParaRPr lang="en-US" sz="1400" dirty="0"/>
          </a:p>
          <a:p>
            <a:pPr marL="342900" indent="-342900">
              <a:spcAft>
                <a:spcPts val="800"/>
              </a:spcAft>
              <a:buSzPct val="100000"/>
              <a:buChar char="•"/>
            </a:pPr>
            <a:r>
              <a:rPr lang="en-US" sz="1400" dirty="0">
                <a:solidFill>
                  <a:schemeClr val="tx1"/>
                </a:solidFill>
              </a:rPr>
              <a:t>Whole sessions are held out; a check refuses any overlap.</a:t>
            </a:r>
            <a:endParaRPr lang="en-US" sz="1400" dirty="0"/>
          </a:p>
          <a:p>
            <a:pPr marL="342900" indent="-342900">
              <a:spcAft>
                <a:spcPts val="800"/>
              </a:spcAft>
              <a:buSzPct val="100000"/>
              <a:buChar char="•"/>
            </a:pPr>
            <a:r>
              <a:rPr lang="en-US" sz="1400" dirty="0">
                <a:solidFill>
                  <a:schemeClr val="tx1"/>
                </a:solidFill>
              </a:rPr>
              <a:t>The 22.9-point gap is what the model gains from seeing the same person and room.</a:t>
            </a:r>
            <a:endParaRPr lang="en-US" sz="1400" dirty="0"/>
          </a:p>
        </p:txBody>
      </p:sp>
      <p:sp>
        <p:nvSpPr>
          <p:cNvPr id="25" name="Slide Number Placeholder 0"/>
          <p:cNvSpPr>
            <a:spLocks noGrp="1"/>
          </p:cNvSpPr>
          <p:nvPr>
            <p:ph type="sldNum" sz="quarter" idx="4294967295"/>
          </p:nvPr>
        </p:nvSpPr>
        <p:spPr>
          <a:xfrm>
            <a:off x="11155680"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System architecture of the integrated app</a:t>
            </a:r>
            <a:endParaRPr lang="en-US" sz="3000" dirty="0"/>
          </a:p>
        </p:txBody>
      </p:sp>
      <p:pic>
        <p:nvPicPr>
          <p:cNvPr id="3" name="d1.png" descr="Browser, server, front end and classifier">    </p:cNvPr>
          <p:cNvPicPr>
            <a:picLocks noChangeAspect="1"/>
          </p:cNvPicPr>
          <p:nvPr/>
        </p:nvPicPr>
        <p:blipFill>
          <a:blip r:embed="rId1"/>
          <a:stretch>
            <a:fillRect/>
          </a:stretch>
        </p:blipFill>
        <p:spPr>
          <a:xfrm>
            <a:off x="548640" y="1231134"/>
            <a:ext cx="11064240" cy="4990093"/>
          </a:xfrm>
          <a:prstGeom prst="rect">
            <a:avLst/>
          </a:prstGeom>
        </p:spPr>
      </p:pic>
      <p:sp>
        <p:nvSpPr>
          <p:cNvPr id="25" name="Slide Number Placeholder 0"/>
          <p:cNvSpPr>
            <a:spLocks noGrp="1"/>
          </p:cNvSpPr>
          <p:nvPr>
            <p:ph type="sldNum" sz="quarter" idx="4294967295"/>
          </p:nvPr>
        </p:nvSpPr>
        <p:spPr>
          <a:xfrm>
            <a:off x="11155680"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From video to model inputs</a:t>
            </a:r>
            <a:endParaRPr lang="en-US" sz="3000" dirty="0"/>
          </a:p>
        </p:txBody>
      </p:sp>
      <p:sp>
        <p:nvSpPr>
          <p:cNvPr id="3" name="card fig0_how_it_works.png"/>
          <p:cNvSpPr/>
          <p:nvPr/>
        </p:nvSpPr>
        <p:spPr>
          <a:xfrm>
            <a:off x="548640" y="1188720"/>
            <a:ext cx="5852160" cy="5074920"/>
          </a:xfrm>
          <a:prstGeom prst="roundRect">
            <a:avLst>
              <a:gd name="adj" fmla="val 2162"/>
            </a:avLst>
          </a:prstGeom>
          <a:solidFill>
            <a:schemeClr val="bg2"/>
          </a:solidFill>
          <a:ln w="12700">
            <a:solidFill>
              <a:schemeClr val="bg2"/>
            </a:solidFill>
            <a:prstDash val="solid"/>
          </a:ln>
        </p:spPr>
      </p:sp>
      <p:pic>
        <p:nvPicPr>
          <p:cNvPr id="4" name="fig0_how_it_works.png" descr="How a sign becomes a word">    </p:cNvPr>
          <p:cNvPicPr>
            <a:picLocks noChangeAspect="1"/>
          </p:cNvPicPr>
          <p:nvPr/>
        </p:nvPicPr>
        <p:blipFill>
          <a:blip r:embed="rId1"/>
          <a:stretch>
            <a:fillRect/>
          </a:stretch>
        </p:blipFill>
        <p:spPr>
          <a:xfrm>
            <a:off x="658368" y="1468243"/>
            <a:ext cx="5632704" cy="4515875"/>
          </a:xfrm>
          <a:prstGeom prst="rect">
            <a:avLst/>
          </a:prstGeom>
        </p:spPr>
      </p:pic>
      <p:sp>
        <p:nvSpPr>
          <p:cNvPr id="5" name="Text 2"/>
          <p:cNvSpPr txBox="1"/>
          <p:nvPr/>
        </p:nvSpPr>
        <p:spPr>
          <a:xfrm>
            <a:off x="6720840" y="1325880"/>
            <a:ext cx="4892040" cy="48463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32 frames sampled uniformly, letterboxed to 1280 x 720.</a:t>
            </a:r>
            <a:endParaRPr lang="en-US" sz="1500" dirty="0"/>
          </a:p>
          <a:p>
            <a:pPr marL="342900" indent="-342900">
              <a:spcAft>
                <a:spcPts val="800"/>
              </a:spcAft>
              <a:buSzPct val="100000"/>
              <a:buChar char="•"/>
            </a:pPr>
            <a:r>
              <a:rPr lang="en-US" sz="1500" dirty="0">
                <a:solidFill>
                  <a:schemeClr val="tx1"/>
                </a:solidFill>
              </a:rPr>
              <a:t>MediaPipe Holistic finds hands, face and pose; a missed hand gets a second search in an upscaled forearm region, else the nearest box is reused and flagged.</a:t>
            </a:r>
            <a:endParaRPr lang="en-US" sz="1500" dirty="0"/>
          </a:p>
          <a:p>
            <a:pPr marL="342900" indent="-342900">
              <a:spcAft>
                <a:spcPts val="800"/>
              </a:spcAft>
              <a:buSzPct val="100000"/>
              <a:buChar char="•"/>
            </a:pPr>
            <a:r>
              <a:rPr lang="en-US" sz="1500" dirty="0">
                <a:solidFill>
                  <a:schemeClr val="tx1"/>
                </a:solidFill>
              </a:rPr>
              <a:t>Three crops per frame (left hand, right hand, face), 64 px.</a:t>
            </a:r>
            <a:endParaRPr lang="en-US" sz="1500" dirty="0"/>
          </a:p>
          <a:p>
            <a:pPr marL="342900" indent="-342900">
              <a:spcAft>
                <a:spcPts val="800"/>
              </a:spcAft>
              <a:buSzPct val="100000"/>
              <a:buChar char="•"/>
            </a:pPr>
            <a:r>
              <a:rPr lang="en-US" sz="1500" dirty="0">
                <a:solidFill>
                  <a:schemeClr val="tx1"/>
                </a:solidFill>
              </a:rPr>
              <a:t>21 joints per hand: shape relative to the wrist, location relative to the shoulders.</a:t>
            </a:r>
            <a:endParaRPr lang="en-US" sz="1500" dirty="0"/>
          </a:p>
          <a:p>
            <a:pPr marL="342900" indent="-342900">
              <a:spcAft>
                <a:spcPts val="800"/>
              </a:spcAft>
              <a:buSzPct val="100000"/>
              <a:buChar char="•"/>
            </a:pPr>
            <a:r>
              <a:rPr lang="en-US" sz="1500" dirty="0">
                <a:solidFill>
                  <a:schemeClr val="tx1"/>
                </a:solidFill>
              </a:rPr>
              <a:t>Detectors are rebuilt for every video; otherwise repeated runs disagreed on 3–6 % of frames.</a:t>
            </a:r>
            <a:endParaRPr lang="en-US" sz="1500" dirty="0"/>
          </a:p>
        </p:txBody>
      </p:sp>
      <p:sp>
        <p:nvSpPr>
          <p:cNvPr id="25" name="Slide Number Placeholder 0"/>
          <p:cNvSpPr>
            <a:spLocks noGrp="1"/>
          </p:cNvSpPr>
          <p:nvPr>
            <p:ph type="sldNum" sz="quarter" idx="4294967295"/>
          </p:nvPr>
        </p:nvSpPr>
        <p:spPr>
          <a:xfrm>
            <a:off x="11155680"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Classifier: ISL-ViT-Tiny</a:t>
            </a:r>
            <a:endParaRPr lang="en-US" sz="3000" dirty="0"/>
          </a:p>
        </p:txBody>
      </p:sp>
      <p:sp>
        <p:nvSpPr>
          <p:cNvPr id="3" name="card fig2_model_architecture.png"/>
          <p:cNvSpPr/>
          <p:nvPr/>
        </p:nvSpPr>
        <p:spPr>
          <a:xfrm>
            <a:off x="548640" y="1188720"/>
            <a:ext cx="4754880" cy="5074920"/>
          </a:xfrm>
          <a:prstGeom prst="roundRect">
            <a:avLst>
              <a:gd name="adj" fmla="val 2308"/>
            </a:avLst>
          </a:prstGeom>
          <a:solidFill>
            <a:schemeClr val="bg2"/>
          </a:solidFill>
          <a:ln w="12700">
            <a:solidFill>
              <a:schemeClr val="bg2"/>
            </a:solidFill>
            <a:prstDash val="solid"/>
          </a:ln>
        </p:spPr>
      </p:sp>
      <p:pic>
        <p:nvPicPr>
          <p:cNvPr id="4" name="fig2_model_architecture.png" descr="Model architecture">    </p:cNvPr>
          <p:cNvPicPr>
            <a:picLocks noChangeAspect="1"/>
          </p:cNvPicPr>
          <p:nvPr/>
        </p:nvPicPr>
        <p:blipFill>
          <a:blip r:embed="rId1"/>
          <a:stretch>
            <a:fillRect/>
          </a:stretch>
        </p:blipFill>
        <p:spPr>
          <a:xfrm>
            <a:off x="658368" y="1566454"/>
            <a:ext cx="4535424" cy="4319451"/>
          </a:xfrm>
          <a:prstGeom prst="rect">
            <a:avLst/>
          </a:prstGeom>
        </p:spPr>
      </p:pic>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23560" y="1280160"/>
          <a:ext cx="5989320" cy="914400"/>
        </p:xfrm>
        <a:graphic>
          <a:graphicData uri="http://schemas.openxmlformats.org/drawingml/2006/table">
            <a:tbl>
              <a:tblPr/>
              <a:tblGrid>
                <a:gridCol w="1737360"/>
                <a:gridCol w="4251960"/>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Component</a:t>
                      </a:r>
                      <a:endParaRPr lang="en-US" sz="1300" dirty="0">
                        <a:latin typeface="Calibri" charset="0"/>
                        <a:ea typeface="Calibri" charset="0"/>
                        <a:cs typeface="Calibri" charset="0"/>
                      </a:endParaRPr>
                    </a:p>
                  </a:txBody>
                  <a:tcPr marL="54864" marR="54864" marT="54864" marB="54864">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12161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Setting</a:t>
                      </a:r>
                      <a:endParaRPr lang="en-US" sz="1300" dirty="0">
                        <a:latin typeface="Calibri" charset="0"/>
                        <a:ea typeface="Calibri" charset="0"/>
                        <a:cs typeface="Calibri" charset="0"/>
                      </a:endParaRPr>
                    </a:p>
                  </a:txBody>
                  <a:tcPr marL="54864" marR="54864" marT="54864" marB="54864">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12161F"/>
                    </a:solidFill>
                  </a:tcPr>
                </a:tc>
              </a:tr>
              <a:tr h="0">
                <a:tc>
                  <a:txBody>
                    <a:bodyPr/>
                    <a:lstStyle/>
                    <a:p>
                      <a:pPr indent="0" marL="0">
                        <a:buNone/>
                      </a:pPr>
                      <a:r>
                        <a:rPr lang="en-US" sz="1300" dirty="0">
                          <a:solidFill>
                            <a:srgbClr val="1F2430"/>
                          </a:solidFill>
                          <a:latin typeface="Calibri" pitchFamily="34" charset="0"/>
                          <a:ea typeface="Calibri" pitchFamily="34" charset="-122"/>
                          <a:cs typeface="Calibri" pitchFamily="34" charset="-120"/>
                        </a:rPr>
                        <a:t>Input</a:t>
                      </a:r>
                      <a:endParaRPr lang="en-US" sz="1300" dirty="0">
                        <a:latin typeface="Calibri" charset="0"/>
                        <a:ea typeface="Calibri" charset="0"/>
                        <a:cs typeface="Calibri" charset="0"/>
                      </a:endParaRPr>
                    </a:p>
                  </a:txBody>
                  <a:tcPr marL="54864" marR="54864" marT="54864" marB="54864">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1F2430"/>
                          </a:solidFill>
                          <a:latin typeface="Calibri" pitchFamily="34" charset="0"/>
                          <a:ea typeface="Calibri" pitchFamily="34" charset="-122"/>
                          <a:cs typeface="Calibri" pitchFamily="34" charset="-120"/>
                        </a:rPr>
                        <a:t>16 frames x 3 crops x 64 x 64, box geometry, detection flags, landmarks</a:t>
                      </a:r>
                      <a:endParaRPr lang="en-US" sz="1300" dirty="0">
                        <a:latin typeface="Calibri" charset="0"/>
                        <a:ea typeface="Calibri" charset="0"/>
                        <a:cs typeface="Calibri" charset="0"/>
                      </a:endParaRPr>
                    </a:p>
                  </a:txBody>
                  <a:tcPr marL="54864" marR="54864" marT="54864" marB="54864">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F2430"/>
                          </a:solidFill>
                          <a:latin typeface="Calibri" pitchFamily="34" charset="0"/>
                          <a:ea typeface="Calibri" pitchFamily="34" charset="-122"/>
                          <a:cs typeface="Calibri" pitchFamily="34" charset="-120"/>
                        </a:rPr>
                        <a:t>Spatial stage</a:t>
                      </a:r>
                      <a:endParaRPr lang="en-US" sz="1300" dirty="0">
                        <a:latin typeface="Calibri" charset="0"/>
                        <a:ea typeface="Calibri" charset="0"/>
                        <a:cs typeface="Calibri" charset="0"/>
                      </a:endParaRPr>
                    </a:p>
                  </a:txBody>
                  <a:tcPr marL="54864" marR="54864" marT="54864" marB="54864">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EEF1F5"/>
                    </a:solidFill>
                  </a:tcPr>
                </a:tc>
                <a:tc>
                  <a:txBody>
                    <a:bodyPr/>
                    <a:lstStyle/>
                    <a:p>
                      <a:pPr indent="0" marL="0">
                        <a:buNone/>
                      </a:pPr>
                      <a:r>
                        <a:rPr lang="en-US" sz="1300" dirty="0">
                          <a:solidFill>
                            <a:srgbClr val="1F2430"/>
                          </a:solidFill>
                          <a:latin typeface="Calibri" pitchFamily="34" charset="0"/>
                          <a:ea typeface="Calibri" pitchFamily="34" charset="-122"/>
                          <a:cs typeface="Calibri" pitchFamily="34" charset="-120"/>
                        </a:rPr>
                        <a:t>4 blocks, width 192, 3 heads, shared over 48 crops</a:t>
                      </a:r>
                      <a:endParaRPr lang="en-US" sz="1300" dirty="0">
                        <a:latin typeface="Calibri" charset="0"/>
                        <a:ea typeface="Calibri" charset="0"/>
                        <a:cs typeface="Calibri" charset="0"/>
                      </a:endParaRPr>
                    </a:p>
                  </a:txBody>
                  <a:tcPr marL="54864" marR="54864" marT="54864" marB="54864">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EEF1F5"/>
                    </a:solidFill>
                  </a:tcPr>
                </a:tc>
              </a:tr>
              <a:tr h="0">
                <a:tc>
                  <a:txBody>
                    <a:bodyPr/>
                    <a:lstStyle/>
                    <a:p>
                      <a:pPr indent="0" marL="0">
                        <a:buNone/>
                      </a:pPr>
                      <a:r>
                        <a:rPr lang="en-US" sz="1300" dirty="0">
                          <a:solidFill>
                            <a:srgbClr val="1F2430"/>
                          </a:solidFill>
                          <a:latin typeface="Calibri" pitchFamily="34" charset="0"/>
                          <a:ea typeface="Calibri" pitchFamily="34" charset="-122"/>
                          <a:cs typeface="Calibri" pitchFamily="34" charset="-120"/>
                        </a:rPr>
                        <a:t>Temporal stage</a:t>
                      </a:r>
                      <a:endParaRPr lang="en-US" sz="1300" dirty="0">
                        <a:latin typeface="Calibri" charset="0"/>
                        <a:ea typeface="Calibri" charset="0"/>
                        <a:cs typeface="Calibri" charset="0"/>
                      </a:endParaRPr>
                    </a:p>
                  </a:txBody>
                  <a:tcPr marL="54864" marR="54864" marT="54864" marB="54864">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1F2430"/>
                          </a:solidFill>
                          <a:latin typeface="Calibri" pitchFamily="34" charset="0"/>
                          <a:ea typeface="Calibri" pitchFamily="34" charset="-122"/>
                          <a:cs typeface="Calibri" pitchFamily="34" charset="-120"/>
                        </a:rPr>
                        <a:t>4 blocks over 48 crop tokens + class token</a:t>
                      </a:r>
                      <a:endParaRPr lang="en-US" sz="1300" dirty="0">
                        <a:latin typeface="Calibri" charset="0"/>
                        <a:ea typeface="Calibri" charset="0"/>
                        <a:cs typeface="Calibri" charset="0"/>
                      </a:endParaRPr>
                    </a:p>
                  </a:txBody>
                  <a:tcPr marL="54864" marR="54864" marT="54864" marB="54864">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F2430"/>
                          </a:solidFill>
                          <a:latin typeface="Calibri" pitchFamily="34" charset="0"/>
                          <a:ea typeface="Calibri" pitchFamily="34" charset="-122"/>
                          <a:cs typeface="Calibri" pitchFamily="34" charset="-120"/>
                        </a:rPr>
                        <a:t>Output</a:t>
                      </a:r>
                      <a:endParaRPr lang="en-US" sz="1300" dirty="0">
                        <a:latin typeface="Calibri" charset="0"/>
                        <a:ea typeface="Calibri" charset="0"/>
                        <a:cs typeface="Calibri" charset="0"/>
                      </a:endParaRPr>
                    </a:p>
                  </a:txBody>
                  <a:tcPr marL="54864" marR="54864" marT="54864" marB="54864">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EEF1F5"/>
                    </a:solidFill>
                  </a:tcPr>
                </a:tc>
                <a:tc>
                  <a:txBody>
                    <a:bodyPr/>
                    <a:lstStyle/>
                    <a:p>
                      <a:pPr indent="0" marL="0">
                        <a:buNone/>
                      </a:pPr>
                      <a:r>
                        <a:rPr lang="en-US" sz="1300" dirty="0">
                          <a:solidFill>
                            <a:srgbClr val="1F2430"/>
                          </a:solidFill>
                          <a:latin typeface="Calibri" pitchFamily="34" charset="0"/>
                          <a:ea typeface="Calibri" pitchFamily="34" charset="-122"/>
                          <a:cs typeface="Calibri" pitchFamily="34" charset="-120"/>
                        </a:rPr>
                        <a:t>262 words, restricted to the 50 deployed</a:t>
                      </a:r>
                      <a:endParaRPr lang="en-US" sz="1300" dirty="0">
                        <a:latin typeface="Calibri" charset="0"/>
                        <a:ea typeface="Calibri" charset="0"/>
                        <a:cs typeface="Calibri" charset="0"/>
                      </a:endParaRPr>
                    </a:p>
                  </a:txBody>
                  <a:tcPr marL="54864" marR="54864" marT="54864" marB="54864">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EEF1F5"/>
                    </a:solidFill>
                  </a:tcPr>
                </a:tc>
              </a:tr>
              <a:tr h="0">
                <a:tc>
                  <a:txBody>
                    <a:bodyPr/>
                    <a:lstStyle/>
                    <a:p>
                      <a:pPr indent="0" marL="0">
                        <a:buNone/>
                      </a:pPr>
                      <a:r>
                        <a:rPr lang="en-US" sz="1300" dirty="0">
                          <a:solidFill>
                            <a:srgbClr val="1F2430"/>
                          </a:solidFill>
                          <a:latin typeface="Calibri" pitchFamily="34" charset="0"/>
                          <a:ea typeface="Calibri" pitchFamily="34" charset="-122"/>
                          <a:cs typeface="Calibri" pitchFamily="34" charset="-120"/>
                        </a:rPr>
                        <a:t>Parameters</a:t>
                      </a:r>
                      <a:endParaRPr lang="en-US" sz="1300" dirty="0">
                        <a:latin typeface="Calibri" charset="0"/>
                        <a:ea typeface="Calibri" charset="0"/>
                        <a:cs typeface="Calibri" charset="0"/>
                      </a:endParaRPr>
                    </a:p>
                  </a:txBody>
                  <a:tcPr marL="54864" marR="54864" marT="54864" marB="54864">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300" dirty="0">
                          <a:solidFill>
                            <a:srgbClr val="1F2430"/>
                          </a:solidFill>
                          <a:latin typeface="Calibri" pitchFamily="34" charset="0"/>
                          <a:ea typeface="Calibri" pitchFamily="34" charset="-122"/>
                          <a:cs typeface="Calibri" pitchFamily="34" charset="-120"/>
                        </a:rPr>
                        <a:t>3,894,214 (91 k for landmarks)</a:t>
                      </a:r>
                      <a:endParaRPr lang="en-US" sz="1300" dirty="0">
                        <a:latin typeface="Calibri" charset="0"/>
                        <a:ea typeface="Calibri" charset="0"/>
                        <a:cs typeface="Calibri" charset="0"/>
                      </a:endParaRPr>
                    </a:p>
                  </a:txBody>
                  <a:tcPr marL="54864" marR="54864" marT="54864" marB="54864">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5623560" y="4343400"/>
            <a:ext cx="5989320" cy="1737360"/>
          </a:xfrm>
          <a:prstGeom prst="rect">
            <a:avLst/>
          </a:prstGeom>
          <a:noFill/>
          <a:ln/>
        </p:spPr>
        <p:txBody>
          <a:bodyPr wrap="square" lIns="0" tIns="0" rIns="0" bIns="0" rtlCol="0" anchor="t"/>
          <a:lstStyle/>
          <a:p>
            <a:pPr indent="0" marL="0">
              <a:buNone/>
            </a:pPr>
            <a:r>
              <a:rPr lang="en-US" sz="1500" b="1" dirty="0">
                <a:solidFill>
                  <a:schemeClr val="tx1"/>
                </a:solidFill>
              </a:rPr>
              <a:t>Why factorised: </a:t>
            </a:r>
            <a:pPr indent="0" marL="0">
              <a:buNone/>
            </a:pPr>
            <a:r>
              <a:rPr lang="en-US" sz="1500" dirty="0">
                <a:solidFill>
                  <a:schemeClr val="tx1"/>
                </a:solidFill>
              </a:rPr>
              <a:t>joint attention over every patch would be 816 tokens; the model attends over 17 tokens per crop, then 49 across the clip. Box geometry puts back the location that cropping removes.</a:t>
            </a:r>
            <a:endParaRPr lang="en-US" sz="1500" dirty="0"/>
          </a:p>
        </p:txBody>
      </p:sp>
      <p:sp>
        <p:nvSpPr>
          <p:cNvPr id="25" name="Slide Number Placeholder 0"/>
          <p:cNvSpPr>
            <a:spLocks noGrp="1"/>
          </p:cNvSpPr>
          <p:nvPr>
            <p:ph type="sldNum" sz="quarter" idx="4294967295"/>
          </p:nvPr>
        </p:nvSpPr>
        <p:spPr>
          <a:xfrm>
            <a:off x="11155680"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Training algorithm and compression</a:t>
            </a:r>
            <a:endParaRPr lang="en-US" sz="3000" dirty="0"/>
          </a:p>
        </p:txBody>
      </p:sp>
      <p:pic>
        <p:nvPicPr>
          <p:cNvPr id="3" name="fig4_training_pipeline.png" descr="Training pipeline">    </p:cNvPr>
          <p:cNvPicPr>
            <a:picLocks noChangeAspect="1"/>
          </p:cNvPicPr>
          <p:nvPr/>
        </p:nvPicPr>
        <p:blipFill>
          <a:blip r:embed="rId1"/>
          <a:stretch>
            <a:fillRect/>
          </a:stretch>
        </p:blipFill>
        <p:spPr>
          <a:xfrm>
            <a:off x="1538805" y="1097280"/>
            <a:ext cx="9083911" cy="2606040"/>
          </a:xfrm>
          <a:prstGeom prst="rect">
            <a:avLst/>
          </a:prstGeom>
        </p:spPr>
      </p:pic>
      <p:sp>
        <p:nvSpPr>
          <p:cNvPr id="4" name="card 1. Self-supervised pretraining"/>
          <p:cNvSpPr/>
          <p:nvPr/>
        </p:nvSpPr>
        <p:spPr>
          <a:xfrm>
            <a:off x="548640" y="3931920"/>
            <a:ext cx="3611880" cy="2240280"/>
          </a:xfrm>
          <a:prstGeom prst="roundRect">
            <a:avLst>
              <a:gd name="adj" fmla="val 4082"/>
            </a:avLst>
          </a:prstGeom>
          <a:solidFill>
            <a:schemeClr val="bg2"/>
          </a:solidFill>
          <a:ln w="12700">
            <a:solidFill>
              <a:schemeClr val="bg2"/>
            </a:solidFill>
            <a:prstDash val="solid"/>
          </a:ln>
        </p:spPr>
      </p:sp>
      <p:sp>
        <p:nvSpPr>
          <p:cNvPr id="5" name="dot 1. Self-supervised pretraining"/>
          <p:cNvSpPr/>
          <p:nvPr/>
        </p:nvSpPr>
        <p:spPr>
          <a:xfrm>
            <a:off x="749808" y="4151376"/>
            <a:ext cx="201168" cy="201168"/>
          </a:xfrm>
          <a:prstGeom prst="ellipse">
            <a:avLst/>
          </a:prstGeom>
          <a:solidFill>
            <a:schemeClr val="accent3"/>
          </a:solidFill>
          <a:ln w="12700">
            <a:solidFill>
              <a:schemeClr val="accent3"/>
            </a:solidFill>
            <a:prstDash val="solid"/>
          </a:ln>
        </p:spPr>
      </p:sp>
      <p:sp>
        <p:nvSpPr>
          <p:cNvPr id="6" name="Text 3"/>
          <p:cNvSpPr txBox="1"/>
          <p:nvPr/>
        </p:nvSpPr>
        <p:spPr>
          <a:xfrm>
            <a:off x="1060704" y="4041648"/>
            <a:ext cx="2926080" cy="420624"/>
          </a:xfrm>
          <a:prstGeom prst="rect">
            <a:avLst/>
          </a:prstGeom>
          <a:noFill/>
          <a:ln/>
        </p:spPr>
        <p:txBody>
          <a:bodyPr wrap="square" lIns="0" tIns="0" rIns="0" bIns="0" rtlCol="0" anchor="ctr"/>
          <a:lstStyle/>
          <a:p>
            <a:pPr indent="0" marL="0">
              <a:buNone/>
            </a:pPr>
            <a:r>
              <a:rPr lang="en-US" sz="1600" b="1" dirty="0">
                <a:solidFill>
                  <a:schemeClr val="tx1"/>
                </a:solidFill>
              </a:rPr>
              <a:t>1. Self-supervised pretraining</a:t>
            </a:r>
            <a:endParaRPr lang="en-US" sz="1600" dirty="0"/>
          </a:p>
        </p:txBody>
      </p:sp>
      <p:sp>
        <p:nvSpPr>
          <p:cNvPr id="7" name="Text 4"/>
          <p:cNvSpPr txBox="1"/>
          <p:nvPr/>
        </p:nvSpPr>
        <p:spPr>
          <a:xfrm>
            <a:off x="768096" y="4535424"/>
            <a:ext cx="3191256" cy="150876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Masked image modelling (SimMIM) on 18,000 unlabelled iSign clips: 75 % of patches hidden and reconstructed.</a:t>
            </a:r>
            <a:endParaRPr lang="en-US" sz="1400" dirty="0"/>
          </a:p>
        </p:txBody>
      </p:sp>
      <p:sp>
        <p:nvSpPr>
          <p:cNvPr id="8" name="card 2. Supervised training"/>
          <p:cNvSpPr/>
          <p:nvPr/>
        </p:nvSpPr>
        <p:spPr>
          <a:xfrm>
            <a:off x="4288536" y="3931920"/>
            <a:ext cx="3611880" cy="2240280"/>
          </a:xfrm>
          <a:prstGeom prst="roundRect">
            <a:avLst>
              <a:gd name="adj" fmla="val 4082"/>
            </a:avLst>
          </a:prstGeom>
          <a:solidFill>
            <a:schemeClr val="bg2"/>
          </a:solidFill>
          <a:ln w="12700">
            <a:solidFill>
              <a:schemeClr val="bg2"/>
            </a:solidFill>
            <a:prstDash val="solid"/>
          </a:ln>
        </p:spPr>
      </p:sp>
      <p:sp>
        <p:nvSpPr>
          <p:cNvPr id="9" name="dot 2. Supervised training"/>
          <p:cNvSpPr/>
          <p:nvPr/>
        </p:nvSpPr>
        <p:spPr>
          <a:xfrm>
            <a:off x="4489704" y="4151376"/>
            <a:ext cx="201168" cy="201168"/>
          </a:xfrm>
          <a:prstGeom prst="ellipse">
            <a:avLst/>
          </a:prstGeom>
          <a:solidFill>
            <a:schemeClr val="accent1"/>
          </a:solidFill>
          <a:ln w="12700">
            <a:solidFill>
              <a:schemeClr val="accent1"/>
            </a:solidFill>
            <a:prstDash val="solid"/>
          </a:ln>
        </p:spPr>
      </p:sp>
      <p:sp>
        <p:nvSpPr>
          <p:cNvPr id="10" name="Text 7"/>
          <p:cNvSpPr txBox="1"/>
          <p:nvPr/>
        </p:nvSpPr>
        <p:spPr>
          <a:xfrm>
            <a:off x="4800600" y="4041648"/>
            <a:ext cx="2926080" cy="420624"/>
          </a:xfrm>
          <a:prstGeom prst="rect">
            <a:avLst/>
          </a:prstGeom>
          <a:noFill/>
          <a:ln/>
        </p:spPr>
        <p:txBody>
          <a:bodyPr wrap="square" lIns="0" tIns="0" rIns="0" bIns="0" rtlCol="0" anchor="ctr"/>
          <a:lstStyle/>
          <a:p>
            <a:pPr indent="0" marL="0">
              <a:buNone/>
            </a:pPr>
            <a:r>
              <a:rPr lang="en-US" sz="1600" b="1" dirty="0">
                <a:solidFill>
                  <a:schemeClr val="tx1"/>
                </a:solidFill>
              </a:rPr>
              <a:t>2. Supervised training</a:t>
            </a:r>
            <a:endParaRPr lang="en-US" sz="1600" dirty="0"/>
          </a:p>
        </p:txBody>
      </p:sp>
      <p:sp>
        <p:nvSpPr>
          <p:cNvPr id="11" name="Text 8"/>
          <p:cNvSpPr txBox="1"/>
          <p:nvPr/>
        </p:nvSpPr>
        <p:spPr>
          <a:xfrm>
            <a:off x="4507992" y="4535424"/>
            <a:ext cx="3191256" cy="150876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1,000 epochs on 2,845 clips, AdamW 5e-4, mixup, stream dropout, resolution jitter, EMA. The final epoch is kept: no selection on test.</a:t>
            </a:r>
            <a:endParaRPr lang="en-US" sz="1400" dirty="0"/>
          </a:p>
        </p:txBody>
      </p:sp>
      <p:sp>
        <p:nvSpPr>
          <p:cNvPr id="12" name="card 3. 4-bit quantisation-aware"/>
          <p:cNvSpPr/>
          <p:nvPr/>
        </p:nvSpPr>
        <p:spPr>
          <a:xfrm>
            <a:off x="8028432" y="3931920"/>
            <a:ext cx="3611880" cy="2240280"/>
          </a:xfrm>
          <a:prstGeom prst="roundRect">
            <a:avLst>
              <a:gd name="adj" fmla="val 4082"/>
            </a:avLst>
          </a:prstGeom>
          <a:solidFill>
            <a:schemeClr val="bg2"/>
          </a:solidFill>
          <a:ln w="12700">
            <a:solidFill>
              <a:schemeClr val="bg2"/>
            </a:solidFill>
            <a:prstDash val="solid"/>
          </a:ln>
        </p:spPr>
      </p:sp>
      <p:sp>
        <p:nvSpPr>
          <p:cNvPr id="13" name="dot 3. 4-bit quantisation-aware"/>
          <p:cNvSpPr/>
          <p:nvPr/>
        </p:nvSpPr>
        <p:spPr>
          <a:xfrm>
            <a:off x="8229600" y="4151376"/>
            <a:ext cx="201168" cy="201168"/>
          </a:xfrm>
          <a:prstGeom prst="ellipse">
            <a:avLst/>
          </a:prstGeom>
          <a:solidFill>
            <a:schemeClr val="accent2"/>
          </a:solidFill>
          <a:ln w="12700">
            <a:solidFill>
              <a:schemeClr val="accent2"/>
            </a:solidFill>
            <a:prstDash val="solid"/>
          </a:ln>
        </p:spPr>
      </p:sp>
      <p:sp>
        <p:nvSpPr>
          <p:cNvPr id="14" name="Text 11"/>
          <p:cNvSpPr txBox="1"/>
          <p:nvPr/>
        </p:nvSpPr>
        <p:spPr>
          <a:xfrm>
            <a:off x="8540496" y="4041648"/>
            <a:ext cx="2926080" cy="420624"/>
          </a:xfrm>
          <a:prstGeom prst="rect">
            <a:avLst/>
          </a:prstGeom>
          <a:noFill/>
          <a:ln/>
        </p:spPr>
        <p:txBody>
          <a:bodyPr wrap="square" lIns="0" tIns="0" rIns="0" bIns="0" rtlCol="0" anchor="ctr"/>
          <a:lstStyle/>
          <a:p>
            <a:pPr indent="0" marL="0">
              <a:buNone/>
            </a:pPr>
            <a:r>
              <a:rPr lang="en-US" sz="1600" b="1" dirty="0">
                <a:solidFill>
                  <a:schemeClr val="tx1"/>
                </a:solidFill>
              </a:rPr>
              <a:t>3. 4-bit quantisation-aware</a:t>
            </a:r>
            <a:endParaRPr lang="en-US" sz="1600" dirty="0"/>
          </a:p>
        </p:txBody>
      </p:sp>
      <p:sp>
        <p:nvSpPr>
          <p:cNvPr id="15" name="Text 12"/>
          <p:cNvSpPr txBox="1"/>
          <p:nvPr/>
        </p:nvSpPr>
        <p:spPr>
          <a:xfrm>
            <a:off x="8247888" y="4535424"/>
            <a:ext cx="3191256" cy="150876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Weights at 4 bits in groups of 128 with 16-bit scales; straight-through estimator; 300 epochs. Post-training rounding lost 3.1 points, QAT only 0.6.</a:t>
            </a:r>
            <a:endParaRPr lang="en-US" sz="1400" dirty="0"/>
          </a:p>
        </p:txBody>
      </p:sp>
      <p:sp>
        <p:nvSpPr>
          <p:cNvPr id="25" name="Slide Number Placeholder 0"/>
          <p:cNvSpPr>
            <a:spLocks noGrp="1"/>
          </p:cNvSpPr>
          <p:nvPr>
            <p:ph type="sldNum" sz="quarter" idx="4294967295"/>
          </p:nvPr>
        </p:nvSpPr>
        <p:spPr>
          <a:xfrm>
            <a:off x="11155680"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Comparing the classifier variants</a:t>
            </a:r>
            <a:endParaRPr lang="en-US" sz="3000" dirty="0"/>
          </a:p>
        </p:txBody>
      </p:sp>
      <p:graphicFrame>
        <p:nvGraphicFramePr>
          <p:cNvPr id="3" name="Chart 0" descr=""/>
          <p:cNvGraphicFramePr/>
          <p:nvPr/>
        </p:nvGraphicFramePr>
        <p:xfrm>
          <a:off x="548640" y="1188720"/>
          <a:ext cx="6949440" cy="49834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863840" y="1325880"/>
            <a:ext cx="3749040" cy="77724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85.9 %</a:t>
            </a:r>
            <a:endParaRPr lang="en-US" sz="4000" dirty="0"/>
          </a:p>
        </p:txBody>
      </p:sp>
      <p:sp>
        <p:nvSpPr>
          <p:cNvPr id="5" name="Text 2"/>
          <p:cNvSpPr txBox="1"/>
          <p:nvPr/>
        </p:nvSpPr>
        <p:spPr>
          <a:xfrm>
            <a:off x="7863840" y="2103120"/>
            <a:ext cx="3749040" cy="457200"/>
          </a:xfrm>
          <a:prstGeom prst="rect">
            <a:avLst/>
          </a:prstGeom>
          <a:noFill/>
          <a:ln/>
        </p:spPr>
        <p:txBody>
          <a:bodyPr wrap="square" lIns="0" tIns="0" rIns="0" bIns="0" rtlCol="0" anchor="t"/>
          <a:lstStyle/>
          <a:p>
            <a:pPr indent="0" marL="0">
              <a:buNone/>
            </a:pPr>
            <a:r>
              <a:rPr lang="en-US" sz="1300" dirty="0">
                <a:solidFill>
                  <a:srgbClr val="5B6474"/>
                </a:solidFill>
              </a:rPr>
              <a:t>top-1, shipped 4-bit model (seeds 84.5 / 87.5 / 85.8)</a:t>
            </a:r>
            <a:endParaRPr lang="en-US" sz="1300" dirty="0"/>
          </a:p>
        </p:txBody>
      </p:sp>
      <p:sp>
        <p:nvSpPr>
          <p:cNvPr id="6" name="Text 3"/>
          <p:cNvSpPr txBox="1"/>
          <p:nvPr/>
        </p:nvSpPr>
        <p:spPr>
          <a:xfrm>
            <a:off x="7863840" y="2697480"/>
            <a:ext cx="3749040" cy="777240"/>
          </a:xfrm>
          <a:prstGeom prst="rect">
            <a:avLst/>
          </a:prstGeom>
          <a:noFill/>
          <a:ln/>
        </p:spPr>
        <p:txBody>
          <a:bodyPr wrap="square" lIns="0" tIns="0" rIns="0" bIns="0" rtlCol="0" anchor="ctr"/>
          <a:lstStyle/>
          <a:p>
            <a:pPr indent="0" marL="0">
              <a:buNone/>
            </a:pPr>
            <a:r>
              <a:rPr lang="en-US" sz="4000" b="1" dirty="0">
                <a:solidFill>
                  <a:schemeClr val="accent3"/>
                </a:solidFill>
                <a:latin typeface="Cambria" pitchFamily="34" charset="0"/>
                <a:ea typeface="Cambria" pitchFamily="34" charset="-122"/>
                <a:cs typeface="Cambria" pitchFamily="34" charset="-120"/>
              </a:rPr>
              <a:t>96.4 %</a:t>
            </a:r>
            <a:endParaRPr lang="en-US" sz="4000" dirty="0"/>
          </a:p>
        </p:txBody>
      </p:sp>
      <p:sp>
        <p:nvSpPr>
          <p:cNvPr id="7" name="Text 4"/>
          <p:cNvSpPr txBox="1"/>
          <p:nvPr/>
        </p:nvSpPr>
        <p:spPr>
          <a:xfrm>
            <a:off x="7863840" y="3474720"/>
            <a:ext cx="3749040" cy="457200"/>
          </a:xfrm>
          <a:prstGeom prst="rect">
            <a:avLst/>
          </a:prstGeom>
          <a:noFill/>
          <a:ln/>
        </p:spPr>
        <p:txBody>
          <a:bodyPr wrap="square" lIns="0" tIns="0" rIns="0" bIns="0" rtlCol="0" anchor="t"/>
          <a:lstStyle/>
          <a:p>
            <a:pPr indent="0" marL="0">
              <a:buNone/>
            </a:pPr>
            <a:r>
              <a:rPr lang="en-US" sz="1300" dirty="0">
                <a:solidFill>
                  <a:srgbClr val="5B6474"/>
                </a:solidFill>
              </a:rPr>
              <a:t>top-5: the right word is usually in the shortlist</a:t>
            </a:r>
            <a:endParaRPr lang="en-US" sz="1300" dirty="0"/>
          </a:p>
        </p:txBody>
      </p:sp>
      <p:sp>
        <p:nvSpPr>
          <p:cNvPr id="8" name="Text 5"/>
          <p:cNvSpPr txBox="1"/>
          <p:nvPr/>
        </p:nvSpPr>
        <p:spPr>
          <a:xfrm>
            <a:off x="7863840" y="4069080"/>
            <a:ext cx="3749040" cy="77724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1.97 MiB</a:t>
            </a:r>
            <a:endParaRPr lang="en-US" sz="4000" dirty="0"/>
          </a:p>
        </p:txBody>
      </p:sp>
      <p:sp>
        <p:nvSpPr>
          <p:cNvPr id="9" name="Text 6"/>
          <p:cNvSpPr txBox="1"/>
          <p:nvPr/>
        </p:nvSpPr>
        <p:spPr>
          <a:xfrm>
            <a:off x="7863840" y="4846320"/>
            <a:ext cx="3749040" cy="457200"/>
          </a:xfrm>
          <a:prstGeom prst="rect">
            <a:avLst/>
          </a:prstGeom>
          <a:noFill/>
          <a:ln/>
        </p:spPr>
        <p:txBody>
          <a:bodyPr wrap="square" lIns="0" tIns="0" rIns="0" bIns="0" rtlCol="0" anchor="t"/>
          <a:lstStyle/>
          <a:p>
            <a:pPr indent="0" marL="0">
              <a:buNone/>
            </a:pPr>
            <a:r>
              <a:rPr lang="en-US" sz="1300" dirty="0">
                <a:solidFill>
                  <a:srgbClr val="5B6474"/>
                </a:solidFill>
              </a:rPr>
              <a:t>3.89 M parameters, 4-bit</a:t>
            </a:r>
            <a:endParaRPr lang="en-US" sz="1300" dirty="0"/>
          </a:p>
        </p:txBody>
      </p:sp>
      <p:sp>
        <p:nvSpPr>
          <p:cNvPr id="10" name="Text 7"/>
          <p:cNvSpPr txBox="1"/>
          <p:nvPr/>
        </p:nvSpPr>
        <p:spPr>
          <a:xfrm>
            <a:off x="7863840" y="5440680"/>
            <a:ext cx="3749040" cy="777240"/>
          </a:xfrm>
          <a:prstGeom prst="rect">
            <a:avLst/>
          </a:prstGeom>
          <a:noFill/>
          <a:ln/>
        </p:spPr>
        <p:txBody>
          <a:bodyPr wrap="square" lIns="0" tIns="0" rIns="0" bIns="0" rtlCol="0" anchor="ctr"/>
          <a:lstStyle/>
          <a:p>
            <a:pPr indent="0" marL="0">
              <a:buNone/>
            </a:pPr>
            <a:r>
              <a:rPr lang="en-US" sz="1200" dirty="0">
                <a:solidFill>
                  <a:srgbClr val="4B5563"/>
                </a:solidFill>
              </a:rPr>
              <a:t>Answering from all 262 words instead of the 50 gives 72.0 %, so the app restricts answers exactly as the evaluation does.</a:t>
            </a:r>
            <a:endParaRPr lang="en-US" sz="1200" dirty="0"/>
          </a:p>
        </p:txBody>
      </p:sp>
      <p:sp>
        <p:nvSpPr>
          <p:cNvPr id="25" name="Slide Number Placeholder 0"/>
          <p:cNvSpPr>
            <a:spLocks noGrp="1"/>
          </p:cNvSpPr>
          <p:nvPr>
            <p:ph type="sldNum" sz="quarter" idx="4294967295"/>
          </p:nvPr>
        </p:nvSpPr>
        <p:spPr>
          <a:xfrm>
            <a:off x="11155680"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Where a GAN can help: low-resolution video</a:t>
            </a:r>
            <a:endParaRPr lang="en-US" sz="3000" dirty="0"/>
          </a:p>
        </p:txBody>
      </p:sp>
      <p:sp>
        <p:nvSpPr>
          <p:cNvPr id="3" name="step Camera video"/>
          <p:cNvSpPr/>
          <p:nvPr/>
        </p:nvSpPr>
        <p:spPr>
          <a:xfrm>
            <a:off x="548640" y="1325880"/>
            <a:ext cx="1920240" cy="822960"/>
          </a:xfrm>
          <a:prstGeom prst="roundRect">
            <a:avLst>
              <a:gd name="adj" fmla="val 11111"/>
            </a:avLst>
          </a:prstGeom>
          <a:solidFill>
            <a:schemeClr val="bg2"/>
          </a:solidFill>
          <a:ln w="12700">
            <a:solidFill>
              <a:srgbClr val="C9CFDA"/>
            </a:solidFill>
            <a:prstDash val="solid"/>
          </a:ln>
        </p:spPr>
      </p:sp>
      <p:sp>
        <p:nvSpPr>
          <p:cNvPr id="4" name="Text 2"/>
          <p:cNvSpPr txBox="1"/>
          <p:nvPr/>
        </p:nvSpPr>
        <p:spPr>
          <a:xfrm>
            <a:off x="548640" y="1325880"/>
            <a:ext cx="1920240" cy="822960"/>
          </a:xfrm>
          <a:prstGeom prst="rect">
            <a:avLst/>
          </a:prstGeom>
          <a:noFill/>
          <a:ln/>
        </p:spPr>
        <p:txBody>
          <a:bodyPr wrap="square" lIns="0" tIns="0" rIns="0" bIns="0" rtlCol="0" anchor="ctr"/>
          <a:lstStyle/>
          <a:p>
            <a:pPr algn="ctr" indent="0" marL="0">
              <a:buNone/>
            </a:pPr>
            <a:r>
              <a:rPr lang="en-US" sz="1400" b="1" dirty="0">
                <a:solidFill>
                  <a:schemeClr val="tx1"/>
                </a:solidFill>
              </a:rPr>
              <a:t>Camera video</a:t>
            </a:r>
            <a:endParaRPr lang="en-US" sz="1400" dirty="0"/>
          </a:p>
        </p:txBody>
      </p:sp>
      <p:sp>
        <p:nvSpPr>
          <p:cNvPr id="5" name="arrow 0"/>
          <p:cNvSpPr/>
          <p:nvPr/>
        </p:nvSpPr>
        <p:spPr>
          <a:xfrm>
            <a:off x="2487168" y="1737360"/>
            <a:ext cx="310896" cy="0"/>
          </a:xfrm>
          <a:prstGeom prst="line">
            <a:avLst/>
          </a:prstGeom>
          <a:noFill/>
          <a:ln w="19050">
            <a:solidFill>
              <a:srgbClr val="6B7280"/>
            </a:solidFill>
            <a:prstDash val="solid"/>
            <a:tailEnd type="triangle"/>
          </a:ln>
        </p:spPr>
      </p:sp>
      <p:sp>
        <p:nvSpPr>
          <p:cNvPr id="6" name="step Below 720p?"/>
          <p:cNvSpPr/>
          <p:nvPr/>
        </p:nvSpPr>
        <p:spPr>
          <a:xfrm>
            <a:off x="2816352" y="1325880"/>
            <a:ext cx="1920240" cy="822960"/>
          </a:xfrm>
          <a:prstGeom prst="roundRect">
            <a:avLst>
              <a:gd name="adj" fmla="val 11111"/>
            </a:avLst>
          </a:prstGeom>
          <a:solidFill>
            <a:schemeClr val="bg2"/>
          </a:solidFill>
          <a:ln w="12700">
            <a:solidFill>
              <a:srgbClr val="C9CFDA"/>
            </a:solidFill>
            <a:prstDash val="solid"/>
          </a:ln>
        </p:spPr>
      </p:sp>
      <p:sp>
        <p:nvSpPr>
          <p:cNvPr id="7" name="Text 5"/>
          <p:cNvSpPr txBox="1"/>
          <p:nvPr/>
        </p:nvSpPr>
        <p:spPr>
          <a:xfrm>
            <a:off x="2816352" y="1325880"/>
            <a:ext cx="1920240" cy="822960"/>
          </a:xfrm>
          <a:prstGeom prst="rect">
            <a:avLst/>
          </a:prstGeom>
          <a:noFill/>
          <a:ln/>
        </p:spPr>
        <p:txBody>
          <a:bodyPr wrap="square" lIns="0" tIns="0" rIns="0" bIns="0" rtlCol="0" anchor="ctr"/>
          <a:lstStyle/>
          <a:p>
            <a:pPr algn="ctr" indent="0" marL="0">
              <a:buNone/>
            </a:pPr>
            <a:r>
              <a:rPr lang="en-US" sz="1400" b="1" dirty="0">
                <a:solidFill>
                  <a:schemeClr val="tx1"/>
                </a:solidFill>
              </a:rPr>
              <a:t>Below 720p?</a:t>
            </a:r>
            <a:endParaRPr lang="en-US" sz="1400" dirty="0"/>
          </a:p>
        </p:txBody>
      </p:sp>
      <p:sp>
        <p:nvSpPr>
          <p:cNvPr id="8" name="arrow 1"/>
          <p:cNvSpPr/>
          <p:nvPr/>
        </p:nvSpPr>
        <p:spPr>
          <a:xfrm>
            <a:off x="4754880" y="1737360"/>
            <a:ext cx="310896" cy="0"/>
          </a:xfrm>
          <a:prstGeom prst="line">
            <a:avLst/>
          </a:prstGeom>
          <a:noFill/>
          <a:ln w="19050">
            <a:solidFill>
              <a:srgbClr val="6B7280"/>
            </a:solidFill>
            <a:prstDash val="solid"/>
            <a:tailEnd type="triangle"/>
          </a:ln>
        </p:spPr>
      </p:sp>
      <p:sp>
        <p:nvSpPr>
          <p:cNvPr id="9" name="step Bicubic  |  SR-GAN"/>
          <p:cNvSpPr/>
          <p:nvPr/>
        </p:nvSpPr>
        <p:spPr>
          <a:xfrm>
            <a:off x="5084064" y="1325880"/>
            <a:ext cx="1920240" cy="822960"/>
          </a:xfrm>
          <a:prstGeom prst="roundRect">
            <a:avLst>
              <a:gd name="adj" fmla="val 11111"/>
            </a:avLst>
          </a:prstGeom>
          <a:solidFill>
            <a:schemeClr val="accent1"/>
          </a:solidFill>
          <a:ln w="12700">
            <a:solidFill>
              <a:srgbClr val="2E9E6E"/>
            </a:solidFill>
            <a:prstDash val="solid"/>
          </a:ln>
        </p:spPr>
      </p:sp>
      <p:sp>
        <p:nvSpPr>
          <p:cNvPr id="10" name="Text 8"/>
          <p:cNvSpPr txBox="1"/>
          <p:nvPr/>
        </p:nvSpPr>
        <p:spPr>
          <a:xfrm>
            <a:off x="5084064" y="1325880"/>
            <a:ext cx="1920240" cy="822960"/>
          </a:xfrm>
          <a:prstGeom prst="rect">
            <a:avLst/>
          </a:prstGeom>
          <a:noFill/>
          <a:ln/>
        </p:spPr>
        <p:txBody>
          <a:bodyPr wrap="square" lIns="0" tIns="0" rIns="0" bIns="0" rtlCol="0" anchor="ctr"/>
          <a:lstStyle/>
          <a:p>
            <a:pPr algn="ctr" indent="0" marL="0">
              <a:buNone/>
            </a:pPr>
            <a:r>
              <a:rPr lang="en-US" sz="1400" b="1" dirty="0">
                <a:solidFill>
                  <a:schemeClr val="bg1"/>
                </a:solidFill>
              </a:rPr>
              <a:t>Bicubic  |  SR-GAN</a:t>
            </a:r>
            <a:endParaRPr lang="en-US" sz="1400" dirty="0"/>
          </a:p>
        </p:txBody>
      </p:sp>
      <p:sp>
        <p:nvSpPr>
          <p:cNvPr id="11" name="arrow 2"/>
          <p:cNvSpPr/>
          <p:nvPr/>
        </p:nvSpPr>
        <p:spPr>
          <a:xfrm>
            <a:off x="7022592" y="1737360"/>
            <a:ext cx="310896" cy="0"/>
          </a:xfrm>
          <a:prstGeom prst="line">
            <a:avLst/>
          </a:prstGeom>
          <a:noFill/>
          <a:ln w="19050">
            <a:solidFill>
              <a:srgbClr val="6B7280"/>
            </a:solidFill>
            <a:prstDash val="solid"/>
            <a:tailEnd type="triangle"/>
          </a:ln>
        </p:spPr>
      </p:sp>
      <p:sp>
        <p:nvSpPr>
          <p:cNvPr id="12" name="step MediaPipe hands"/>
          <p:cNvSpPr/>
          <p:nvPr/>
        </p:nvSpPr>
        <p:spPr>
          <a:xfrm>
            <a:off x="7351776" y="1325880"/>
            <a:ext cx="1920240" cy="822960"/>
          </a:xfrm>
          <a:prstGeom prst="roundRect">
            <a:avLst>
              <a:gd name="adj" fmla="val 11111"/>
            </a:avLst>
          </a:prstGeom>
          <a:solidFill>
            <a:schemeClr val="bg2"/>
          </a:solidFill>
          <a:ln w="12700">
            <a:solidFill>
              <a:srgbClr val="C9CFDA"/>
            </a:solidFill>
            <a:prstDash val="solid"/>
          </a:ln>
        </p:spPr>
      </p:sp>
      <p:sp>
        <p:nvSpPr>
          <p:cNvPr id="13" name="Text 11"/>
          <p:cNvSpPr txBox="1"/>
          <p:nvPr/>
        </p:nvSpPr>
        <p:spPr>
          <a:xfrm>
            <a:off x="7351776" y="1325880"/>
            <a:ext cx="1920240" cy="822960"/>
          </a:xfrm>
          <a:prstGeom prst="rect">
            <a:avLst/>
          </a:prstGeom>
          <a:noFill/>
          <a:ln/>
        </p:spPr>
        <p:txBody>
          <a:bodyPr wrap="square" lIns="0" tIns="0" rIns="0" bIns="0" rtlCol="0" anchor="ctr"/>
          <a:lstStyle/>
          <a:p>
            <a:pPr algn="ctr" indent="0" marL="0">
              <a:buNone/>
            </a:pPr>
            <a:r>
              <a:rPr lang="en-US" sz="1400" b="1" dirty="0">
                <a:solidFill>
                  <a:schemeClr val="tx1"/>
                </a:solidFill>
              </a:rPr>
              <a:t>MediaPipe hands</a:t>
            </a:r>
            <a:endParaRPr lang="en-US" sz="1400" dirty="0"/>
          </a:p>
        </p:txBody>
      </p:sp>
      <p:sp>
        <p:nvSpPr>
          <p:cNvPr id="14" name="arrow 3"/>
          <p:cNvSpPr/>
          <p:nvPr/>
        </p:nvSpPr>
        <p:spPr>
          <a:xfrm>
            <a:off x="9290304" y="1737360"/>
            <a:ext cx="310896" cy="0"/>
          </a:xfrm>
          <a:prstGeom prst="line">
            <a:avLst/>
          </a:prstGeom>
          <a:noFill/>
          <a:ln w="19050">
            <a:solidFill>
              <a:srgbClr val="6B7280"/>
            </a:solidFill>
            <a:prstDash val="solid"/>
            <a:tailEnd type="triangle"/>
          </a:ln>
        </p:spPr>
      </p:sp>
      <p:sp>
        <p:nvSpPr>
          <p:cNvPr id="15" name="step ISL-ViT-Tiny"/>
          <p:cNvSpPr/>
          <p:nvPr/>
        </p:nvSpPr>
        <p:spPr>
          <a:xfrm>
            <a:off x="9619488" y="1325880"/>
            <a:ext cx="1920240" cy="822960"/>
          </a:xfrm>
          <a:prstGeom prst="roundRect">
            <a:avLst>
              <a:gd name="adj" fmla="val 11111"/>
            </a:avLst>
          </a:prstGeom>
          <a:solidFill>
            <a:schemeClr val="bg2"/>
          </a:solidFill>
          <a:ln w="12700">
            <a:solidFill>
              <a:srgbClr val="C9CFDA"/>
            </a:solidFill>
            <a:prstDash val="solid"/>
          </a:ln>
        </p:spPr>
      </p:sp>
      <p:sp>
        <p:nvSpPr>
          <p:cNvPr id="16" name="Text 14"/>
          <p:cNvSpPr txBox="1"/>
          <p:nvPr/>
        </p:nvSpPr>
        <p:spPr>
          <a:xfrm>
            <a:off x="9619488" y="1325880"/>
            <a:ext cx="1920240" cy="822960"/>
          </a:xfrm>
          <a:prstGeom prst="rect">
            <a:avLst/>
          </a:prstGeom>
          <a:noFill/>
          <a:ln/>
        </p:spPr>
        <p:txBody>
          <a:bodyPr wrap="square" lIns="0" tIns="0" rIns="0" bIns="0" rtlCol="0" anchor="ctr"/>
          <a:lstStyle/>
          <a:p>
            <a:pPr algn="ctr" indent="0" marL="0">
              <a:buNone/>
            </a:pPr>
            <a:r>
              <a:rPr lang="en-US" sz="1400" b="1" dirty="0">
                <a:solidFill>
                  <a:schemeClr val="tx1"/>
                </a:solidFill>
              </a:rPr>
              <a:t>ISL-ViT-Tiny</a:t>
            </a:r>
            <a:endParaRPr lang="en-US" sz="1400" dirty="0"/>
          </a:p>
        </p:txBody>
      </p:sp>
      <p:sp>
        <p:nvSpPr>
          <p:cNvPr id="17" name="card Why here"/>
          <p:cNvSpPr/>
          <p:nvPr/>
        </p:nvSpPr>
        <p:spPr>
          <a:xfrm>
            <a:off x="548640" y="2468880"/>
            <a:ext cx="5440680" cy="2148840"/>
          </a:xfrm>
          <a:prstGeom prst="roundRect">
            <a:avLst>
              <a:gd name="adj" fmla="val 4255"/>
            </a:avLst>
          </a:prstGeom>
          <a:solidFill>
            <a:schemeClr val="bg2"/>
          </a:solidFill>
          <a:ln w="12700">
            <a:solidFill>
              <a:schemeClr val="bg2"/>
            </a:solidFill>
            <a:prstDash val="solid"/>
          </a:ln>
        </p:spPr>
      </p:sp>
      <p:sp>
        <p:nvSpPr>
          <p:cNvPr id="18" name="dot Why here"/>
          <p:cNvSpPr/>
          <p:nvPr/>
        </p:nvSpPr>
        <p:spPr>
          <a:xfrm>
            <a:off x="749808" y="2688336"/>
            <a:ext cx="201168" cy="201168"/>
          </a:xfrm>
          <a:prstGeom prst="ellipse">
            <a:avLst/>
          </a:prstGeom>
          <a:solidFill>
            <a:schemeClr val="accent1"/>
          </a:solidFill>
          <a:ln w="12700">
            <a:solidFill>
              <a:schemeClr val="accent1"/>
            </a:solidFill>
            <a:prstDash val="solid"/>
          </a:ln>
        </p:spPr>
      </p:sp>
      <p:sp>
        <p:nvSpPr>
          <p:cNvPr id="19" name="Text 17"/>
          <p:cNvSpPr txBox="1"/>
          <p:nvPr/>
        </p:nvSpPr>
        <p:spPr>
          <a:xfrm>
            <a:off x="1060704" y="2578608"/>
            <a:ext cx="4754880" cy="420624"/>
          </a:xfrm>
          <a:prstGeom prst="rect">
            <a:avLst/>
          </a:prstGeom>
          <a:noFill/>
          <a:ln/>
        </p:spPr>
        <p:txBody>
          <a:bodyPr wrap="square" lIns="0" tIns="0" rIns="0" bIns="0" rtlCol="0" anchor="ctr"/>
          <a:lstStyle/>
          <a:p>
            <a:pPr indent="0" marL="0">
              <a:buNone/>
            </a:pPr>
            <a:r>
              <a:rPr lang="en-US" sz="1600" b="1" dirty="0">
                <a:solidFill>
                  <a:schemeClr val="tx1"/>
                </a:solidFill>
              </a:rPr>
              <a:t>Why here</a:t>
            </a:r>
            <a:endParaRPr lang="en-US" sz="1600" dirty="0"/>
          </a:p>
        </p:txBody>
      </p:sp>
      <p:sp>
        <p:nvSpPr>
          <p:cNvPr id="20" name="Text 18"/>
          <p:cNvSpPr txBox="1"/>
          <p:nvPr/>
        </p:nvSpPr>
        <p:spPr>
          <a:xfrm>
            <a:off x="768096" y="3072384"/>
            <a:ext cx="5020056" cy="14173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Every clip reaches the hand detector through one resize to 720p, which was bicubic. A wearable camera would send small, compressed video through exactly this step. The GAN replaces only that resize; 1080p video never passes through it, so clean results cannot change.</a:t>
            </a:r>
            <a:endParaRPr lang="en-US" sz="1400" dirty="0"/>
          </a:p>
        </p:txBody>
      </p:sp>
      <p:sp>
        <p:nvSpPr>
          <p:cNvPr id="21" name="card How we tested it"/>
          <p:cNvSpPr/>
          <p:nvPr/>
        </p:nvSpPr>
        <p:spPr>
          <a:xfrm>
            <a:off x="6172200" y="2468880"/>
            <a:ext cx="5440680" cy="2148840"/>
          </a:xfrm>
          <a:prstGeom prst="roundRect">
            <a:avLst>
              <a:gd name="adj" fmla="val 4255"/>
            </a:avLst>
          </a:prstGeom>
          <a:solidFill>
            <a:schemeClr val="bg2"/>
          </a:solidFill>
          <a:ln w="12700">
            <a:solidFill>
              <a:schemeClr val="bg2"/>
            </a:solidFill>
            <a:prstDash val="solid"/>
          </a:ln>
        </p:spPr>
      </p:sp>
      <p:sp>
        <p:nvSpPr>
          <p:cNvPr id="22" name="dot How we tested it"/>
          <p:cNvSpPr/>
          <p:nvPr/>
        </p:nvSpPr>
        <p:spPr>
          <a:xfrm>
            <a:off x="6373368" y="2688336"/>
            <a:ext cx="201168" cy="201168"/>
          </a:xfrm>
          <a:prstGeom prst="ellipse">
            <a:avLst/>
          </a:prstGeom>
          <a:solidFill>
            <a:schemeClr val="accent3"/>
          </a:solidFill>
          <a:ln w="12700">
            <a:solidFill>
              <a:schemeClr val="accent3"/>
            </a:solidFill>
            <a:prstDash val="solid"/>
          </a:ln>
        </p:spPr>
      </p:sp>
      <p:sp>
        <p:nvSpPr>
          <p:cNvPr id="23" name="Text 21"/>
          <p:cNvSpPr txBox="1"/>
          <p:nvPr/>
        </p:nvSpPr>
        <p:spPr>
          <a:xfrm>
            <a:off x="6684264" y="2578608"/>
            <a:ext cx="4754880" cy="420624"/>
          </a:xfrm>
          <a:prstGeom prst="rect">
            <a:avLst/>
          </a:prstGeom>
          <a:noFill/>
          <a:ln/>
        </p:spPr>
        <p:txBody>
          <a:bodyPr wrap="square" lIns="0" tIns="0" rIns="0" bIns="0" rtlCol="0" anchor="ctr"/>
          <a:lstStyle/>
          <a:p>
            <a:pPr indent="0" marL="0">
              <a:buNone/>
            </a:pPr>
            <a:r>
              <a:rPr lang="en-US" sz="1600" b="1" dirty="0">
                <a:solidFill>
                  <a:schemeClr val="tx1"/>
                </a:solidFill>
              </a:rPr>
              <a:t>How we tested it</a:t>
            </a:r>
            <a:endParaRPr lang="en-US" sz="1600" dirty="0"/>
          </a:p>
        </p:txBody>
      </p:sp>
      <p:sp>
        <p:nvSpPr>
          <p:cNvPr id="24" name="Text 22"/>
          <p:cNvSpPr txBox="1"/>
          <p:nvPr/>
        </p:nvSpPr>
        <p:spPr>
          <a:xfrm>
            <a:off x="6391656" y="3072384"/>
            <a:ext cx="5020056" cy="14173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472 test clips degraded to 360p, 240p, 180p with JPEG. Front ends: bicubic, SR-L1 (same generator, no adversarial loss), SR-GAN v1, v2 and two v3 arms. Frozen 4-bit and 32-bit models, plus models fine-tuned on 360p. Paired McNemar tests; a rule fixed before the runs.</a:t>
            </a:r>
            <a:endParaRPr lang="en-US" sz="1400" dirty="0"/>
          </a:p>
        </p:txBody>
      </p:sp>
      <p:sp>
        <p:nvSpPr>
          <p:cNvPr id="25" name="Text 23"/>
          <p:cNvSpPr txBox="1"/>
          <p:nvPr/>
        </p:nvSpPr>
        <p:spPr>
          <a:xfrm>
            <a:off x="548640" y="4846320"/>
            <a:ext cx="2651760" cy="77724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3</a:t>
            </a:r>
            <a:endParaRPr lang="en-US" sz="4000" dirty="0"/>
          </a:p>
        </p:txBody>
      </p:sp>
      <p:sp>
        <p:nvSpPr>
          <p:cNvPr id="26" name="Text 24"/>
          <p:cNvSpPr txBox="1"/>
          <p:nvPr/>
        </p:nvSpPr>
        <p:spPr>
          <a:xfrm>
            <a:off x="548640" y="5623560"/>
            <a:ext cx="2651760" cy="457200"/>
          </a:xfrm>
          <a:prstGeom prst="rect">
            <a:avLst/>
          </a:prstGeom>
          <a:noFill/>
          <a:ln/>
        </p:spPr>
        <p:txBody>
          <a:bodyPr wrap="square" lIns="0" tIns="0" rIns="0" bIns="0" rtlCol="0" anchor="t"/>
          <a:lstStyle/>
          <a:p>
            <a:pPr indent="0" marL="0">
              <a:buNone/>
            </a:pPr>
            <a:r>
              <a:rPr lang="en-US" sz="1300" dirty="0">
                <a:solidFill>
                  <a:srgbClr val="5B6474"/>
                </a:solidFill>
              </a:rPr>
              <a:t>levels: 360p, 240p, 180p, each with JPEG</a:t>
            </a:r>
            <a:endParaRPr lang="en-US" sz="1300" dirty="0"/>
          </a:p>
        </p:txBody>
      </p:sp>
      <p:sp>
        <p:nvSpPr>
          <p:cNvPr id="27" name="Text 25"/>
          <p:cNvSpPr txBox="1"/>
          <p:nvPr/>
        </p:nvSpPr>
        <p:spPr>
          <a:xfrm>
            <a:off x="3337560" y="4846320"/>
            <a:ext cx="2651760" cy="777240"/>
          </a:xfrm>
          <a:prstGeom prst="rect">
            <a:avLst/>
          </a:prstGeom>
          <a:noFill/>
          <a:ln/>
        </p:spPr>
        <p:txBody>
          <a:bodyPr wrap="square" lIns="0" tIns="0" rIns="0" bIns="0" rtlCol="0" anchor="ctr"/>
          <a:lstStyle/>
          <a:p>
            <a:pPr indent="0" marL="0">
              <a:buNone/>
            </a:pPr>
            <a:r>
              <a:rPr lang="en-US" sz="4000" b="1" dirty="0">
                <a:solidFill>
                  <a:schemeClr val="accent3"/>
                </a:solidFill>
                <a:latin typeface="Cambria" pitchFamily="34" charset="0"/>
                <a:ea typeface="Cambria" pitchFamily="34" charset="-122"/>
                <a:cs typeface="Cambria" pitchFamily="34" charset="-120"/>
              </a:rPr>
              <a:t>6</a:t>
            </a:r>
            <a:endParaRPr lang="en-US" sz="4000" dirty="0"/>
          </a:p>
        </p:txBody>
      </p:sp>
      <p:sp>
        <p:nvSpPr>
          <p:cNvPr id="28" name="Text 26"/>
          <p:cNvSpPr txBox="1"/>
          <p:nvPr/>
        </p:nvSpPr>
        <p:spPr>
          <a:xfrm>
            <a:off x="3337560" y="5623560"/>
            <a:ext cx="2651760" cy="457200"/>
          </a:xfrm>
          <a:prstGeom prst="rect">
            <a:avLst/>
          </a:prstGeom>
          <a:noFill/>
          <a:ln/>
        </p:spPr>
        <p:txBody>
          <a:bodyPr wrap="square" lIns="0" tIns="0" rIns="0" bIns="0" rtlCol="0" anchor="t"/>
          <a:lstStyle/>
          <a:p>
            <a:pPr indent="0" marL="0">
              <a:buNone/>
            </a:pPr>
            <a:r>
              <a:rPr lang="en-US" sz="1300" dirty="0">
                <a:solidFill>
                  <a:srgbClr val="5B6474"/>
                </a:solidFill>
              </a:rPr>
              <a:t>front ends: bicubic, SR-L1, SR-GAN v1, v2, two v3 arms</a:t>
            </a:r>
            <a:endParaRPr lang="en-US" sz="1300" dirty="0"/>
          </a:p>
        </p:txBody>
      </p:sp>
      <p:sp>
        <p:nvSpPr>
          <p:cNvPr id="29" name="Text 27"/>
          <p:cNvSpPr txBox="1"/>
          <p:nvPr/>
        </p:nvSpPr>
        <p:spPr>
          <a:xfrm>
            <a:off x="6126480" y="4846320"/>
            <a:ext cx="2651760" cy="77724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472</a:t>
            </a:r>
            <a:endParaRPr lang="en-US" sz="4000" dirty="0"/>
          </a:p>
        </p:txBody>
      </p:sp>
      <p:sp>
        <p:nvSpPr>
          <p:cNvPr id="30" name="Text 28"/>
          <p:cNvSpPr txBox="1"/>
          <p:nvPr/>
        </p:nvSpPr>
        <p:spPr>
          <a:xfrm>
            <a:off x="6126480" y="5623560"/>
            <a:ext cx="2651760" cy="457200"/>
          </a:xfrm>
          <a:prstGeom prst="rect">
            <a:avLst/>
          </a:prstGeom>
          <a:noFill/>
          <a:ln/>
        </p:spPr>
        <p:txBody>
          <a:bodyPr wrap="square" lIns="0" tIns="0" rIns="0" bIns="0" rtlCol="0" anchor="t"/>
          <a:lstStyle/>
          <a:p>
            <a:pPr indent="0" marL="0">
              <a:buNone/>
            </a:pPr>
            <a:r>
              <a:rPr lang="en-US" sz="1300" dirty="0">
                <a:solidFill>
                  <a:srgbClr val="5B6474"/>
                </a:solidFill>
              </a:rPr>
              <a:t>test clips, identical in every run</a:t>
            </a:r>
            <a:endParaRPr lang="en-US" sz="1300" dirty="0"/>
          </a:p>
        </p:txBody>
      </p:sp>
      <p:sp>
        <p:nvSpPr>
          <p:cNvPr id="31" name="Text 29"/>
          <p:cNvSpPr txBox="1"/>
          <p:nvPr/>
        </p:nvSpPr>
        <p:spPr>
          <a:xfrm>
            <a:off x="8915400" y="4846320"/>
            <a:ext cx="2697480" cy="777240"/>
          </a:xfrm>
          <a:prstGeom prst="rect">
            <a:avLst/>
          </a:prstGeom>
          <a:noFill/>
          <a:ln/>
        </p:spPr>
        <p:txBody>
          <a:bodyPr wrap="square" lIns="0" tIns="0" rIns="0" bIns="0" rtlCol="0" anchor="ctr"/>
          <a:lstStyle/>
          <a:p>
            <a:pPr indent="0" marL="0">
              <a:buNone/>
            </a:pPr>
            <a:r>
              <a:rPr lang="en-US" sz="4000" b="1" dirty="0">
                <a:solidFill>
                  <a:schemeClr val="accent4"/>
                </a:solidFill>
                <a:latin typeface="Cambria" pitchFamily="34" charset="0"/>
                <a:ea typeface="Cambria" pitchFamily="34" charset="-122"/>
                <a:cs typeface="Cambria" pitchFamily="34" charset="-120"/>
              </a:rPr>
              <a:t>p &lt; 0.05</a:t>
            </a:r>
            <a:endParaRPr lang="en-US" sz="4000" dirty="0"/>
          </a:p>
        </p:txBody>
      </p:sp>
      <p:sp>
        <p:nvSpPr>
          <p:cNvPr id="32" name="Text 30"/>
          <p:cNvSpPr txBox="1"/>
          <p:nvPr/>
        </p:nvSpPr>
        <p:spPr>
          <a:xfrm>
            <a:off x="8915400" y="5623560"/>
            <a:ext cx="2697480" cy="457200"/>
          </a:xfrm>
          <a:prstGeom prst="rect">
            <a:avLst/>
          </a:prstGeom>
          <a:noFill/>
          <a:ln/>
        </p:spPr>
        <p:txBody>
          <a:bodyPr wrap="square" lIns="0" tIns="0" rIns="0" bIns="0" rtlCol="0" anchor="t"/>
          <a:lstStyle/>
          <a:p>
            <a:pPr indent="0" marL="0">
              <a:buNone/>
            </a:pPr>
            <a:r>
              <a:rPr lang="en-US" sz="1300" dirty="0">
                <a:solidFill>
                  <a:srgbClr val="5B6474"/>
                </a:solidFill>
              </a:rPr>
              <a:t>and all 3 seeds agree, fixed in advance</a:t>
            </a:r>
            <a:endParaRPr lang="en-US" sz="1300" dirty="0"/>
          </a:p>
        </p:txBody>
      </p:sp>
      <p:sp>
        <p:nvSpPr>
          <p:cNvPr id="25" name="Slide Number Placeholder 0"/>
          <p:cNvSpPr>
            <a:spLocks noGrp="1"/>
          </p:cNvSpPr>
          <p:nvPr>
            <p:ph type="sldNum" sz="quarter" idx="4294967295"/>
          </p:nvPr>
        </p:nvSpPr>
        <p:spPr>
          <a:xfrm>
            <a:off x="11155680"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The super-resolution GAN</a:t>
            </a:r>
            <a:endParaRPr lang="en-US" sz="3000" dirty="0"/>
          </a:p>
        </p:txBody>
      </p:sp>
      <p:pic>
        <p:nvPicPr>
          <p:cNvPr id="3" name="d2.png" descr="Generator, discriminator, losses and schedule">    </p:cNvPr>
          <p:cNvPicPr>
            <a:picLocks noChangeAspect="1"/>
          </p:cNvPicPr>
          <p:nvPr/>
        </p:nvPicPr>
        <p:blipFill>
          <a:blip r:embed="rId1"/>
          <a:stretch>
            <a:fillRect/>
          </a:stretch>
        </p:blipFill>
        <p:spPr>
          <a:xfrm>
            <a:off x="570847" y="1188720"/>
            <a:ext cx="11019826" cy="5074920"/>
          </a:xfrm>
          <a:prstGeom prst="rect">
            <a:avLst/>
          </a:prstGeom>
        </p:spPr>
      </p:pic>
      <p:sp>
        <p:nvSpPr>
          <p:cNvPr id="25" name="Slide Number Placeholder 0"/>
          <p:cNvSpPr>
            <a:spLocks noGrp="1"/>
          </p:cNvSpPr>
          <p:nvPr>
            <p:ph type="sldNum" sz="quarter" idx="4294967295"/>
          </p:nvPr>
        </p:nvSpPr>
        <p:spPr>
          <a:xfrm>
            <a:off x="11155680"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GAN results on degraded test video</a:t>
            </a:r>
            <a:endParaRPr lang="en-US" sz="3000" dirty="0"/>
          </a:p>
        </p:txBody>
      </p:sp>
      <p:graphicFrame>
        <p:nvGraphicFramePr>
          <p:cNvPr id="3" name="Chart 0" descr=""/>
          <p:cNvGraphicFramePr/>
          <p:nvPr/>
        </p:nvGraphicFramePr>
        <p:xfrm>
          <a:off x="548640" y="1188720"/>
          <a:ext cx="7315200" cy="50292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8229600" y="1325880"/>
            <a:ext cx="3383280" cy="77724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+14.5</a:t>
            </a:r>
            <a:endParaRPr lang="en-US" sz="4000" dirty="0"/>
          </a:p>
        </p:txBody>
      </p:sp>
      <p:sp>
        <p:nvSpPr>
          <p:cNvPr id="5" name="Text 2"/>
          <p:cNvSpPr txBox="1"/>
          <p:nvPr/>
        </p:nvSpPr>
        <p:spPr>
          <a:xfrm>
            <a:off x="8229600" y="2103120"/>
            <a:ext cx="3383280" cy="457200"/>
          </a:xfrm>
          <a:prstGeom prst="rect">
            <a:avLst/>
          </a:prstGeom>
          <a:noFill/>
          <a:ln/>
        </p:spPr>
        <p:txBody>
          <a:bodyPr wrap="square" lIns="0" tIns="0" rIns="0" bIns="0" rtlCol="0" anchor="t"/>
          <a:lstStyle/>
          <a:p>
            <a:pPr indent="0" marL="0">
              <a:buNone/>
            </a:pPr>
            <a:r>
              <a:rPr lang="en-US" sz="1300" dirty="0">
                <a:solidFill>
                  <a:srgbClr val="5B6474"/>
                </a:solidFill>
              </a:rPr>
              <a:t>points at 180p, SR-GAN v2 vs bicubic (p = 7 × 10⁻³²)</a:t>
            </a:r>
            <a:endParaRPr lang="en-US" sz="1300" dirty="0"/>
          </a:p>
        </p:txBody>
      </p:sp>
      <p:sp>
        <p:nvSpPr>
          <p:cNvPr id="6" name="Text 3"/>
          <p:cNvSpPr txBox="1"/>
          <p:nvPr/>
        </p:nvSpPr>
        <p:spPr>
          <a:xfrm>
            <a:off x="8229600" y="2697480"/>
            <a:ext cx="3383280" cy="777240"/>
          </a:xfrm>
          <a:prstGeom prst="rect">
            <a:avLst/>
          </a:prstGeom>
          <a:noFill/>
          <a:ln/>
        </p:spPr>
        <p:txBody>
          <a:bodyPr wrap="square" lIns="0" tIns="0" rIns="0" bIns="0" rtlCol="0" anchor="ctr"/>
          <a:lstStyle/>
          <a:p>
            <a:pPr indent="0" marL="0">
              <a:buNone/>
            </a:pPr>
            <a:r>
              <a:rPr lang="en-US" sz="4000" b="1" dirty="0">
                <a:solidFill>
                  <a:schemeClr val="accent4"/>
                </a:solidFill>
                <a:latin typeface="Cambria" pitchFamily="34" charset="0"/>
                <a:ea typeface="Cambria" pitchFamily="34" charset="-122"/>
                <a:cs typeface="Cambria" pitchFamily="34" charset="-120"/>
              </a:rPr>
              <a:t>+1.5</a:t>
            </a:r>
            <a:endParaRPr lang="en-US" sz="4000" dirty="0"/>
          </a:p>
        </p:txBody>
      </p:sp>
      <p:sp>
        <p:nvSpPr>
          <p:cNvPr id="7" name="Text 4"/>
          <p:cNvSpPr txBox="1"/>
          <p:nvPr/>
        </p:nvSpPr>
        <p:spPr>
          <a:xfrm>
            <a:off x="8229600" y="3474720"/>
            <a:ext cx="3383280" cy="457200"/>
          </a:xfrm>
          <a:prstGeom prst="rect">
            <a:avLst/>
          </a:prstGeom>
          <a:noFill/>
          <a:ln/>
        </p:spPr>
        <p:txBody>
          <a:bodyPr wrap="square" lIns="0" tIns="0" rIns="0" bIns="0" rtlCol="0" anchor="t"/>
          <a:lstStyle/>
          <a:p>
            <a:pPr indent="0" marL="0">
              <a:buNone/>
            </a:pPr>
            <a:r>
              <a:rPr lang="en-US" sz="1300" dirty="0">
                <a:solidFill>
                  <a:srgbClr val="5B6474"/>
                </a:solidFill>
              </a:rPr>
              <a:t>the adversarial loss's own gain over SR-L1, at 240p only</a:t>
            </a:r>
            <a:endParaRPr lang="en-US" sz="1300" dirty="0"/>
          </a:p>
        </p:txBody>
      </p:sp>
      <p:sp>
        <p:nvSpPr>
          <p:cNvPr id="8" name="Text 5"/>
          <p:cNvSpPr txBox="1"/>
          <p:nvPr/>
        </p:nvSpPr>
        <p:spPr>
          <a:xfrm>
            <a:off x="8229600" y="4069080"/>
            <a:ext cx="3383280" cy="77724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0</a:t>
            </a:r>
            <a:endParaRPr lang="en-US" sz="4000" dirty="0"/>
          </a:p>
        </p:txBody>
      </p:sp>
      <p:sp>
        <p:nvSpPr>
          <p:cNvPr id="9" name="Text 6"/>
          <p:cNvSpPr txBox="1"/>
          <p:nvPr/>
        </p:nvSpPr>
        <p:spPr>
          <a:xfrm>
            <a:off x="8229600" y="4846320"/>
            <a:ext cx="3383280" cy="457200"/>
          </a:xfrm>
          <a:prstGeom prst="rect">
            <a:avLst/>
          </a:prstGeom>
          <a:noFill/>
          <a:ln/>
        </p:spPr>
        <p:txBody>
          <a:bodyPr wrap="square" lIns="0" tIns="0" rIns="0" bIns="0" rtlCol="0" anchor="t"/>
          <a:lstStyle/>
          <a:p>
            <a:pPr indent="0" marL="0">
              <a:buNone/>
            </a:pPr>
            <a:r>
              <a:rPr lang="en-US" sz="1300" dirty="0">
                <a:solidFill>
                  <a:srgbClr val="5B6474"/>
                </a:solidFill>
              </a:rPr>
              <a:t>reliable gains for v3 over v2 or SR-L1, at any level</a:t>
            </a:r>
            <a:endParaRPr lang="en-US" sz="1300" dirty="0"/>
          </a:p>
        </p:txBody>
      </p:sp>
      <p:sp>
        <p:nvSpPr>
          <p:cNvPr id="10" name="Text 7"/>
          <p:cNvSpPr txBox="1"/>
          <p:nvPr/>
        </p:nvSpPr>
        <p:spPr>
          <a:xfrm>
            <a:off x="8229600" y="5440680"/>
            <a:ext cx="3383280" cy="731520"/>
          </a:xfrm>
          <a:prstGeom prst="rect">
            <a:avLst/>
          </a:prstGeom>
          <a:noFill/>
          <a:ln/>
        </p:spPr>
        <p:txBody>
          <a:bodyPr wrap="square" lIns="0" tIns="0" rIns="0" bIns="0" rtlCol="0" anchor="ctr"/>
          <a:lstStyle/>
          <a:p>
            <a:pPr indent="0" marL="0">
              <a:buNone/>
            </a:pPr>
            <a:r>
              <a:rPr lang="en-US" sz="1200" dirty="0">
                <a:solidFill>
                  <a:srgbClr val="4B5563"/>
                </a:solidFill>
              </a:rPr>
              <a:t>Fine-tuned on 360p: +5.2 at 240p, +12.5 at 180p over bicubic.</a:t>
            </a:r>
            <a:endParaRPr lang="en-US" sz="1200" dirty="0"/>
          </a:p>
        </p:txBody>
      </p:sp>
      <p:sp>
        <p:nvSpPr>
          <p:cNvPr id="25" name="Slide Number Placeholder 0"/>
          <p:cNvSpPr>
            <a:spLocks noGrp="1"/>
          </p:cNvSpPr>
          <p:nvPr>
            <p:ph type="sldNum" sz="quarter" idx="4294967295"/>
          </p:nvPr>
        </p:nvSpPr>
        <p:spPr>
          <a:xfrm>
            <a:off x="11155680"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Where the remaining loss sits</a:t>
            </a:r>
            <a:endParaRPr lang="en-US" sz="3000" dirty="0"/>
          </a:p>
        </p:txBody>
      </p:sp>
      <p:graphicFrame>
        <p:nvGraphicFramePr>
          <p:cNvPr id="3" name="Chart 0" descr=""/>
          <p:cNvGraphicFramePr/>
          <p:nvPr/>
        </p:nvGraphicFramePr>
        <p:xfrm>
          <a:off x="548640" y="1188720"/>
          <a:ext cx="6766560" cy="5029200"/>
        </p:xfrm>
        <a:graphic xmlns:a="http://schemas.openxmlformats.org/drawingml/2006/main">
          <a:graphicData uri="http://schemas.openxmlformats.org/drawingml/2006/chart">
            <c:chart xmlns:c="http://schemas.openxmlformats.org/drawingml/2006/chart" r:id="rId1"/>
          </a:graphicData>
        </a:graphic>
      </p:graphicFrame>
      <p:sp>
        <p:nvSpPr>
          <p:cNvPr id="4" name="card Landmarks, not pixels"/>
          <p:cNvSpPr/>
          <p:nvPr/>
        </p:nvSpPr>
        <p:spPr>
          <a:xfrm>
            <a:off x="7635240" y="1234440"/>
            <a:ext cx="3977640" cy="1600200"/>
          </a:xfrm>
          <a:prstGeom prst="roundRect">
            <a:avLst>
              <a:gd name="adj" fmla="val 5714"/>
            </a:avLst>
          </a:prstGeom>
          <a:solidFill>
            <a:schemeClr val="bg2"/>
          </a:solidFill>
          <a:ln w="12700">
            <a:solidFill>
              <a:schemeClr val="bg2"/>
            </a:solidFill>
            <a:prstDash val="solid"/>
          </a:ln>
        </p:spPr>
      </p:sp>
      <p:sp>
        <p:nvSpPr>
          <p:cNvPr id="5" name="dot Landmarks, not pixels"/>
          <p:cNvSpPr/>
          <p:nvPr/>
        </p:nvSpPr>
        <p:spPr>
          <a:xfrm>
            <a:off x="7836408" y="1453896"/>
            <a:ext cx="201168" cy="201168"/>
          </a:xfrm>
          <a:prstGeom prst="ellipse">
            <a:avLst/>
          </a:prstGeom>
          <a:solidFill>
            <a:schemeClr val="accent1"/>
          </a:solidFill>
          <a:ln w="12700">
            <a:solidFill>
              <a:schemeClr val="accent1"/>
            </a:solidFill>
            <a:prstDash val="solid"/>
          </a:ln>
        </p:spPr>
      </p:sp>
      <p:sp>
        <p:nvSpPr>
          <p:cNvPr id="6" name="Text 3"/>
          <p:cNvSpPr txBox="1"/>
          <p:nvPr/>
        </p:nvSpPr>
        <p:spPr>
          <a:xfrm>
            <a:off x="8147304" y="1344168"/>
            <a:ext cx="3291840" cy="420624"/>
          </a:xfrm>
          <a:prstGeom prst="rect">
            <a:avLst/>
          </a:prstGeom>
          <a:noFill/>
          <a:ln/>
        </p:spPr>
        <p:txBody>
          <a:bodyPr wrap="square" lIns="0" tIns="0" rIns="0" bIns="0" rtlCol="0" anchor="ctr"/>
          <a:lstStyle/>
          <a:p>
            <a:pPr indent="0" marL="0">
              <a:buNone/>
            </a:pPr>
            <a:r>
              <a:rPr lang="en-US" sz="1600" b="1" dirty="0">
                <a:solidFill>
                  <a:schemeClr val="tx1"/>
                </a:solidFill>
              </a:rPr>
              <a:t>Landmarks, not pixels</a:t>
            </a:r>
            <a:endParaRPr lang="en-US" sz="1600" dirty="0"/>
          </a:p>
        </p:txBody>
      </p:sp>
      <p:sp>
        <p:nvSpPr>
          <p:cNvPr id="7" name="Text 4"/>
          <p:cNvSpPr txBox="1"/>
          <p:nvPr/>
        </p:nvSpPr>
        <p:spPr>
          <a:xfrm>
            <a:off x="7854696" y="1837944"/>
            <a:ext cx="3557016" cy="86868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With SR-GAN, 10.4 points are still missing at 180p: about 7.7 from the landmarks and 2.8 from the pixels.</a:t>
            </a:r>
            <a:endParaRPr lang="en-US" sz="1400" dirty="0"/>
          </a:p>
        </p:txBody>
      </p:sp>
      <p:sp>
        <p:nvSpPr>
          <p:cNvPr id="8" name="card Detector tuning fails"/>
          <p:cNvSpPr/>
          <p:nvPr/>
        </p:nvSpPr>
        <p:spPr>
          <a:xfrm>
            <a:off x="7635240" y="2971800"/>
            <a:ext cx="3977640" cy="1783080"/>
          </a:xfrm>
          <a:prstGeom prst="roundRect">
            <a:avLst>
              <a:gd name="adj" fmla="val 5128"/>
            </a:avLst>
          </a:prstGeom>
          <a:solidFill>
            <a:schemeClr val="bg2"/>
          </a:solidFill>
          <a:ln w="12700">
            <a:solidFill>
              <a:schemeClr val="bg2"/>
            </a:solidFill>
            <a:prstDash val="solid"/>
          </a:ln>
        </p:spPr>
      </p:sp>
      <p:sp>
        <p:nvSpPr>
          <p:cNvPr id="9" name="dot Detector tuning fails"/>
          <p:cNvSpPr/>
          <p:nvPr/>
        </p:nvSpPr>
        <p:spPr>
          <a:xfrm>
            <a:off x="7836408" y="3191256"/>
            <a:ext cx="201168" cy="201168"/>
          </a:xfrm>
          <a:prstGeom prst="ellipse">
            <a:avLst/>
          </a:prstGeom>
          <a:solidFill>
            <a:schemeClr val="accent4"/>
          </a:solidFill>
          <a:ln w="12700">
            <a:solidFill>
              <a:schemeClr val="accent4"/>
            </a:solidFill>
            <a:prstDash val="solid"/>
          </a:ln>
        </p:spPr>
      </p:sp>
      <p:sp>
        <p:nvSpPr>
          <p:cNvPr id="10" name="Text 7"/>
          <p:cNvSpPr txBox="1"/>
          <p:nvPr/>
        </p:nvSpPr>
        <p:spPr>
          <a:xfrm>
            <a:off x="8147304" y="3081528"/>
            <a:ext cx="3291840" cy="420624"/>
          </a:xfrm>
          <a:prstGeom prst="rect">
            <a:avLst/>
          </a:prstGeom>
          <a:noFill/>
          <a:ln/>
        </p:spPr>
        <p:txBody>
          <a:bodyPr wrap="square" lIns="0" tIns="0" rIns="0" bIns="0" rtlCol="0" anchor="ctr"/>
          <a:lstStyle/>
          <a:p>
            <a:pPr indent="0" marL="0">
              <a:buNone/>
            </a:pPr>
            <a:r>
              <a:rPr lang="en-US" sz="1600" b="1" dirty="0">
                <a:solidFill>
                  <a:schemeClr val="tx1"/>
                </a:solidFill>
              </a:rPr>
              <a:t>Detector tuning fails</a:t>
            </a:r>
            <a:endParaRPr lang="en-US" sz="1600" dirty="0"/>
          </a:p>
        </p:txBody>
      </p:sp>
      <p:sp>
        <p:nvSpPr>
          <p:cNvPr id="11" name="Text 8"/>
          <p:cNvSpPr txBox="1"/>
          <p:nvPr/>
        </p:nvSpPr>
        <p:spPr>
          <a:xfrm>
            <a:off x="7854696" y="3575304"/>
            <a:ext cx="3557016" cy="105156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Lower thresholds and wider searches found up to 99 % of hand frames, but accuracy moved at most 0.8 points: misplaced hands rose to 14 %.</a:t>
            </a:r>
            <a:endParaRPr lang="en-US" sz="1400" dirty="0"/>
          </a:p>
        </p:txBody>
      </p:sp>
      <p:sp>
        <p:nvSpPr>
          <p:cNvPr id="12" name="card No invented hands"/>
          <p:cNvSpPr/>
          <p:nvPr/>
        </p:nvSpPr>
        <p:spPr>
          <a:xfrm>
            <a:off x="7635240" y="4892040"/>
            <a:ext cx="3977640" cy="1325880"/>
          </a:xfrm>
          <a:prstGeom prst="roundRect">
            <a:avLst>
              <a:gd name="adj" fmla="val 6897"/>
            </a:avLst>
          </a:prstGeom>
          <a:solidFill>
            <a:schemeClr val="bg2"/>
          </a:solidFill>
          <a:ln w="12700">
            <a:solidFill>
              <a:schemeClr val="bg2"/>
            </a:solidFill>
            <a:prstDash val="solid"/>
          </a:ln>
        </p:spPr>
      </p:sp>
      <p:sp>
        <p:nvSpPr>
          <p:cNvPr id="13" name="dot No invented hands"/>
          <p:cNvSpPr/>
          <p:nvPr/>
        </p:nvSpPr>
        <p:spPr>
          <a:xfrm>
            <a:off x="7836408" y="5111496"/>
            <a:ext cx="201168" cy="201168"/>
          </a:xfrm>
          <a:prstGeom prst="ellipse">
            <a:avLst/>
          </a:prstGeom>
          <a:solidFill>
            <a:schemeClr val="accent3"/>
          </a:solidFill>
          <a:ln w="12700">
            <a:solidFill>
              <a:schemeClr val="accent3"/>
            </a:solidFill>
            <a:prstDash val="solid"/>
          </a:ln>
        </p:spPr>
      </p:sp>
      <p:sp>
        <p:nvSpPr>
          <p:cNvPr id="14" name="Text 11"/>
          <p:cNvSpPr txBox="1"/>
          <p:nvPr/>
        </p:nvSpPr>
        <p:spPr>
          <a:xfrm>
            <a:off x="8147304" y="5001768"/>
            <a:ext cx="3291840" cy="420624"/>
          </a:xfrm>
          <a:prstGeom prst="rect">
            <a:avLst/>
          </a:prstGeom>
          <a:noFill/>
          <a:ln/>
        </p:spPr>
        <p:txBody>
          <a:bodyPr wrap="square" lIns="0" tIns="0" rIns="0" bIns="0" rtlCol="0" anchor="ctr"/>
          <a:lstStyle/>
          <a:p>
            <a:pPr indent="0" marL="0">
              <a:buNone/>
            </a:pPr>
            <a:r>
              <a:rPr lang="en-US" sz="1600" b="1" dirty="0">
                <a:solidFill>
                  <a:schemeClr val="tx1"/>
                </a:solidFill>
              </a:rPr>
              <a:t>No invented hands</a:t>
            </a:r>
            <a:endParaRPr lang="en-US" sz="1600" dirty="0"/>
          </a:p>
        </p:txBody>
      </p:sp>
      <p:sp>
        <p:nvSpPr>
          <p:cNvPr id="15" name="Text 12"/>
          <p:cNvSpPr txBox="1"/>
          <p:nvPr/>
        </p:nvSpPr>
        <p:spPr>
          <a:xfrm>
            <a:off x="7854696" y="5495544"/>
            <a:ext cx="3557016" cy="59436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Hands found only in degraded video: 1.9 % with bicubic, 2.6 % with SR-GAN, at 180p.</a:t>
            </a:r>
            <a:endParaRPr lang="en-US" sz="1400" dirty="0"/>
          </a:p>
        </p:txBody>
      </p:sp>
      <p:sp>
        <p:nvSpPr>
          <p:cNvPr id="25" name="Slide Number Placeholder 0"/>
          <p:cNvSpPr>
            <a:spLocks noGrp="1"/>
          </p:cNvSpPr>
          <p:nvPr>
            <p:ph type="sldNum" sz="quarter" idx="4294967295"/>
          </p:nvPr>
        </p:nvSpPr>
        <p:spPr>
          <a:xfrm>
            <a:off x="11155680"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A task-aware GAN (v3): what it changed</a:t>
            </a:r>
            <a:endParaRPr lang="en-US" sz="3000" dirty="0"/>
          </a:p>
        </p:txBody>
      </p:sp>
      <p:sp>
        <p:nvSpPr>
          <p:cNvPr id="3" name="card Hand-landmark proxy"/>
          <p:cNvSpPr/>
          <p:nvPr/>
        </p:nvSpPr>
        <p:spPr>
          <a:xfrm>
            <a:off x="548640" y="1234440"/>
            <a:ext cx="3657600" cy="3429000"/>
          </a:xfrm>
          <a:prstGeom prst="roundRect">
            <a:avLst>
              <a:gd name="adj" fmla="val 2667"/>
            </a:avLst>
          </a:prstGeom>
          <a:solidFill>
            <a:schemeClr val="bg2"/>
          </a:solidFill>
          <a:ln w="12700">
            <a:solidFill>
              <a:schemeClr val="bg2"/>
            </a:solidFill>
            <a:prstDash val="solid"/>
          </a:ln>
        </p:spPr>
      </p:sp>
      <p:sp>
        <p:nvSpPr>
          <p:cNvPr id="4" name="dot Hand-landmark proxy"/>
          <p:cNvSpPr/>
          <p:nvPr/>
        </p:nvSpPr>
        <p:spPr>
          <a:xfrm>
            <a:off x="749808" y="1453896"/>
            <a:ext cx="201168" cy="201168"/>
          </a:xfrm>
          <a:prstGeom prst="ellipse">
            <a:avLst/>
          </a:prstGeom>
          <a:solidFill>
            <a:schemeClr val="accent6"/>
          </a:solidFill>
          <a:ln w="12700">
            <a:solidFill>
              <a:schemeClr val="accent6"/>
            </a:solidFill>
            <a:prstDash val="solid"/>
          </a:ln>
        </p:spPr>
      </p:sp>
      <p:sp>
        <p:nvSpPr>
          <p:cNvPr id="5" name="Text 3"/>
          <p:cNvSpPr txBox="1"/>
          <p:nvPr/>
        </p:nvSpPr>
        <p:spPr>
          <a:xfrm>
            <a:off x="1060704" y="1344168"/>
            <a:ext cx="2971800" cy="420624"/>
          </a:xfrm>
          <a:prstGeom prst="rect">
            <a:avLst/>
          </a:prstGeom>
          <a:noFill/>
          <a:ln/>
        </p:spPr>
        <p:txBody>
          <a:bodyPr wrap="square" lIns="0" tIns="0" rIns="0" bIns="0" rtlCol="0" anchor="ctr"/>
          <a:lstStyle/>
          <a:p>
            <a:pPr indent="0" marL="0">
              <a:buNone/>
            </a:pPr>
            <a:r>
              <a:rPr lang="en-US" sz="1600" b="1" dirty="0">
                <a:solidFill>
                  <a:schemeClr val="tx1"/>
                </a:solidFill>
              </a:rPr>
              <a:t>Hand-landmark proxy</a:t>
            </a:r>
            <a:endParaRPr lang="en-US" sz="1600" dirty="0"/>
          </a:p>
        </p:txBody>
      </p:sp>
      <p:sp>
        <p:nvSpPr>
          <p:cNvPr id="6" name="Text 4"/>
          <p:cNvSpPr txBox="1"/>
          <p:nvPr/>
        </p:nvSpPr>
        <p:spPr>
          <a:xfrm>
            <a:off x="768096" y="1837944"/>
            <a:ext cx="3236976" cy="269748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ResNet-18 with heatmap head, trained on 43,682 verified hand crops to read MediaPipe's 21 joints.</a:t>
            </a:r>
            <a:endParaRPr lang="en-US" sz="1400" dirty="0"/>
          </a:p>
          <a:p>
            <a:pPr indent="0" marL="0">
              <a:spcAft>
                <a:spcPts val="400"/>
              </a:spcAft>
              <a:buNone/>
            </a:pPr>
            <a:endParaRPr lang="en-US" sz="1400" dirty="0"/>
          </a:p>
          <a:p>
            <a:pPr indent="0" marL="0">
              <a:spcAft>
                <a:spcPts val="400"/>
              </a:spcAft>
              <a:buNone/>
            </a:pPr>
            <a:r>
              <a:rPr lang="en-US" sz="1400" dirty="0">
                <a:solidFill>
                  <a:schemeClr val="tx1"/>
                </a:solidFill>
              </a:rPr>
              <a:t>Error on validation crops: 0.0215 of the crop, 91.4 % of points within 0.05 (MediaPipe vs itself: 0.041).</a:t>
            </a:r>
            <a:endParaRPr lang="en-US" sz="1400" dirty="0"/>
          </a:p>
          <a:p>
            <a:pPr indent="0" marL="0">
              <a:spcAft>
                <a:spcPts val="400"/>
              </a:spcAft>
              <a:buNone/>
            </a:pPr>
            <a:endParaRPr lang="en-US" sz="1400" dirty="0"/>
          </a:p>
          <a:p>
            <a:pPr indent="0" marL="0">
              <a:spcAft>
                <a:spcPts val="400"/>
              </a:spcAft>
              <a:buNone/>
            </a:pPr>
            <a:r>
              <a:rPr lang="en-US" sz="1400" dirty="0">
                <a:solidFill>
                  <a:schemeClr val="tx1"/>
                </a:solidFill>
              </a:rPr>
              <a:t>The generator is penalised when the proxy reads different joints from its output than from the original.</a:t>
            </a:r>
            <a:endParaRPr lang="en-US" sz="1400" dirty="0"/>
          </a:p>
        </p:txBody>
      </p:sp>
      <p:graphicFrame>
        <p:nvGraphicFramePr>
          <p:cNvPr id="7" name="Chart 0" descr=""/>
          <p:cNvGraphicFramePr/>
          <p:nvPr/>
        </p:nvGraphicFramePr>
        <p:xfrm>
          <a:off x="4434840" y="1188720"/>
          <a:ext cx="7178040" cy="356616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4434840" y="4892040"/>
            <a:ext cx="7178040" cy="1325880"/>
          </a:xfrm>
          <a:prstGeom prst="rect">
            <a:avLst/>
          </a:prstGeom>
          <a:noFill/>
          <a:ln/>
        </p:spPr>
        <p:txBody>
          <a:bodyPr wrap="square" lIns="0" tIns="0" rIns="0" bIns="0" rtlCol="0" anchor="t"/>
          <a:lstStyle/>
          <a:p>
            <a:pPr indent="0" marL="0">
              <a:buNone/>
            </a:pPr>
            <a:r>
              <a:rPr lang="en-US" sz="1400" b="1" dirty="0">
                <a:solidFill>
                  <a:schemeClr val="tx1"/>
                </a:solidFill>
              </a:rPr>
              <a:t>On validation it found more hands (73.3 % vs 63.3 % for v2 at 180p). </a:t>
            </a:r>
            <a:pPr indent="0" marL="0">
              <a:buNone/>
            </a:pPr>
            <a:r>
              <a:rPr lang="en-US" sz="1400" dirty="0">
                <a:solidFill>
                  <a:schemeClr val="tx1"/>
                </a:solidFill>
              </a:rPr>
              <a:t>On the test set it was not reliably better than v2 or SR-L1, and the version without the adversarial loss was 3.1 points worse at 240p. Better detection did not become better classification.</a:t>
            </a:r>
            <a:endParaRPr lang="en-US" sz="1400" dirty="0"/>
          </a:p>
        </p:txBody>
      </p:sp>
      <p:sp>
        <p:nvSpPr>
          <p:cNvPr id="9" name="Text 6"/>
          <p:cNvSpPr txBox="1"/>
          <p:nvPr/>
        </p:nvSpPr>
        <p:spPr>
          <a:xfrm>
            <a:off x="548640" y="4846320"/>
            <a:ext cx="3657600" cy="77724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−3.1</a:t>
            </a:r>
            <a:endParaRPr lang="en-US" sz="4000" dirty="0"/>
          </a:p>
        </p:txBody>
      </p:sp>
      <p:sp>
        <p:nvSpPr>
          <p:cNvPr id="10" name="Text 7"/>
          <p:cNvSpPr txBox="1"/>
          <p:nvPr/>
        </p:nvSpPr>
        <p:spPr>
          <a:xfrm>
            <a:off x="548640" y="5623560"/>
            <a:ext cx="3657600" cy="457200"/>
          </a:xfrm>
          <a:prstGeom prst="rect">
            <a:avLst/>
          </a:prstGeom>
          <a:noFill/>
          <a:ln/>
        </p:spPr>
        <p:txBody>
          <a:bodyPr wrap="square" lIns="0" tIns="0" rIns="0" bIns="0" rtlCol="0" anchor="t"/>
          <a:lstStyle/>
          <a:p>
            <a:pPr indent="0" marL="0">
              <a:buNone/>
            </a:pPr>
            <a:r>
              <a:rPr lang="en-US" sz="1300" dirty="0">
                <a:solidFill>
                  <a:srgbClr val="5B6474"/>
                </a:solidFill>
              </a:rPr>
              <a:t>points: v3 without the adversarial loss vs v2 at 240p (p = 5 × 10⁻⁶)</a:t>
            </a:r>
            <a:endParaRPr lang="en-US" sz="1300" dirty="0"/>
          </a:p>
        </p:txBody>
      </p:sp>
      <p:sp>
        <p:nvSpPr>
          <p:cNvPr id="25" name="Slide Number Placeholder 0"/>
          <p:cNvSpPr>
            <a:spLocks noGrp="1"/>
          </p:cNvSpPr>
          <p:nvPr>
            <p:ph type="sldNum" sz="quarter" idx="4294967295"/>
          </p:nvPr>
        </p:nvSpPr>
        <p:spPr>
          <a:xfrm>
            <a:off x="11155680"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The interface, connected to the models</a:t>
            </a:r>
            <a:endParaRPr lang="en-US" sz="3000" dirty="0"/>
          </a:p>
        </p:txBody>
      </p:sp>
      <p:sp>
        <p:nvSpPr>
          <p:cNvPr id="3" name="card ui_capture_crop.png"/>
          <p:cNvSpPr/>
          <p:nvPr/>
        </p:nvSpPr>
        <p:spPr>
          <a:xfrm>
            <a:off x="548640" y="1188720"/>
            <a:ext cx="6675120" cy="3108960"/>
          </a:xfrm>
          <a:prstGeom prst="roundRect">
            <a:avLst>
              <a:gd name="adj" fmla="val 3529"/>
            </a:avLst>
          </a:prstGeom>
          <a:solidFill>
            <a:schemeClr val="bg2"/>
          </a:solidFill>
          <a:ln w="12700">
            <a:solidFill>
              <a:schemeClr val="bg2"/>
            </a:solidFill>
            <a:prstDash val="solid"/>
          </a:ln>
        </p:spPr>
      </p:sp>
      <p:pic>
        <p:nvPicPr>
          <p:cNvPr id="4" name="ui_capture_crop.png" descr="Capture screen">    </p:cNvPr>
          <p:cNvPicPr>
            <a:picLocks noChangeAspect="1"/>
          </p:cNvPicPr>
          <p:nvPr/>
        </p:nvPicPr>
        <p:blipFill>
          <a:blip r:embed="rId1"/>
          <a:stretch>
            <a:fillRect/>
          </a:stretch>
        </p:blipFill>
        <p:spPr>
          <a:xfrm>
            <a:off x="658368" y="1344473"/>
            <a:ext cx="6455664" cy="2797454"/>
          </a:xfrm>
          <a:prstGeom prst="rect">
            <a:avLst/>
          </a:prstGeom>
        </p:spPr>
      </p:pic>
      <p:sp>
        <p:nvSpPr>
          <p:cNvPr id="5" name="card ui_notsure_crop.png"/>
          <p:cNvSpPr/>
          <p:nvPr/>
        </p:nvSpPr>
        <p:spPr>
          <a:xfrm>
            <a:off x="548640" y="4434840"/>
            <a:ext cx="3291840" cy="1783080"/>
          </a:xfrm>
          <a:prstGeom prst="roundRect">
            <a:avLst>
              <a:gd name="adj" fmla="val 6154"/>
            </a:avLst>
          </a:prstGeom>
          <a:solidFill>
            <a:schemeClr val="bg2"/>
          </a:solidFill>
          <a:ln w="12700">
            <a:solidFill>
              <a:schemeClr val="bg2"/>
            </a:solidFill>
            <a:prstDash val="solid"/>
          </a:ln>
        </p:spPr>
      </p:sp>
      <p:pic>
        <p:nvPicPr>
          <p:cNvPr id="6" name="ui_notsure_crop.png" descr="Not sure screen">    </p:cNvPr>
          <p:cNvPicPr>
            <a:picLocks noChangeAspect="1"/>
          </p:cNvPicPr>
          <p:nvPr/>
        </p:nvPicPr>
        <p:blipFill>
          <a:blip r:embed="rId2"/>
          <a:stretch>
            <a:fillRect/>
          </a:stretch>
        </p:blipFill>
        <p:spPr>
          <a:xfrm>
            <a:off x="658368" y="4615891"/>
            <a:ext cx="3072384" cy="1420978"/>
          </a:xfrm>
          <a:prstGeom prst="rect">
            <a:avLst/>
          </a:prstGeom>
        </p:spPr>
      </p:pic>
      <p:sp>
        <p:nvSpPr>
          <p:cNvPr id="7" name="card ui_sentence_crop.png"/>
          <p:cNvSpPr/>
          <p:nvPr/>
        </p:nvSpPr>
        <p:spPr>
          <a:xfrm>
            <a:off x="3931920" y="4434840"/>
            <a:ext cx="3291840" cy="1783080"/>
          </a:xfrm>
          <a:prstGeom prst="roundRect">
            <a:avLst>
              <a:gd name="adj" fmla="val 6154"/>
            </a:avLst>
          </a:prstGeom>
          <a:solidFill>
            <a:schemeClr val="bg2"/>
          </a:solidFill>
          <a:ln w="12700">
            <a:solidFill>
              <a:schemeClr val="bg2"/>
            </a:solidFill>
            <a:prstDash val="solid"/>
          </a:ln>
        </p:spPr>
      </p:sp>
      <p:pic>
        <p:nvPicPr>
          <p:cNvPr id="8" name="ui_sentence_crop.png" descr="Sentence screen">    </p:cNvPr>
          <p:cNvPicPr>
            <a:picLocks noChangeAspect="1"/>
          </p:cNvPicPr>
          <p:nvPr/>
        </p:nvPicPr>
        <p:blipFill>
          <a:blip r:embed="rId3"/>
          <a:stretch>
            <a:fillRect/>
          </a:stretch>
        </p:blipFill>
        <p:spPr>
          <a:xfrm>
            <a:off x="4041648" y="4750308"/>
            <a:ext cx="3072384" cy="1152144"/>
          </a:xfrm>
          <a:prstGeom prst="rect">
            <a:avLst/>
          </a:prstGeom>
        </p:spPr>
      </p:pic>
      <p:sp>
        <p:nvSpPr>
          <p:cNvPr id="9" name="Text 4"/>
          <p:cNvSpPr txBox="1"/>
          <p:nvPr/>
        </p:nvSpPr>
        <p:spPr>
          <a:xfrm>
            <a:off x="7543800" y="1234440"/>
            <a:ext cx="4069080" cy="411480"/>
          </a:xfrm>
          <a:prstGeom prst="rect">
            <a:avLst/>
          </a:prstGeom>
          <a:noFill/>
          <a:ln/>
        </p:spPr>
        <p:txBody>
          <a:bodyPr wrap="square" lIns="0" tIns="0" rIns="0" bIns="0" rtlCol="0" anchor="ctr"/>
          <a:lstStyle/>
          <a:p>
            <a:pPr indent="0" marL="0">
              <a:buNone/>
            </a:pPr>
            <a:r>
              <a:rPr lang="en-US" sz="1800" b="1" dirty="0">
                <a:solidFill>
                  <a:schemeClr val="tx1"/>
                </a:solidFill>
              </a:rPr>
              <a:t>Seven screens</a:t>
            </a:r>
            <a:endParaRPr lang="en-US" sz="1800" dirty="0"/>
          </a:p>
        </p:txBody>
      </p:sp>
      <p:sp>
        <p:nvSpPr>
          <p:cNvPr id="10" name="Text 5"/>
          <p:cNvSpPr txBox="1"/>
          <p:nvPr/>
        </p:nvSpPr>
        <p:spPr>
          <a:xfrm>
            <a:off x="7543800" y="1737360"/>
            <a:ext cx="4069080" cy="3566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Capture: camera, video file or one of 10 held-out demo clips</a:t>
            </a:r>
            <a:endParaRPr lang="en-US" sz="1400" dirty="0"/>
          </a:p>
          <a:p>
            <a:pPr marL="342900" indent="-342900">
              <a:spcAft>
                <a:spcPts val="800"/>
              </a:spcAft>
              <a:buSzPct val="100000"/>
              <a:buChar char="•"/>
            </a:pPr>
            <a:r>
              <a:rPr lang="en-US" sz="1400" dirty="0">
                <a:solidFill>
                  <a:schemeClr val="tx1"/>
                </a:solidFill>
              </a:rPr>
              <a:t>Not sure: shortlist when confidence &lt; threshold</a:t>
            </a:r>
            <a:endParaRPr lang="en-US" sz="1400" dirty="0"/>
          </a:p>
          <a:p>
            <a:pPr marL="342900" indent="-342900">
              <a:spcAft>
                <a:spcPts val="800"/>
              </a:spcAft>
              <a:buSzPct val="100000"/>
              <a:buChar char="•"/>
            </a:pPr>
            <a:r>
              <a:rPr lang="en-US" sz="1400" dirty="0">
                <a:solidFill>
                  <a:schemeClr val="tx1"/>
                </a:solidFill>
              </a:rPr>
              <a:t>Sentence: accepted words, speak, copy, export</a:t>
            </a:r>
            <a:endParaRPr lang="en-US" sz="1400" dirty="0"/>
          </a:p>
          <a:p>
            <a:pPr marL="342900" indent="-342900">
              <a:spcAft>
                <a:spcPts val="800"/>
              </a:spcAft>
              <a:buSzPct val="100000"/>
              <a:buChar char="•"/>
            </a:pPr>
            <a:r>
              <a:rPr lang="en-US" sz="1400" dirty="0">
                <a:solidFill>
                  <a:schemeClr val="tx1"/>
                </a:solidFill>
              </a:rPr>
              <a:t>Settings: threshold and views</a:t>
            </a:r>
            <a:endParaRPr lang="en-US" sz="1400" dirty="0"/>
          </a:p>
          <a:p>
            <a:pPr marL="342900" indent="-342900">
              <a:spcAft>
                <a:spcPts val="800"/>
              </a:spcAft>
              <a:buSzPct val="100000"/>
              <a:buChar char="•"/>
            </a:pPr>
            <a:r>
              <a:rPr lang="en-US" sz="1400" dirty="0">
                <a:solidFill>
                  <a:schemeClr val="tx1"/>
                </a:solidFill>
              </a:rPr>
              <a:t>Detection: where each crop came from</a:t>
            </a:r>
            <a:endParaRPr lang="en-US" sz="1400" dirty="0"/>
          </a:p>
          <a:p>
            <a:pPr marL="342900" indent="-342900">
              <a:spcAft>
                <a:spcPts val="800"/>
              </a:spcAft>
              <a:buSzPct val="100000"/>
              <a:buChar char="•"/>
            </a:pPr>
            <a:r>
              <a:rPr lang="en-US" sz="1400" dirty="0">
                <a:solidFill>
                  <a:schemeClr val="tx1"/>
                </a:solidFill>
              </a:rPr>
              <a:t>Vocabulary: per-word recall on unseen sessions</a:t>
            </a:r>
            <a:endParaRPr lang="en-US" sz="1400" dirty="0"/>
          </a:p>
          <a:p>
            <a:pPr marL="342900" indent="-342900">
              <a:spcAft>
                <a:spcPts val="800"/>
              </a:spcAft>
              <a:buSzPct val="100000"/>
              <a:buChar char="•"/>
            </a:pPr>
            <a:r>
              <a:rPr lang="en-US" sz="1400" dirty="0">
                <a:solidFill>
                  <a:schemeClr val="tx1"/>
                </a:solidFill>
              </a:rPr>
              <a:t>Enrolment: record new signers for training</a:t>
            </a:r>
            <a:endParaRPr lang="en-US" sz="1400" dirty="0"/>
          </a:p>
        </p:txBody>
      </p:sp>
      <p:sp>
        <p:nvSpPr>
          <p:cNvPr id="11" name="Text 6"/>
          <p:cNvSpPr txBox="1"/>
          <p:nvPr/>
        </p:nvSpPr>
        <p:spPr>
          <a:xfrm>
            <a:off x="7543800" y="5394960"/>
            <a:ext cx="4069080" cy="822960"/>
          </a:xfrm>
          <a:prstGeom prst="rect">
            <a:avLst/>
          </a:prstGeom>
          <a:noFill/>
          <a:ln/>
        </p:spPr>
        <p:txBody>
          <a:bodyPr wrap="square" lIns="0" tIns="0" rIns="0" bIns="0" rtlCol="0" anchor="ctr"/>
          <a:lstStyle/>
          <a:p>
            <a:pPr indent="0" marL="0">
              <a:buNone/>
            </a:pPr>
            <a:r>
              <a:rPr lang="en-US" sz="1200" dirty="0">
                <a:solidFill>
                  <a:srgbClr val="4B5563"/>
                </a:solidFill>
              </a:rPr>
              <a:t>Runs any trained checkpoint and either upscaling front end; reached over an SSH tunnel, which also enables the camera.</a:t>
            </a:r>
            <a:endParaRPr lang="en-US" sz="1200" dirty="0"/>
          </a:p>
        </p:txBody>
      </p:sp>
      <p:sp>
        <p:nvSpPr>
          <p:cNvPr id="25" name="Slide Number Placeholder 0"/>
          <p:cNvSpPr>
            <a:spLocks noGrp="1"/>
          </p:cNvSpPr>
          <p:nvPr>
            <p:ph type="sldNum" sz="quarter" idx="4294967295"/>
          </p:nvPr>
        </p:nvSpPr>
        <p:spPr>
          <a:xfrm>
            <a:off x="11155680"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Testing the interface with the models</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651760"/>
                <a:gridCol w="4206240"/>
                <a:gridCol w="4206240"/>
              </a:tblGrid>
              <a:tr h="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Test</a:t>
                      </a:r>
                      <a:endParaRPr lang="en-US" sz="1400" dirty="0">
                        <a:latin typeface="Calibri" charset="0"/>
                        <a:ea typeface="Calibri" charset="0"/>
                        <a:cs typeface="Calibri" charset="0"/>
                      </a:endParaRPr>
                    </a:p>
                  </a:txBody>
                  <a:tcPr marL="73152" marR="73152" marT="73152" marB="73152">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12161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Method</a:t>
                      </a:r>
                      <a:endParaRPr lang="en-US" sz="1400" dirty="0">
                        <a:latin typeface="Calibri" charset="0"/>
                        <a:ea typeface="Calibri" charset="0"/>
                        <a:cs typeface="Calibri" charset="0"/>
                      </a:endParaRPr>
                    </a:p>
                  </a:txBody>
                  <a:tcPr marL="73152" marR="73152" marT="73152" marB="73152">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12161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Result</a:t>
                      </a:r>
                      <a:endParaRPr lang="en-US" sz="1400" dirty="0">
                        <a:latin typeface="Calibri" charset="0"/>
                        <a:ea typeface="Calibri" charset="0"/>
                        <a:cs typeface="Calibri" charset="0"/>
                      </a:endParaRPr>
                    </a:p>
                  </a:txBody>
                  <a:tcPr marL="73152" marR="73152" marT="73152" marB="73152">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12161F"/>
                    </a:solidFill>
                  </a:tcPr>
                </a:tc>
              </a:tr>
              <a:tr h="0">
                <a:tc>
                  <a:txBody>
                    <a:bodyPr/>
                    <a:lstStyle/>
                    <a:p>
                      <a:pPr indent="0" marL="0">
                        <a:buNone/>
                      </a:pPr>
                      <a:r>
                        <a:rPr lang="en-US" sz="1400" dirty="0">
                          <a:solidFill>
                            <a:srgbClr val="1F2430"/>
                          </a:solidFill>
                          <a:latin typeface="Calibri" pitchFamily="34" charset="0"/>
                          <a:ea typeface="Calibri" pitchFamily="34" charset="-122"/>
                          <a:cs typeface="Calibri" pitchFamily="34" charset="-120"/>
                        </a:rPr>
                        <a:t>Screens render</a:t>
                      </a:r>
                      <a:endParaRPr lang="en-US" sz="1400" dirty="0">
                        <a:latin typeface="Calibri" charset="0"/>
                        <a:ea typeface="Calibri" charset="0"/>
                        <a:cs typeface="Calibri" charset="0"/>
                      </a:endParaRPr>
                    </a:p>
                  </a:txBody>
                  <a:tcPr marL="73152" marR="73152" marT="73152" marB="73152">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1F2430"/>
                          </a:solidFill>
                          <a:latin typeface="Calibri" pitchFamily="34" charset="0"/>
                          <a:ea typeface="Calibri" pitchFamily="34" charset="-122"/>
                          <a:cs typeface="Calibri" pitchFamily="34" charset="-120"/>
                        </a:rPr>
                        <a:t>Chromium, 7 screens at 1366 and 1920 px</a:t>
                      </a:r>
                      <a:endParaRPr lang="en-US" sz="1400" dirty="0">
                        <a:latin typeface="Calibri" charset="0"/>
                        <a:ea typeface="Calibri" charset="0"/>
                        <a:cs typeface="Calibri" charset="0"/>
                      </a:endParaRPr>
                    </a:p>
                  </a:txBody>
                  <a:tcPr marL="73152" marR="73152" marT="73152" marB="73152">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1F2430"/>
                          </a:solidFill>
                          <a:latin typeface="Calibri" pitchFamily="34" charset="0"/>
                          <a:ea typeface="Calibri" pitchFamily="34" charset="-122"/>
                          <a:cs typeface="Calibri" pitchFamily="34" charset="-120"/>
                        </a:rPr>
                        <a:t>No console errors</a:t>
                      </a:r>
                      <a:endParaRPr lang="en-US" sz="1400" dirty="0">
                        <a:latin typeface="Calibri" charset="0"/>
                        <a:ea typeface="Calibri" charset="0"/>
                        <a:cs typeface="Calibri" charset="0"/>
                      </a:endParaRPr>
                    </a:p>
                  </a:txBody>
                  <a:tcPr marL="73152" marR="73152" marT="73152" marB="73152">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F2430"/>
                          </a:solidFill>
                          <a:latin typeface="Calibri" pitchFamily="34" charset="0"/>
                          <a:ea typeface="Calibri" pitchFamily="34" charset="-122"/>
                          <a:cs typeface="Calibri" pitchFamily="34" charset="-120"/>
                        </a:rPr>
                        <a:t>Live answers</a:t>
                      </a:r>
                      <a:endParaRPr lang="en-US" sz="1400" dirty="0">
                        <a:latin typeface="Calibri" charset="0"/>
                        <a:ea typeface="Calibri" charset="0"/>
                        <a:cs typeface="Calibri" charset="0"/>
                      </a:endParaRPr>
                    </a:p>
                  </a:txBody>
                  <a:tcPr marL="73152" marR="73152" marT="73152" marB="73152">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EEF1F5"/>
                    </a:solidFill>
                  </a:tcPr>
                </a:tc>
                <a:tc>
                  <a:txBody>
                    <a:bodyPr/>
                    <a:lstStyle/>
                    <a:p>
                      <a:pPr indent="0" marL="0">
                        <a:buNone/>
                      </a:pPr>
                      <a:r>
                        <a:rPr lang="en-US" sz="1400" dirty="0">
                          <a:solidFill>
                            <a:srgbClr val="1F2430"/>
                          </a:solidFill>
                          <a:latin typeface="Calibri" pitchFamily="34" charset="0"/>
                          <a:ea typeface="Calibri" pitchFamily="34" charset="-122"/>
                          <a:cs typeface="Calibri" pitchFamily="34" charset="-120"/>
                        </a:rPr>
                        <a:t>10 demo clips on the live server; 4 also via the Capture screen</a:t>
                      </a:r>
                      <a:endParaRPr lang="en-US" sz="1400" dirty="0">
                        <a:latin typeface="Calibri" charset="0"/>
                        <a:ea typeface="Calibri" charset="0"/>
                        <a:cs typeface="Calibri" charset="0"/>
                      </a:endParaRPr>
                    </a:p>
                  </a:txBody>
                  <a:tcPr marL="73152" marR="73152" marT="73152" marB="73152">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EEF1F5"/>
                    </a:solidFill>
                  </a:tcPr>
                </a:tc>
                <a:tc>
                  <a:txBody>
                    <a:bodyPr/>
                    <a:lstStyle/>
                    <a:p>
                      <a:pPr indent="0" marL="0">
                        <a:buNone/>
                      </a:pPr>
                      <a:r>
                        <a:rPr lang="en-US" sz="1400" dirty="0">
                          <a:solidFill>
                            <a:srgbClr val="1F2430"/>
                          </a:solidFill>
                          <a:latin typeface="Calibri" pitchFamily="34" charset="0"/>
                          <a:ea typeface="Calibri" pitchFamily="34" charset="-122"/>
                          <a:cs typeface="Calibri" pitchFamily="34" charset="-120"/>
                        </a:rPr>
                        <a:t>9/9 reliable clips correct (66–97 %); look-alike → Not sure</a:t>
                      </a:r>
                      <a:endParaRPr lang="en-US" sz="1400" dirty="0">
                        <a:latin typeface="Calibri" charset="0"/>
                        <a:ea typeface="Calibri" charset="0"/>
                        <a:cs typeface="Calibri" charset="0"/>
                      </a:endParaRPr>
                    </a:p>
                  </a:txBody>
                  <a:tcPr marL="73152" marR="73152" marT="73152" marB="73152">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EEF1F5"/>
                    </a:solidFill>
                  </a:tcPr>
                </a:tc>
              </a:tr>
              <a:tr h="0">
                <a:tc>
                  <a:txBody>
                    <a:bodyPr/>
                    <a:lstStyle/>
                    <a:p>
                      <a:pPr indent="0" marL="0">
                        <a:buNone/>
                      </a:pPr>
                      <a:r>
                        <a:rPr lang="en-US" sz="1400" dirty="0">
                          <a:solidFill>
                            <a:srgbClr val="1F2430"/>
                          </a:solidFill>
                          <a:latin typeface="Calibri" pitchFamily="34" charset="0"/>
                          <a:ea typeface="Calibri" pitchFamily="34" charset="-122"/>
                          <a:cs typeface="Calibri" pitchFamily="34" charset="-120"/>
                        </a:rPr>
                        <a:t>Same answers as the evaluation</a:t>
                      </a:r>
                      <a:endParaRPr lang="en-US" sz="1400" dirty="0">
                        <a:latin typeface="Calibri" charset="0"/>
                        <a:ea typeface="Calibri" charset="0"/>
                        <a:cs typeface="Calibri" charset="0"/>
                      </a:endParaRPr>
                    </a:p>
                  </a:txBody>
                  <a:tcPr marL="73152" marR="73152" marT="73152" marB="73152">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1F2430"/>
                          </a:solidFill>
                          <a:latin typeface="Calibri" pitchFamily="34" charset="0"/>
                          <a:ea typeface="Calibri" pitchFamily="34" charset="-122"/>
                          <a:cs typeface="Calibri" pitchFamily="34" charset="-120"/>
                        </a:rPr>
                        <a:t>App vs offline result, same clips and model</a:t>
                      </a:r>
                      <a:endParaRPr lang="en-US" sz="1400" dirty="0">
                        <a:latin typeface="Calibri" charset="0"/>
                        <a:ea typeface="Calibri" charset="0"/>
                        <a:cs typeface="Calibri" charset="0"/>
                      </a:endParaRPr>
                    </a:p>
                  </a:txBody>
                  <a:tcPr marL="73152" marR="73152" marT="73152" marB="73152">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1F2430"/>
                          </a:solidFill>
                          <a:latin typeface="Calibri" pitchFamily="34" charset="0"/>
                          <a:ea typeface="Calibri" pitchFamily="34" charset="-122"/>
                          <a:cs typeface="Calibri" pitchFamily="34" charset="-120"/>
                        </a:rPr>
                        <a:t>8 of 8 clips agree</a:t>
                      </a:r>
                      <a:endParaRPr lang="en-US" sz="1400" dirty="0">
                        <a:latin typeface="Calibri" charset="0"/>
                        <a:ea typeface="Calibri" charset="0"/>
                        <a:cs typeface="Calibri" charset="0"/>
                      </a:endParaRPr>
                    </a:p>
                  </a:txBody>
                  <a:tcPr marL="73152" marR="73152" marT="73152" marB="73152">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F2430"/>
                          </a:solidFill>
                          <a:latin typeface="Calibri" pitchFamily="34" charset="0"/>
                          <a:ea typeface="Calibri" pitchFamily="34" charset="-122"/>
                          <a:cs typeface="Calibri" pitchFamily="34" charset="-120"/>
                        </a:rPr>
                        <a:t>Vocabulary restriction</a:t>
                      </a:r>
                      <a:endParaRPr lang="en-US" sz="1400" dirty="0">
                        <a:latin typeface="Calibri" charset="0"/>
                        <a:ea typeface="Calibri" charset="0"/>
                        <a:cs typeface="Calibri" charset="0"/>
                      </a:endParaRPr>
                    </a:p>
                  </a:txBody>
                  <a:tcPr marL="73152" marR="73152" marT="73152" marB="73152">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EEF1F5"/>
                    </a:solidFill>
                  </a:tcPr>
                </a:tc>
                <a:tc>
                  <a:txBody>
                    <a:bodyPr/>
                    <a:lstStyle/>
                    <a:p>
                      <a:pPr indent="0" marL="0">
                        <a:buNone/>
                      </a:pPr>
                      <a:r>
                        <a:rPr lang="en-US" sz="1400" dirty="0">
                          <a:solidFill>
                            <a:srgbClr val="1F2430"/>
                          </a:solidFill>
                          <a:latin typeface="Calibri" pitchFamily="34" charset="0"/>
                          <a:ea typeface="Calibri" pitchFamily="34" charset="-122"/>
                          <a:cs typeface="Calibri" pitchFamily="34" charset="-120"/>
                        </a:rPr>
                        <a:t>50-word vs 262-word answers</a:t>
                      </a:r>
                      <a:endParaRPr lang="en-US" sz="1400" dirty="0">
                        <a:latin typeface="Calibri" charset="0"/>
                        <a:ea typeface="Calibri" charset="0"/>
                        <a:cs typeface="Calibri" charset="0"/>
                      </a:endParaRPr>
                    </a:p>
                  </a:txBody>
                  <a:tcPr marL="73152" marR="73152" marT="73152" marB="73152">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EEF1F5"/>
                    </a:solidFill>
                  </a:tcPr>
                </a:tc>
                <a:tc>
                  <a:txBody>
                    <a:bodyPr/>
                    <a:lstStyle/>
                    <a:p>
                      <a:pPr indent="0" marL="0">
                        <a:buNone/>
                      </a:pPr>
                      <a:r>
                        <a:rPr lang="en-US" sz="1400" dirty="0">
                          <a:solidFill>
                            <a:srgbClr val="1F2430"/>
                          </a:solidFill>
                          <a:latin typeface="Calibri" pitchFamily="34" charset="0"/>
                          <a:ea typeface="Calibri" pitchFamily="34" charset="-122"/>
                          <a:cs typeface="Calibri" pitchFamily="34" charset="-120"/>
                        </a:rPr>
                        <a:t>Matches the 85.9 % setting (262 words: 72.0 %)</a:t>
                      </a:r>
                      <a:endParaRPr lang="en-US" sz="1400" dirty="0">
                        <a:latin typeface="Calibri" charset="0"/>
                        <a:ea typeface="Calibri" charset="0"/>
                        <a:cs typeface="Calibri" charset="0"/>
                      </a:endParaRPr>
                    </a:p>
                  </a:txBody>
                  <a:tcPr marL="73152" marR="73152" marT="73152" marB="73152">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EEF1F5"/>
                    </a:solidFill>
                  </a:tcPr>
                </a:tc>
              </a:tr>
              <a:tr h="0">
                <a:tc>
                  <a:txBody>
                    <a:bodyPr/>
                    <a:lstStyle/>
                    <a:p>
                      <a:pPr indent="0" marL="0">
                        <a:buNone/>
                      </a:pPr>
                      <a:r>
                        <a:rPr lang="en-US" sz="1400" dirty="0">
                          <a:solidFill>
                            <a:srgbClr val="1F2430"/>
                          </a:solidFill>
                          <a:latin typeface="Calibri" pitchFamily="34" charset="0"/>
                          <a:ea typeface="Calibri" pitchFamily="34" charset="-122"/>
                          <a:cs typeface="Calibri" pitchFamily="34" charset="-120"/>
                        </a:rPr>
                        <a:t>GAN front end in the app</a:t>
                      </a:r>
                      <a:endParaRPr lang="en-US" sz="1400" dirty="0">
                        <a:latin typeface="Calibri" charset="0"/>
                        <a:ea typeface="Calibri" charset="0"/>
                        <a:cs typeface="Calibri" charset="0"/>
                      </a:endParaRPr>
                    </a:p>
                  </a:txBody>
                  <a:tcPr marL="73152" marR="73152" marT="73152" marB="73152">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1F2430"/>
                          </a:solidFill>
                          <a:latin typeface="Calibri" pitchFamily="34" charset="0"/>
                          <a:ea typeface="Calibri" pitchFamily="34" charset="-122"/>
                          <a:cs typeface="Calibri" pitchFamily="34" charset="-120"/>
                        </a:rPr>
                        <a:t>180p copy of a demo clip, SR-GAN on</a:t>
                      </a:r>
                      <a:endParaRPr lang="en-US" sz="1400" dirty="0">
                        <a:latin typeface="Calibri" charset="0"/>
                        <a:ea typeface="Calibri" charset="0"/>
                        <a:cs typeface="Calibri" charset="0"/>
                      </a:endParaRPr>
                    </a:p>
                  </a:txBody>
                  <a:tcPr marL="73152" marR="73152" marT="73152" marB="73152">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FFFFF"/>
                    </a:solidFill>
                  </a:tcPr>
                </a:tc>
                <a:tc>
                  <a:txBody>
                    <a:bodyPr/>
                    <a:lstStyle/>
                    <a:p>
                      <a:pPr indent="0" marL="0">
                        <a:buNone/>
                      </a:pPr>
                      <a:r>
                        <a:rPr lang="en-US" sz="1400" dirty="0">
                          <a:solidFill>
                            <a:srgbClr val="1F2430"/>
                          </a:solidFill>
                          <a:latin typeface="Calibri" pitchFamily="34" charset="0"/>
                          <a:ea typeface="Calibri" pitchFamily="34" charset="-122"/>
                          <a:cs typeface="Calibri" pitchFamily="34" charset="-120"/>
                        </a:rPr>
                        <a:t>Read correctly</a:t>
                      </a:r>
                      <a:endParaRPr lang="en-US" sz="1400" dirty="0">
                        <a:latin typeface="Calibri" charset="0"/>
                        <a:ea typeface="Calibri" charset="0"/>
                        <a:cs typeface="Calibri" charset="0"/>
                      </a:endParaRPr>
                    </a:p>
                  </a:txBody>
                  <a:tcPr marL="73152" marR="73152" marT="73152" marB="73152">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F2430"/>
                          </a:solidFill>
                          <a:latin typeface="Calibri" pitchFamily="34" charset="0"/>
                          <a:ea typeface="Calibri" pitchFamily="34" charset="-122"/>
                          <a:cs typeface="Calibri" pitchFamily="34" charset="-120"/>
                        </a:rPr>
                        <a:t>Latency</a:t>
                      </a:r>
                      <a:endParaRPr lang="en-US" sz="1400" dirty="0">
                        <a:latin typeface="Calibri" charset="0"/>
                        <a:ea typeface="Calibri" charset="0"/>
                        <a:cs typeface="Calibri" charset="0"/>
                      </a:endParaRPr>
                    </a:p>
                  </a:txBody>
                  <a:tcPr marL="73152" marR="73152" marT="73152" marB="73152">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EEF1F5"/>
                    </a:solidFill>
                  </a:tcPr>
                </a:tc>
                <a:tc>
                  <a:txBody>
                    <a:bodyPr/>
                    <a:lstStyle/>
                    <a:p>
                      <a:pPr indent="0" marL="0">
                        <a:buNone/>
                      </a:pPr>
                      <a:r>
                        <a:rPr lang="en-US" sz="1400" dirty="0">
                          <a:solidFill>
                            <a:srgbClr val="1F2430"/>
                          </a:solidFill>
                          <a:latin typeface="Calibri" pitchFamily="34" charset="0"/>
                          <a:ea typeface="Calibri" pitchFamily="34" charset="-122"/>
                          <a:cs typeface="Calibri" pitchFamily="34" charset="-120"/>
                        </a:rPr>
                        <a:t>Desktop CPU, 6 views, end to end</a:t>
                      </a:r>
                      <a:endParaRPr lang="en-US" sz="1400" dirty="0">
                        <a:latin typeface="Calibri" charset="0"/>
                        <a:ea typeface="Calibri" charset="0"/>
                        <a:cs typeface="Calibri" charset="0"/>
                      </a:endParaRPr>
                    </a:p>
                  </a:txBody>
                  <a:tcPr marL="73152" marR="73152" marT="73152" marB="73152">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EEF1F5"/>
                    </a:solidFill>
                  </a:tcPr>
                </a:tc>
                <a:tc>
                  <a:txBody>
                    <a:bodyPr/>
                    <a:lstStyle/>
                    <a:p>
                      <a:pPr indent="0" marL="0">
                        <a:buNone/>
                      </a:pPr>
                      <a:r>
                        <a:rPr lang="en-US" sz="1400" dirty="0">
                          <a:solidFill>
                            <a:srgbClr val="1F2430"/>
                          </a:solidFill>
                          <a:latin typeface="Calibri" pitchFamily="34" charset="0"/>
                          <a:ea typeface="Calibri" pitchFamily="34" charset="-122"/>
                          <a:cs typeface="Calibri" pitchFamily="34" charset="-120"/>
                        </a:rPr>
                        <a:t>5–9 s per clip</a:t>
                      </a:r>
                      <a:endParaRPr lang="en-US" sz="1400" dirty="0">
                        <a:latin typeface="Calibri" charset="0"/>
                        <a:ea typeface="Calibri" charset="0"/>
                        <a:cs typeface="Calibri" charset="0"/>
                      </a:endParaRPr>
                    </a:p>
                  </a:txBody>
                  <a:tcPr marL="73152" marR="73152" marT="73152" marB="73152">
                    <a:lnL w="6350" cap="flat" cmpd="sng" algn="ctr">
                      <a:solidFill>
                        <a:srgbClr val="D5DAE2"/>
                      </a:solidFill>
                      <a:prstDash val="solid"/>
                      <a:round/>
                      <a:headEnd type="none" w="med" len="med"/>
                      <a:tailEnd type="none" w="med" len="med"/>
                    </a:lnL>
                    <a:lnR w="6350" cap="flat" cmpd="sng" algn="ctr">
                      <a:solidFill>
                        <a:srgbClr val="D5DAE2"/>
                      </a:solidFill>
                      <a:prstDash val="solid"/>
                      <a:round/>
                      <a:headEnd type="none" w="med" len="med"/>
                      <a:tailEnd type="none" w="med" len="med"/>
                    </a:lnR>
                    <a:lnT w="6350" cap="flat" cmpd="sng" algn="ctr">
                      <a:solidFill>
                        <a:srgbClr val="D5DAE2"/>
                      </a:solidFill>
                      <a:prstDash val="solid"/>
                      <a:round/>
                      <a:headEnd type="none" w="med" len="med"/>
                      <a:tailEnd type="none" w="med" len="med"/>
                    </a:lnT>
                    <a:lnB w="6350" cap="flat" cmpd="sng" algn="ctr">
                      <a:solidFill>
                        <a:srgbClr val="D5DAE2"/>
                      </a:solidFill>
                      <a:prstDash val="solid"/>
                      <a:round/>
                      <a:headEnd type="none" w="med" len="med"/>
                      <a:tailEnd type="none" w="med" len="med"/>
                    </a:lnB>
                    <a:solidFill>
                      <a:srgbClr val="EEF1F5"/>
                    </a:solidFill>
                  </a:tcPr>
                </a:tc>
              </a:tr>
            </a:tbl>
          </a:graphicData>
        </a:graphic>
      </p:graphicFrame>
      <p:sp>
        <p:nvSpPr>
          <p:cNvPr id="4" name="card ui_capture_samples.png"/>
          <p:cNvSpPr/>
          <p:nvPr/>
        </p:nvSpPr>
        <p:spPr>
          <a:xfrm>
            <a:off x="548640" y="4160520"/>
            <a:ext cx="5486400" cy="2103120"/>
          </a:xfrm>
          <a:prstGeom prst="roundRect">
            <a:avLst>
              <a:gd name="adj" fmla="val 5217"/>
            </a:avLst>
          </a:prstGeom>
          <a:solidFill>
            <a:schemeClr val="bg2"/>
          </a:solidFill>
          <a:ln w="12700">
            <a:solidFill>
              <a:schemeClr val="bg2"/>
            </a:solidFill>
            <a:prstDash val="solid"/>
          </a:ln>
        </p:spPr>
      </p:sp>
      <p:pic>
        <p:nvPicPr>
          <p:cNvPr id="5" name="ui_capture_samples.png" descr="Demo clips with verdicts">    </p:cNvPr>
          <p:cNvPicPr>
            <a:picLocks noChangeAspect="1"/>
          </p:cNvPicPr>
          <p:nvPr/>
        </p:nvPicPr>
        <p:blipFill>
          <a:blip r:embed="rId1"/>
          <a:stretch>
            <a:fillRect/>
          </a:stretch>
        </p:blipFill>
        <p:spPr>
          <a:xfrm>
            <a:off x="1784909" y="4270248"/>
            <a:ext cx="3013862" cy="1883664"/>
          </a:xfrm>
          <a:prstGeom prst="rect">
            <a:avLst/>
          </a:prstGeom>
        </p:spPr>
      </p:pic>
      <p:sp>
        <p:nvSpPr>
          <p:cNvPr id="6" name="card ui_diagnostics.png"/>
          <p:cNvSpPr/>
          <p:nvPr/>
        </p:nvSpPr>
        <p:spPr>
          <a:xfrm>
            <a:off x="6126480" y="4160520"/>
            <a:ext cx="5486400" cy="2103120"/>
          </a:xfrm>
          <a:prstGeom prst="roundRect">
            <a:avLst>
              <a:gd name="adj" fmla="val 5217"/>
            </a:avLst>
          </a:prstGeom>
          <a:solidFill>
            <a:schemeClr val="bg2"/>
          </a:solidFill>
          <a:ln w="12700">
            <a:solidFill>
              <a:schemeClr val="bg2"/>
            </a:solidFill>
            <a:prstDash val="solid"/>
          </a:ln>
        </p:spPr>
      </p:sp>
      <p:pic>
        <p:nvPicPr>
          <p:cNvPr id="7" name="ui_diagnostics.png" descr="Detection screen">    </p:cNvPr>
          <p:cNvPicPr>
            <a:picLocks noChangeAspect="1"/>
          </p:cNvPicPr>
          <p:nvPr/>
        </p:nvPicPr>
        <p:blipFill>
          <a:blip r:embed="rId2"/>
          <a:stretch>
            <a:fillRect/>
          </a:stretch>
        </p:blipFill>
        <p:spPr>
          <a:xfrm>
            <a:off x="7362749" y="4270248"/>
            <a:ext cx="3013862" cy="1883664"/>
          </a:xfrm>
          <a:prstGeom prst="rect">
            <a:avLst/>
          </a:prstGeom>
        </p:spPr>
      </p:pic>
      <p:sp>
        <p:nvSpPr>
          <p:cNvPr id="25" name="Slide Number Placeholder 0"/>
          <p:cNvSpPr>
            <a:spLocks noGrp="1"/>
          </p:cNvSpPr>
          <p:nvPr>
            <p:ph type="sldNum" sz="quarter" idx="4294967295"/>
          </p:nvPr>
        </p:nvSpPr>
        <p:spPr>
          <a:xfrm>
            <a:off x="11155680" y="642823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6400800" cy="1463040"/>
          </a:xfrm>
          <a:prstGeom prst="rect">
            <a:avLst/>
          </a:prstGeom>
          <a:noFill/>
          <a:ln/>
        </p:spPr>
        <p:txBody>
          <a:bodyPr wrap="square" lIns="0" tIns="0" rIns="0" bIns="0" rtlCol="0" anchor="b"/>
          <a:lstStyle/>
          <a:p>
            <a:pPr algn="l" indent="0" marL="0">
              <a:buNone/>
            </a:pPr>
            <a:r>
              <a:rPr lang="en-US" sz="4800" b="1" dirty="0">
                <a:solidFill>
                  <a:schemeClr val="bg1"/>
                </a:solidFill>
                <a:latin typeface="Cambria" pitchFamily="34" charset="0"/>
                <a:ea typeface="Cambria" pitchFamily="34" charset="-122"/>
                <a:cs typeface="Cambria" pitchFamily="34" charset="-120"/>
              </a:rPr>
              <a:t>What we found</a:t>
            </a:r>
            <a:endParaRPr lang="en-US" sz="4800" dirty="0"/>
          </a:p>
        </p:txBody>
      </p:sp>
      <p:sp>
        <p:nvSpPr>
          <p:cNvPr id="3" name="Text 1"/>
          <p:cNvSpPr txBox="1"/>
          <p:nvPr/>
        </p:nvSpPr>
        <p:spPr>
          <a:xfrm>
            <a:off x="640080" y="3017520"/>
            <a:ext cx="6583680" cy="274320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rgbClr val="E5E9F0"/>
                </a:solidFill>
              </a:rPr>
              <a:t>85.9 % top-1 on unseen sessions from a 1.97 MiB model; random splits overstate accuracy by over 20 points.</a:t>
            </a:r>
            <a:endParaRPr lang="en-US" sz="1700" dirty="0"/>
          </a:p>
          <a:p>
            <a:pPr marL="342900" indent="-342900">
              <a:spcAft>
                <a:spcPts val="1000"/>
              </a:spcAft>
              <a:buSzPct val="100000"/>
              <a:buChar char="•"/>
            </a:pPr>
            <a:r>
              <a:rPr lang="en-US" sz="1700" dirty="0">
                <a:solidFill>
                  <a:srgbClr val="E5E9F0"/>
                </a:solidFill>
              </a:rPr>
              <a:t>Learned super-resolution recovers up to 14.5 points on 180p video; the adversarial loss adds little beyond it.</a:t>
            </a:r>
            <a:endParaRPr lang="en-US" sz="1700" dirty="0"/>
          </a:p>
          <a:p>
            <a:pPr marL="342900" indent="-342900">
              <a:spcAft>
                <a:spcPts val="1000"/>
              </a:spcAft>
              <a:buSzPct val="100000"/>
              <a:buChar char="•"/>
            </a:pPr>
            <a:r>
              <a:rPr lang="en-US" sz="1700" dirty="0">
                <a:solidFill>
                  <a:srgbClr val="E5E9F0"/>
                </a:solidFill>
              </a:rPr>
              <a:t>After upscaling, the remaining error is in landmark placement, not pixels.</a:t>
            </a:r>
            <a:endParaRPr lang="en-US" sz="1700" dirty="0"/>
          </a:p>
          <a:p>
            <a:pPr marL="342900" indent="-342900">
              <a:spcAft>
                <a:spcPts val="1000"/>
              </a:spcAft>
              <a:buSzPct val="100000"/>
              <a:buChar char="•"/>
            </a:pPr>
            <a:r>
              <a:rPr lang="en-US" sz="1700" dirty="0">
                <a:solidFill>
                  <a:srgbClr val="E5E9F0"/>
                </a:solidFill>
              </a:rPr>
              <a:t>The app reproduces the evaluation's answers clip for clip.</a:t>
            </a:r>
            <a:endParaRPr lang="en-US" sz="1700" dirty="0"/>
          </a:p>
        </p:txBody>
      </p:sp>
      <p:sp>
        <p:nvSpPr>
          <p:cNvPr id="4" name="next steps card"/>
          <p:cNvSpPr/>
          <p:nvPr/>
        </p:nvSpPr>
        <p:spPr>
          <a:xfrm>
            <a:off x="7635240" y="1463040"/>
            <a:ext cx="3977640" cy="4297680"/>
          </a:xfrm>
          <a:prstGeom prst="roundRect">
            <a:avLst>
              <a:gd name="adj" fmla="val 2759"/>
            </a:avLst>
          </a:prstGeom>
          <a:solidFill>
            <a:srgbClr val="1E2430"/>
          </a:solidFill>
          <a:ln w="12700">
            <a:solidFill>
              <a:srgbClr val="2A3140"/>
            </a:solidFill>
            <a:prstDash val="solid"/>
          </a:ln>
        </p:spPr>
      </p:sp>
      <p:sp>
        <p:nvSpPr>
          <p:cNvPr id="5" name="Text 3"/>
          <p:cNvSpPr txBox="1"/>
          <p:nvPr/>
        </p:nvSpPr>
        <p:spPr>
          <a:xfrm>
            <a:off x="7909560" y="1691640"/>
            <a:ext cx="3474720" cy="457200"/>
          </a:xfrm>
          <a:prstGeom prst="rect">
            <a:avLst/>
          </a:prstGeom>
          <a:noFill/>
          <a:ln/>
        </p:spPr>
        <p:txBody>
          <a:bodyPr wrap="square" lIns="0" tIns="0" rIns="0" bIns="0" rtlCol="0" anchor="ctr"/>
          <a:lstStyle/>
          <a:p>
            <a:pPr indent="0" marL="0">
              <a:buNone/>
            </a:pPr>
            <a:r>
              <a:rPr lang="en-US" sz="1800" b="1" dirty="0">
                <a:solidFill>
                  <a:schemeClr val="bg1"/>
                </a:solidFill>
              </a:rPr>
              <a:t>Next steps</a:t>
            </a:r>
            <a:endParaRPr lang="en-US" sz="1800" dirty="0"/>
          </a:p>
        </p:txBody>
      </p:sp>
      <p:sp>
        <p:nvSpPr>
          <p:cNvPr id="6" name="Text 4"/>
          <p:cNvSpPr txBox="1"/>
          <p:nvPr/>
        </p:nvSpPr>
        <p:spPr>
          <a:xfrm>
            <a:off x="7909560" y="2240280"/>
            <a:ext cx="3474720" cy="32918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C9CFDA"/>
                </a:solidFill>
              </a:rPr>
              <a:t>Fine-tune the classifier on the task-aware front end</a:t>
            </a:r>
            <a:endParaRPr lang="en-US" sz="1500" dirty="0"/>
          </a:p>
          <a:p>
            <a:pPr marL="342900" indent="-342900">
              <a:spcAft>
                <a:spcPts val="800"/>
              </a:spcAft>
              <a:buSzPct val="100000"/>
              <a:buChar char="•"/>
            </a:pPr>
            <a:r>
              <a:rPr lang="en-US" sz="1500" dirty="0">
                <a:solidFill>
                  <a:srgbClr val="C9CFDA"/>
                </a:solidFill>
              </a:rPr>
              <a:t>Re-measure the confidence curve for the shipped model</a:t>
            </a:r>
            <a:endParaRPr lang="en-US" sz="1500" dirty="0"/>
          </a:p>
          <a:p>
            <a:pPr marL="342900" indent="-342900">
              <a:spcAft>
                <a:spcPts val="800"/>
              </a:spcAft>
              <a:buSzPct val="100000"/>
              <a:buChar char="•"/>
            </a:pPr>
            <a:r>
              <a:rPr lang="en-US" sz="1500" dirty="0">
                <a:solidFill>
                  <a:srgbClr val="C9CFDA"/>
                </a:solidFill>
              </a:rPr>
              <a:t>Fix hand detection for tightly framed video (CISLR)</a:t>
            </a:r>
            <a:endParaRPr lang="en-US" sz="1500" dirty="0"/>
          </a:p>
          <a:p>
            <a:pPr marL="342900" indent="-342900">
              <a:spcAft>
                <a:spcPts val="800"/>
              </a:spcAft>
              <a:buSzPct val="100000"/>
              <a:buChar char="•"/>
            </a:pPr>
            <a:r>
              <a:rPr lang="en-US" sz="1500" dirty="0">
                <a:solidFill>
                  <a:srgbClr val="C9CFDA"/>
                </a:solidFill>
              </a:rPr>
              <a:t>Record new signers through Enrolment; test on wearable hardware</a:t>
            </a:r>
            <a:endParaRPr lang="en-US" sz="1500" dirty="0"/>
          </a:p>
        </p:txBody>
      </p:sp>
      <p:sp>
        <p:nvSpPr>
          <p:cNvPr id="8" name="Text 0"/>
          <p:cNvSpPr/>
          <p:nvPr>
            <p:ph idx="101" type="body" hasCustomPrompt="1"/>
          </p:nvPr>
        </p:nvSpPr>
        <p:spPr>
          <a:xfrm>
            <a:off x="640080" y="2971800"/>
            <a:ext cx="6309360" cy="1371600"/>
          </a:xfrm>
          <a:prstGeom prst="rect">
            <a:avLst/>
          </a:prstGeom>
          <a:noFill/>
          <a:ln/>
        </p:spPr>
        <p:txBody>
          <a:bodyPr wrap="square" lIns="0" tIns="0" rIns="0" bIns="0" rtlCol="0" anchor="t"/>
          <a:lstStyle/>
          <a:p>
            <a:pPr indent="0" marL="0">
              <a:buNone/>
            </a:pPr>
            <a:endParaRPr lang="en-US" sz="1800" dirty="0"/>
          </a:p>
        </p:txBody>
      </p:sp>
    </p:spTree>
  </p:cSld>
  <p:clrMapOvr>
    <a:masterClrMapping/>
  </p:clrMapOvr>
</p:sld>
</file>

<file path=ppt/theme/theme1.xml><?xml version="1.0" encoding="utf-8"?>
<a:theme xmlns:a="http://schemas.openxmlformats.org/drawingml/2006/main" name="ISL Reader">
  <a:themeElements>
    <a:clrScheme name="ISL Reader">
      <a:dk1>
        <a:srgbClr val="1F2430"/>
      </a:dk1>
      <a:lt1>
        <a:srgbClr val="FFFFFF"/>
      </a:lt1>
      <a:dk2>
        <a:srgbClr val="12161F"/>
      </a:dk2>
      <a:lt2>
        <a:srgbClr val="EEF1F5"/>
      </a:lt2>
      <a:accent1>
        <a:srgbClr val="2E9E6E"/>
      </a:accent1>
      <a:accent2>
        <a:srgbClr val="C065B0"/>
      </a:accent2>
      <a:accent3>
        <a:srgbClr val="5B7BD6"/>
      </a:accent3>
      <a:accent4>
        <a:srgbClr val="D98C2B"/>
      </a:accent4>
      <a:accent5>
        <a:srgbClr val="A3AAB8"/>
      </a:accent5>
      <a:accent6>
        <a:srgbClr val="8E5BB5"/>
      </a:accent6>
      <a:hlink>
        <a:srgbClr val="5B7BD6"/>
      </a:hlink>
      <a:folHlink>
        <a:srgbClr val="8E5BB5"/>
      </a:folHlink>
    </a:clrScheme>
    <a:fontScheme name="ISL Read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ISL Reader - Review 3</dc:title>
  <dc:subject>PptxGenJS Presentation</dc:subject>
  <dc:creator>Group 03</dc:creator>
  <cp:lastModifiedBy>Group 03</cp:lastModifiedBy>
  <cp:revision>1</cp:revision>
  <dcterms:created xsi:type="dcterms:W3CDTF">2026-10-12T07:59:07Z</dcterms:created>
  <dcterms:modified xsi:type="dcterms:W3CDTF">2026-10-12T07:59:07Z</dcterms:modified>
</cp:coreProperties>
</file>